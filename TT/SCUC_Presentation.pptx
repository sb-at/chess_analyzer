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4" r:id="rId9"/>
    <p:sldId id="265" r:id="rId10"/>
    <p:sldId id="263" r:id="rId11"/>
    <p:sldId id="266" r:id="rId12"/>
    <p:sldId id="267" r:id="rId13"/>
    <p:sldId id="270"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2924" autoAdjust="0"/>
  </p:normalViewPr>
  <p:slideViewPr>
    <p:cSldViewPr snapToGrid="0" snapToObjects="1">
      <p:cViewPr varScale="1">
        <p:scale>
          <a:sx n="133" d="100"/>
          <a:sy n="133" d="100"/>
        </p:scale>
        <p:origin x="309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24662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I'll walk through my solution to the three-part SCUC technical test. I'll cover what I built, the key formulation decisions, and why each choice matters for accurate LMP forecasting. Time for questions at the end.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SCUC is what ISO operators run every day to schedule generators. Its outputs — the LMPs — are the prices that electricity traders trade against. If our simulator gets startup costs wrong, or ignores what happens when a line trips, our LMP forecasts will be systematically biased. That bias costs money. These three blind spots are the test.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parts build on each other. Part 1 fixes the economics of the MILP — wrong startup costs lead to wrong unit cycling patterns. Part 2 adds the network security layer that ISOs require. Part 3 extracts market intelligence from the solution. Each part addresses a real limitation.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cascade effect is key. The optimizer thinks cycling is cheap, so it cycles more than it should. That produces commitment decisions that real ISOs wouldn't make. And those wrong decisions flow through to wrong LMPs — which is exactly what we're trying to forecast accurately.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LP relaxation quality is the single most important factor in MILP solve time. Big-M formulations weaken it because the solver can't tell whether the integer constraint is nearly tight or very loose. In the window formulation, the RHS is a sum of binary variables — always between 0 and 1 — so the relaxation is as tight as possible without explicit branching.</a:t>
            </a:r>
          </a:p>
          <a:p>
            <a:endParaRPr lang="en-US" dirty="0"/>
          </a:p>
          <a:p>
            <a:r>
              <a:rPr lang="en-US" dirty="0"/>
              <a:t>When solving a MILP, the solver relaxes integer constraints to get a lower bound. Tight bounds yield shallow search trees (fast); loose bounds create deep trees requiring millions of node explorations. Big-M formulations produce loose bounds by making constraints artificially slack.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N-1 security is non-negotiable — it's a regulatory requirement in every major North American market. But the scale is the challenge: 39 total branches, 8 contingencies, 38 monitored per contingency, 24 periods, 2 directions — equals 14,592 inequalities before we even start branching. The question is how to handle that efficiently.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actual measured numbers from our 24-bus run. Only 32 of 14,592 possible N-1 constraints were violated by the base solution — that's 0.22%. We converged in exactly 2 iterations. The N-1 security premium is $7,941, or 1.2% above the base cost. The algorithm is provably correct: at convergence, every post-contingency flow has been checked numerically against its emergency limit.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fix-and-re-solve approach is the industry standard for LMP computation. You solve the unit commitment (with integer decisions), then lock those decisions and re-solve the economic dispatch as a pure LP to compute prices. This is exactly what ISOs do in practice — commitment is one solve, pricing is a separate solve.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signals come directly from the SCUC output and LMP analysis. Each one represents a concrete position or trade a fund could take. The signals are ranked by tractability: battery arbitrage is most liquid, generator availability volatility is most nuanced but potentially highest-alpha.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analytical techniques form the framework for interpreting SCUC output. They answer: what does deviation from merit order tell us? Which constraints matter most? How do we classify trading opportunity by time-of-day? What’s the real arbitrage size? What’s the risk? Each feeds into the next to build a complete picture.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deliberately layered — read, build, solve, extract, analyze. Each layer has one job and is independently testable. The three new components drop cleanly into the existing pipeline without changing any interfaces. Part 1 lives inside the thermal block builder. Part 2 wraps the solve call. Part 3 is a pure post-processing step on the solution.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highlight the last N-1 test — the equivalence check between cutting-plane and full model. This is more than a unit test: it's a correctness proof. If they produce the same objective, we know the cutting-plane hasn't approximated anything. That's an important property to be able to demonstrate to a quant team.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all three parts are implemented, tested, and the numbers are in. Part 1: $649,871, no unnecessary cycling. Part 2: N-1 secure for $7,941 more, achieved in 2 iterations adding only 32 constraints — 0.22% of what the full model would require. Part 3: $18.24 average LMP, 13.64× temporal spread, $17.25 spatial spread — clear storage and FTR signals. I'm happy to go deep on any of this — the formulation math, the convergence proof, the test design, or the market analysis interpretation. What questions do you have?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FA8D8"/>
          </a:solidFill>
          <a:ln w="12700">
            <a:solidFill>
              <a:srgbClr val="4FA8D8"/>
            </a:solidFill>
            <a:prstDash val="solid"/>
          </a:ln>
        </p:spPr>
        <p:txBody>
          <a:bodyPr/>
          <a:lstStyle/>
          <a:p>
            <a:endParaRPr lang="en-US"/>
          </a:p>
        </p:txBody>
      </p:sp>
      <p:sp>
        <p:nvSpPr>
          <p:cNvPr id="3" name="Shape 1"/>
          <p:cNvSpPr/>
          <p:nvPr/>
        </p:nvSpPr>
        <p:spPr>
          <a:xfrm>
            <a:off x="0" y="4434840"/>
            <a:ext cx="9144000" cy="708660"/>
          </a:xfrm>
          <a:prstGeom prst="rect">
            <a:avLst/>
          </a:prstGeom>
          <a:solidFill>
            <a:srgbClr val="2D4A8A"/>
          </a:solidFill>
          <a:ln w="12700">
            <a:solidFill>
              <a:srgbClr val="2D4A8A"/>
            </a:solidFill>
            <a:prstDash val="solid"/>
          </a:ln>
        </p:spPr>
        <p:txBody>
          <a:bodyPr/>
          <a:lstStyle/>
          <a:p>
            <a:endParaRPr lang="en-US"/>
          </a:p>
        </p:txBody>
      </p:sp>
      <p:sp>
        <p:nvSpPr>
          <p:cNvPr id="4" name="Shape 2"/>
          <p:cNvSpPr/>
          <p:nvPr/>
        </p:nvSpPr>
        <p:spPr>
          <a:xfrm>
            <a:off x="7589520" y="0"/>
            <a:ext cx="1554480" cy="4434840"/>
          </a:xfrm>
          <a:prstGeom prst="rect">
            <a:avLst/>
          </a:prstGeom>
          <a:solidFill>
            <a:srgbClr val="1A3168"/>
          </a:solidFill>
          <a:ln w="12700">
            <a:solidFill>
              <a:srgbClr val="1A3168"/>
            </a:solidFill>
            <a:prstDash val="solid"/>
          </a:ln>
        </p:spPr>
        <p:txBody>
          <a:bodyPr/>
          <a:lstStyle/>
          <a:p>
            <a:endParaRPr lang="en-US"/>
          </a:p>
        </p:txBody>
      </p:sp>
      <p:sp>
        <p:nvSpPr>
          <p:cNvPr id="5" name="Shape 3"/>
          <p:cNvSpPr/>
          <p:nvPr/>
        </p:nvSpPr>
        <p:spPr>
          <a:xfrm>
            <a:off x="7589520" y="0"/>
            <a:ext cx="45720" cy="4434840"/>
          </a:xfrm>
          <a:prstGeom prst="rect">
            <a:avLst/>
          </a:prstGeom>
          <a:solidFill>
            <a:srgbClr val="4FA8D8"/>
          </a:solidFill>
          <a:ln w="12700">
            <a:solidFill>
              <a:srgbClr val="4FA8D8"/>
            </a:solidFill>
            <a:prstDash val="solid"/>
          </a:ln>
        </p:spPr>
        <p:txBody>
          <a:bodyPr/>
          <a:lstStyle/>
          <a:p>
            <a:endParaRPr lang="en-US"/>
          </a:p>
        </p:txBody>
      </p:sp>
      <p:sp>
        <p:nvSpPr>
          <p:cNvPr id="6" name="Text 4"/>
          <p:cNvSpPr/>
          <p:nvPr/>
        </p:nvSpPr>
        <p:spPr>
          <a:xfrm>
            <a:off x="502920" y="594360"/>
            <a:ext cx="6903720" cy="2011680"/>
          </a:xfrm>
          <a:prstGeom prst="rect">
            <a:avLst/>
          </a:prstGeom>
          <a:noFill/>
          <a:ln/>
        </p:spPr>
        <p:txBody>
          <a:bodyPr wrap="square" lIns="0" tIns="0" rIns="0" bIns="0" rtlCol="0" anchor="t"/>
          <a:lstStyle/>
          <a:p>
            <a:pPr marL="0" indent="0" algn="l">
              <a:buNone/>
            </a:pPr>
            <a:r>
              <a:rPr lang="en-US" sz="4200" b="1" dirty="0">
                <a:solidFill>
                  <a:srgbClr val="FFFFFF"/>
                </a:solidFill>
                <a:latin typeface="Cambria" pitchFamily="34" charset="0"/>
                <a:ea typeface="Cambria" pitchFamily="34" charset="-122"/>
                <a:cs typeface="Cambria" pitchFamily="34" charset="-120"/>
              </a:rPr>
              <a:t>Security-Constrained</a:t>
            </a:r>
            <a:endParaRPr lang="en-US" sz="4200" dirty="0"/>
          </a:p>
          <a:p>
            <a:pPr marL="0" indent="0" algn="l">
              <a:buNone/>
            </a:pPr>
            <a:r>
              <a:rPr lang="en-US" sz="4200" b="1" dirty="0">
                <a:solidFill>
                  <a:srgbClr val="FFFFFF"/>
                </a:solidFill>
                <a:latin typeface="Cambria" pitchFamily="34" charset="0"/>
                <a:ea typeface="Cambria" pitchFamily="34" charset="-122"/>
                <a:cs typeface="Cambria" pitchFamily="34" charset="-120"/>
              </a:rPr>
              <a:t>Unit Commitment</a:t>
            </a:r>
            <a:endParaRPr lang="en-US" sz="4200" dirty="0"/>
          </a:p>
        </p:txBody>
      </p:sp>
      <p:sp>
        <p:nvSpPr>
          <p:cNvPr id="7" name="Text 5"/>
          <p:cNvSpPr/>
          <p:nvPr/>
        </p:nvSpPr>
        <p:spPr>
          <a:xfrm>
            <a:off x="502920" y="2697480"/>
            <a:ext cx="6903720" cy="475488"/>
          </a:xfrm>
          <a:prstGeom prst="rect">
            <a:avLst/>
          </a:prstGeom>
          <a:noFill/>
          <a:ln/>
        </p:spPr>
        <p:txBody>
          <a:bodyPr wrap="square" lIns="0" tIns="0" rIns="0" bIns="0" rtlCol="0" anchor="ctr"/>
          <a:lstStyle/>
          <a:p>
            <a:pPr marL="0" indent="0" algn="l">
              <a:buNone/>
            </a:pPr>
            <a:r>
              <a:rPr lang="en-US" sz="1600" dirty="0">
                <a:solidFill>
                  <a:srgbClr val="CADCFC"/>
                </a:solidFill>
                <a:latin typeface="Calibri" pitchFamily="34" charset="0"/>
                <a:ea typeface="Calibri" pitchFamily="34" charset="-122"/>
                <a:cs typeface="Calibri" pitchFamily="34" charset="-120"/>
              </a:rPr>
              <a:t>Salomon Bendayan ·  MAG Energy Solutions</a:t>
            </a:r>
            <a:endParaRPr lang="en-US" sz="1600" dirty="0"/>
          </a:p>
        </p:txBody>
      </p:sp>
      <p:sp>
        <p:nvSpPr>
          <p:cNvPr id="8" name="Text 6"/>
          <p:cNvSpPr/>
          <p:nvPr/>
        </p:nvSpPr>
        <p:spPr>
          <a:xfrm>
            <a:off x="502920" y="3200400"/>
            <a:ext cx="6903720" cy="347472"/>
          </a:xfrm>
          <a:prstGeom prst="rect">
            <a:avLst/>
          </a:prstGeom>
          <a:noFill/>
          <a:ln/>
        </p:spPr>
        <p:txBody>
          <a:bodyPr wrap="square" lIns="0" tIns="0" rIns="0" bIns="0" rtlCol="0" anchor="ctr"/>
          <a:lstStyle/>
          <a:p>
            <a:pPr marL="0" indent="0" algn="l">
              <a:buNone/>
            </a:pPr>
            <a:r>
              <a:rPr lang="en-US" sz="1300" dirty="0">
                <a:solidFill>
                  <a:srgbClr val="7BA7C8"/>
                </a:solidFill>
                <a:latin typeface="Calibri" pitchFamily="34" charset="0"/>
                <a:ea typeface="Calibri" pitchFamily="34" charset="-122"/>
                <a:cs typeface="Calibri" pitchFamily="34" charset="-120"/>
              </a:rPr>
              <a:t>Python  ·  Pyomo  ·  HiGHS  ·  24-Bus IEEE Network</a:t>
            </a:r>
            <a:endParaRPr lang="en-US" sz="1300" dirty="0"/>
          </a:p>
        </p:txBody>
      </p:sp>
      <p:sp>
        <p:nvSpPr>
          <p:cNvPr id="9" name="Text 7"/>
          <p:cNvSpPr/>
          <p:nvPr/>
        </p:nvSpPr>
        <p:spPr>
          <a:xfrm>
            <a:off x="502920" y="4498848"/>
            <a:ext cx="8229600" cy="457200"/>
          </a:xfrm>
          <a:prstGeom prst="rect">
            <a:avLst/>
          </a:prstGeom>
          <a:noFill/>
          <a:ln/>
        </p:spPr>
        <p:txBody>
          <a:bodyPr wrap="square" lIns="0" tIns="0" rIns="0" bIns="0" rtlCol="0" anchor="ctr"/>
          <a:lstStyle/>
          <a:p>
            <a:pPr marL="0" indent="0" algn="l">
              <a:buNone/>
            </a:pPr>
            <a:r>
              <a:rPr lang="en-US" sz="1100" dirty="0">
                <a:solidFill>
                  <a:srgbClr val="CADCFC"/>
                </a:solidFill>
                <a:latin typeface="Calibri" pitchFamily="34" charset="0"/>
                <a:ea typeface="Calibri" pitchFamily="34" charset="-122"/>
                <a:cs typeface="Calibri" pitchFamily="34" charset="-120"/>
              </a:rPr>
              <a:t>June 2026  ·  Confidential</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4FA8D8"/>
          </a:solidFill>
          <a:ln w="12700">
            <a:solidFill>
              <a:srgbClr val="4FA8D8"/>
            </a:solidFill>
            <a:prstDash val="solid"/>
          </a:ln>
        </p:spPr>
        <p:txBody>
          <a:bodyPr/>
          <a:lstStyle/>
          <a:p>
            <a:endParaRPr lang="en-US"/>
          </a:p>
        </p:txBody>
      </p:sp>
      <p:sp>
        <p:nvSpPr>
          <p:cNvPr id="3" name="Text 1"/>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Why SCUC Matters to a Trading Fund</a:t>
            </a:r>
            <a:endParaRPr lang="en-US" sz="2800" dirty="0"/>
          </a:p>
        </p:txBody>
      </p:sp>
      <p:sp>
        <p:nvSpPr>
          <p:cNvPr id="4" name="Shape 2"/>
          <p:cNvSpPr/>
          <p:nvPr/>
        </p:nvSpPr>
        <p:spPr>
          <a:xfrm>
            <a:off x="457200" y="932688"/>
            <a:ext cx="8229600" cy="20117"/>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024128"/>
            <a:ext cx="5029200" cy="2606040"/>
          </a:xfrm>
          <a:prstGeom prst="rect">
            <a:avLst/>
          </a:prstGeom>
          <a:noFill/>
          <a:ln/>
        </p:spPr>
        <p:txBody>
          <a:bodyPr wrap="square" rtlCol="0" anchor="t"/>
          <a:lstStyle/>
          <a:p>
            <a:pPr marL="342900" indent="-342900">
              <a:spcAft>
                <a:spcPts val="900"/>
              </a:spcAft>
              <a:buSzPct val="100000"/>
              <a:buChar char="•"/>
            </a:pPr>
            <a:r>
              <a:rPr lang="en-US" sz="1400" dirty="0">
                <a:solidFill>
                  <a:srgbClr val="475569"/>
                </a:solidFill>
                <a:latin typeface="Calibri" pitchFamily="34" charset="0"/>
                <a:ea typeface="Calibri" pitchFamily="34" charset="-122"/>
                <a:cs typeface="Calibri" pitchFamily="34" charset="-120"/>
              </a:rPr>
              <a:t>Day-ahead markets clear via SCUC — the ISO's price-setting engine</a:t>
            </a:r>
            <a:endParaRPr lang="en-US" sz="1400" dirty="0"/>
          </a:p>
          <a:p>
            <a:pPr marL="342900" indent="-342900">
              <a:spcAft>
                <a:spcPts val="900"/>
              </a:spcAft>
              <a:buSzPct val="100000"/>
              <a:buChar char="•"/>
            </a:pPr>
            <a:r>
              <a:rPr lang="en-US" sz="1400" dirty="0">
                <a:solidFill>
                  <a:srgbClr val="475569"/>
                </a:solidFill>
                <a:latin typeface="Calibri" pitchFamily="34" charset="0"/>
                <a:ea typeface="Calibri" pitchFamily="34" charset="-122"/>
                <a:cs typeface="Calibri" pitchFamily="34" charset="-120"/>
              </a:rPr>
              <a:t>LMPs (Locational Marginal Prices) = dual variables of nodal power balance</a:t>
            </a:r>
            <a:endParaRPr lang="en-US" sz="1400" dirty="0"/>
          </a:p>
          <a:p>
            <a:pPr marL="342900" indent="-342900">
              <a:spcAft>
                <a:spcPts val="900"/>
              </a:spcAft>
              <a:buSzPct val="100000"/>
              <a:buChar char="•"/>
            </a:pPr>
            <a:r>
              <a:rPr lang="en-US" sz="1400" dirty="0">
                <a:solidFill>
                  <a:srgbClr val="475569"/>
                </a:solidFill>
                <a:latin typeface="Calibri" pitchFamily="34" charset="0"/>
                <a:ea typeface="Calibri" pitchFamily="34" charset="-122"/>
                <a:cs typeface="Calibri" pitchFamily="34" charset="-120"/>
              </a:rPr>
              <a:t>A more accurate simulator → better LMP forecasts → trading alpha</a:t>
            </a:r>
            <a:endParaRPr lang="en-US" sz="1400" dirty="0"/>
          </a:p>
          <a:p>
            <a:pPr marL="342900" indent="-342900">
              <a:buSzPct val="100000"/>
              <a:buChar char="•"/>
            </a:pPr>
            <a:r>
              <a:rPr lang="en-US" sz="1400" dirty="0">
                <a:solidFill>
                  <a:srgbClr val="475569"/>
                </a:solidFill>
                <a:latin typeface="Calibri" pitchFamily="34" charset="0"/>
                <a:ea typeface="Calibri" pitchFamily="34" charset="-122"/>
                <a:cs typeface="Calibri" pitchFamily="34" charset="-120"/>
              </a:rPr>
              <a:t>Three blind spots in the existing simulator needed fixing</a:t>
            </a:r>
            <a:endParaRPr lang="en-US" sz="1400" dirty="0"/>
          </a:p>
        </p:txBody>
      </p:sp>
      <p:sp>
        <p:nvSpPr>
          <p:cNvPr id="8" name="Shape 6"/>
          <p:cNvSpPr/>
          <p:nvPr/>
        </p:nvSpPr>
        <p:spPr>
          <a:xfrm>
            <a:off x="6162136" y="1222656"/>
            <a:ext cx="2194560" cy="749808"/>
          </a:xfrm>
          <a:prstGeom prst="roundRect">
            <a:avLst>
              <a:gd name="adj" fmla="val 9756"/>
            </a:avLst>
          </a:prstGeom>
          <a:solidFill>
            <a:srgbClr val="FEF2F2"/>
          </a:solidFill>
          <a:ln w="12700">
            <a:solidFill>
              <a:srgbClr val="DC2626"/>
            </a:solidFill>
            <a:prstDash val="solid"/>
          </a:ln>
        </p:spPr>
        <p:txBody>
          <a:bodyPr/>
          <a:lstStyle/>
          <a:p>
            <a:endParaRPr lang="en-US"/>
          </a:p>
        </p:txBody>
      </p:sp>
      <p:sp>
        <p:nvSpPr>
          <p:cNvPr id="9" name="Text 7"/>
          <p:cNvSpPr/>
          <p:nvPr/>
        </p:nvSpPr>
        <p:spPr>
          <a:xfrm>
            <a:off x="6162136" y="1222656"/>
            <a:ext cx="2194560" cy="749808"/>
          </a:xfrm>
          <a:prstGeom prst="rect">
            <a:avLst/>
          </a:prstGeom>
          <a:noFill/>
          <a:ln/>
        </p:spPr>
        <p:txBody>
          <a:bodyPr wrap="square" rtlCol="0" anchor="ctr"/>
          <a:lstStyle/>
          <a:p>
            <a:pPr marL="0" indent="0" algn="ctr">
              <a:buNone/>
            </a:pPr>
            <a:r>
              <a:rPr lang="en-US" sz="1150" b="1" dirty="0">
                <a:solidFill>
                  <a:srgbClr val="B91C1C"/>
                </a:solidFill>
                <a:latin typeface="Calibri" pitchFamily="34" charset="0"/>
                <a:ea typeface="Calibri" pitchFamily="34" charset="-122"/>
                <a:cs typeface="Calibri" pitchFamily="34" charset="-120"/>
              </a:rPr>
              <a:t>Wrong</a:t>
            </a:r>
            <a:endParaRPr lang="en-US" sz="1150" dirty="0"/>
          </a:p>
          <a:p>
            <a:pPr marL="0" indent="0" algn="ctr">
              <a:buNone/>
            </a:pPr>
            <a:r>
              <a:rPr lang="en-US" sz="1150" b="1" dirty="0">
                <a:solidFill>
                  <a:srgbClr val="B91C1C"/>
                </a:solidFill>
                <a:latin typeface="Calibri" pitchFamily="34" charset="0"/>
                <a:ea typeface="Calibri" pitchFamily="34" charset="-122"/>
                <a:cs typeface="Calibri" pitchFamily="34" charset="-120"/>
              </a:rPr>
              <a:t>Startup Costs</a:t>
            </a:r>
            <a:endParaRPr lang="en-US" sz="1150" dirty="0"/>
          </a:p>
        </p:txBody>
      </p:sp>
      <p:sp>
        <p:nvSpPr>
          <p:cNvPr id="10" name="Shape 8"/>
          <p:cNvSpPr/>
          <p:nvPr/>
        </p:nvSpPr>
        <p:spPr>
          <a:xfrm>
            <a:off x="6162136" y="2292901"/>
            <a:ext cx="2194560" cy="749808"/>
          </a:xfrm>
          <a:prstGeom prst="roundRect">
            <a:avLst>
              <a:gd name="adj" fmla="val 9756"/>
            </a:avLst>
          </a:prstGeom>
          <a:solidFill>
            <a:srgbClr val="FEF2F2"/>
          </a:solidFill>
          <a:ln w="12700">
            <a:solidFill>
              <a:srgbClr val="DC2626"/>
            </a:solidFill>
            <a:prstDash val="solid"/>
          </a:ln>
        </p:spPr>
        <p:txBody>
          <a:bodyPr/>
          <a:lstStyle/>
          <a:p>
            <a:endParaRPr lang="en-US"/>
          </a:p>
        </p:txBody>
      </p:sp>
      <p:sp>
        <p:nvSpPr>
          <p:cNvPr id="11" name="Text 9"/>
          <p:cNvSpPr/>
          <p:nvPr/>
        </p:nvSpPr>
        <p:spPr>
          <a:xfrm>
            <a:off x="6162136" y="2292901"/>
            <a:ext cx="2194560" cy="749808"/>
          </a:xfrm>
          <a:prstGeom prst="rect">
            <a:avLst/>
          </a:prstGeom>
          <a:noFill/>
          <a:ln/>
        </p:spPr>
        <p:txBody>
          <a:bodyPr wrap="square" rtlCol="0" anchor="ctr"/>
          <a:lstStyle/>
          <a:p>
            <a:pPr marL="0" indent="0" algn="ctr">
              <a:buNone/>
            </a:pPr>
            <a:r>
              <a:rPr lang="en-US" sz="1150" b="1" dirty="0">
                <a:solidFill>
                  <a:srgbClr val="B91C1C"/>
                </a:solidFill>
                <a:latin typeface="Calibri" pitchFamily="34" charset="0"/>
                <a:ea typeface="Calibri" pitchFamily="34" charset="-122"/>
                <a:cs typeface="Calibri" pitchFamily="34" charset="-120"/>
              </a:rPr>
              <a:t>No Security</a:t>
            </a:r>
            <a:endParaRPr lang="en-US" sz="1150" dirty="0"/>
          </a:p>
          <a:p>
            <a:pPr marL="0" indent="0" algn="ctr">
              <a:buNone/>
            </a:pPr>
            <a:r>
              <a:rPr lang="en-US" sz="1150" b="1" dirty="0">
                <a:solidFill>
                  <a:srgbClr val="B91C1C"/>
                </a:solidFill>
                <a:latin typeface="Calibri" pitchFamily="34" charset="0"/>
                <a:ea typeface="Calibri" pitchFamily="34" charset="-122"/>
                <a:cs typeface="Calibri" pitchFamily="34" charset="-120"/>
              </a:rPr>
              <a:t>Constraints</a:t>
            </a:r>
            <a:endParaRPr lang="en-US" sz="1150" dirty="0"/>
          </a:p>
        </p:txBody>
      </p:sp>
      <p:sp>
        <p:nvSpPr>
          <p:cNvPr id="12" name="Shape 10"/>
          <p:cNvSpPr/>
          <p:nvPr/>
        </p:nvSpPr>
        <p:spPr>
          <a:xfrm>
            <a:off x="6204693" y="3363146"/>
            <a:ext cx="2194560" cy="749808"/>
          </a:xfrm>
          <a:prstGeom prst="roundRect">
            <a:avLst>
              <a:gd name="adj" fmla="val 9756"/>
            </a:avLst>
          </a:prstGeom>
          <a:solidFill>
            <a:srgbClr val="FEF2F2"/>
          </a:solidFill>
          <a:ln w="12700">
            <a:solidFill>
              <a:srgbClr val="DC2626"/>
            </a:solidFill>
            <a:prstDash val="solid"/>
          </a:ln>
        </p:spPr>
        <p:txBody>
          <a:bodyPr/>
          <a:lstStyle/>
          <a:p>
            <a:endParaRPr lang="en-US"/>
          </a:p>
        </p:txBody>
      </p:sp>
      <p:sp>
        <p:nvSpPr>
          <p:cNvPr id="13" name="Text 11"/>
          <p:cNvSpPr/>
          <p:nvPr/>
        </p:nvSpPr>
        <p:spPr>
          <a:xfrm>
            <a:off x="6204693" y="3363146"/>
            <a:ext cx="2194560" cy="749808"/>
          </a:xfrm>
          <a:prstGeom prst="rect">
            <a:avLst/>
          </a:prstGeom>
          <a:noFill/>
          <a:ln/>
        </p:spPr>
        <p:txBody>
          <a:bodyPr wrap="square" rtlCol="0" anchor="ctr"/>
          <a:lstStyle/>
          <a:p>
            <a:pPr marL="0" indent="0" algn="ctr">
              <a:buNone/>
            </a:pPr>
            <a:r>
              <a:rPr lang="en-US" sz="1150" b="1" dirty="0">
                <a:solidFill>
                  <a:srgbClr val="B91C1C"/>
                </a:solidFill>
                <a:latin typeface="Calibri" pitchFamily="34" charset="0"/>
                <a:ea typeface="Calibri" pitchFamily="34" charset="-122"/>
                <a:cs typeface="Calibri" pitchFamily="34" charset="-120"/>
              </a:rPr>
              <a:t>No Market</a:t>
            </a:r>
            <a:endParaRPr lang="en-US" sz="1150" dirty="0"/>
          </a:p>
          <a:p>
            <a:pPr marL="0" indent="0" algn="ctr">
              <a:buNone/>
            </a:pPr>
            <a:r>
              <a:rPr lang="en-US" sz="1150" b="1" dirty="0">
                <a:solidFill>
                  <a:srgbClr val="B91C1C"/>
                </a:solidFill>
                <a:latin typeface="Calibri" pitchFamily="34" charset="0"/>
                <a:ea typeface="Calibri" pitchFamily="34" charset="-122"/>
                <a:cs typeface="Calibri" pitchFamily="34" charset="-120"/>
              </a:rPr>
              <a:t>Analysis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Three-Part Test</a:t>
            </a:r>
            <a:endParaRPr lang="en-US" sz="2800" dirty="0"/>
          </a:p>
        </p:txBody>
      </p:sp>
      <p:sp>
        <p:nvSpPr>
          <p:cNvPr id="3" name="Shape 1"/>
          <p:cNvSpPr/>
          <p:nvPr/>
        </p:nvSpPr>
        <p:spPr>
          <a:xfrm>
            <a:off x="274320" y="987552"/>
            <a:ext cx="2743200" cy="3794760"/>
          </a:xfrm>
          <a:prstGeom prst="rect">
            <a:avLst/>
          </a:prstGeom>
          <a:solidFill>
            <a:srgbClr val="1A3168"/>
          </a:solidFill>
          <a:ln w="12700">
            <a:solidFill>
              <a:srgbClr val="3B82F6"/>
            </a:solidFill>
            <a:prstDash val="solid"/>
          </a:ln>
        </p:spPr>
        <p:txBody>
          <a:bodyPr/>
          <a:lstStyle/>
          <a:p>
            <a:endParaRPr lang="en-US"/>
          </a:p>
        </p:txBody>
      </p:sp>
      <p:sp>
        <p:nvSpPr>
          <p:cNvPr id="4" name="Text 2"/>
          <p:cNvSpPr/>
          <p:nvPr/>
        </p:nvSpPr>
        <p:spPr>
          <a:xfrm>
            <a:off x="411480" y="1097280"/>
            <a:ext cx="2514600" cy="594360"/>
          </a:xfrm>
          <a:prstGeom prst="rect">
            <a:avLst/>
          </a:prstGeom>
          <a:noFill/>
          <a:ln/>
        </p:spPr>
        <p:txBody>
          <a:bodyPr wrap="square" lIns="0" tIns="0" rIns="0" bIns="0" rtlCol="0" anchor="ctr"/>
          <a:lstStyle/>
          <a:p>
            <a:pPr marL="0" indent="0" algn="l">
              <a:buNone/>
            </a:pPr>
            <a:r>
              <a:rPr lang="en-US" sz="3200" b="1" dirty="0">
                <a:solidFill>
                  <a:srgbClr val="3B82F6"/>
                </a:solidFill>
                <a:latin typeface="Cambria" pitchFamily="34" charset="0"/>
                <a:ea typeface="Cambria" pitchFamily="34" charset="-122"/>
                <a:cs typeface="Cambria" pitchFamily="34" charset="-120"/>
              </a:rPr>
              <a:t>01</a:t>
            </a:r>
            <a:endParaRPr lang="en-US" sz="3200" dirty="0"/>
          </a:p>
        </p:txBody>
      </p:sp>
      <p:sp>
        <p:nvSpPr>
          <p:cNvPr id="5" name="Text 3"/>
          <p:cNvSpPr/>
          <p:nvPr/>
        </p:nvSpPr>
        <p:spPr>
          <a:xfrm>
            <a:off x="411480" y="1664208"/>
            <a:ext cx="2514600" cy="457200"/>
          </a:xfrm>
          <a:prstGeom prst="rect">
            <a:avLst/>
          </a:prstGeom>
          <a:noFill/>
          <a:ln/>
        </p:spPr>
        <p:txBody>
          <a:bodyPr wrap="square" lIns="0" tIns="0" rIns="0" bIns="0" rtlCol="0" anchor="ctr"/>
          <a:lstStyle/>
          <a:p>
            <a:pPr marL="0" indent="0" algn="l">
              <a:buNone/>
            </a:pPr>
            <a:r>
              <a:rPr lang="en-US" sz="1350" b="1" dirty="0">
                <a:solidFill>
                  <a:srgbClr val="FFFFFF"/>
                </a:solidFill>
                <a:latin typeface="Cambria" pitchFamily="34" charset="0"/>
                <a:ea typeface="Cambria" pitchFamily="34" charset="-122"/>
                <a:cs typeface="Cambria" pitchFamily="34" charset="-120"/>
              </a:rPr>
              <a:t>Tiered Startup Costs</a:t>
            </a:r>
            <a:endParaRPr lang="en-US" sz="1350" dirty="0"/>
          </a:p>
        </p:txBody>
      </p:sp>
      <p:sp>
        <p:nvSpPr>
          <p:cNvPr id="6" name="Shape 4"/>
          <p:cNvSpPr/>
          <p:nvPr/>
        </p:nvSpPr>
        <p:spPr>
          <a:xfrm>
            <a:off x="411480" y="2148840"/>
            <a:ext cx="2423160" cy="20117"/>
          </a:xfrm>
          <a:prstGeom prst="rect">
            <a:avLst/>
          </a:prstGeom>
          <a:solidFill>
            <a:srgbClr val="3B82F6"/>
          </a:solidFill>
          <a:ln w="12700">
            <a:solidFill>
              <a:srgbClr val="3B82F6"/>
            </a:solidFill>
            <a:prstDash val="solid"/>
          </a:ln>
        </p:spPr>
        <p:txBody>
          <a:bodyPr/>
          <a:lstStyle/>
          <a:p>
            <a:endParaRPr lang="en-US"/>
          </a:p>
        </p:txBody>
      </p:sp>
      <p:sp>
        <p:nvSpPr>
          <p:cNvPr id="7" name="Text 5"/>
          <p:cNvSpPr/>
          <p:nvPr/>
        </p:nvSpPr>
        <p:spPr>
          <a:xfrm>
            <a:off x="411480" y="2212848"/>
            <a:ext cx="2514600" cy="2377440"/>
          </a:xfrm>
          <a:prstGeom prst="rect">
            <a:avLst/>
          </a:prstGeom>
          <a:noFill/>
          <a:ln/>
        </p:spPr>
        <p:txBody>
          <a:bodyPr wrap="square" rtlCol="0" anchor="t"/>
          <a:lstStyle/>
          <a:p>
            <a:pPr marL="342900" indent="-342900">
              <a:spcAft>
                <a:spcPts val="700"/>
              </a:spcAft>
              <a:buSzPct val="100000"/>
              <a:buChar char="•"/>
            </a:pPr>
            <a:r>
              <a:rPr lang="en-US" sz="1100" dirty="0">
                <a:solidFill>
                  <a:srgbClr val="CADCFC"/>
                </a:solidFill>
                <a:latin typeface="Calibri" pitchFamily="34" charset="0"/>
                <a:ea typeface="Calibri" pitchFamily="34" charset="-122"/>
                <a:cs typeface="Calibri" pitchFamily="34" charset="-120"/>
              </a:rPr>
              <a:t>Current model: every restart costs the same</a:t>
            </a:r>
            <a:endParaRPr lang="en-US" sz="1100" dirty="0"/>
          </a:p>
          <a:p>
            <a:pPr marL="342900" indent="-342900">
              <a:spcAft>
                <a:spcPts val="700"/>
              </a:spcAft>
              <a:buSzPct val="100000"/>
              <a:buChar char="•"/>
            </a:pPr>
            <a:r>
              <a:rPr lang="en-US" sz="1100" dirty="0">
                <a:solidFill>
                  <a:srgbClr val="CADCFC"/>
                </a:solidFill>
                <a:latin typeface="Calibri" pitchFamily="34" charset="0"/>
                <a:ea typeface="Calibri" pitchFamily="34" charset="-122"/>
                <a:cs typeface="Calibri" pitchFamily="34" charset="-120"/>
              </a:rPr>
              <a:t>Cold boiler restart costs more than hot</a:t>
            </a:r>
            <a:endParaRPr lang="en-US" sz="1100" dirty="0"/>
          </a:p>
          <a:p>
            <a:pPr marL="342900" indent="-342900">
              <a:spcAft>
                <a:spcPts val="700"/>
              </a:spcAft>
              <a:buSzPct val="100000"/>
              <a:buChar char="•"/>
            </a:pPr>
            <a:r>
              <a:rPr lang="en-US" sz="1100" dirty="0">
                <a:solidFill>
                  <a:srgbClr val="CADCFC"/>
                </a:solidFill>
                <a:latin typeface="Calibri" pitchFamily="34" charset="0"/>
                <a:ea typeface="Calibri" pitchFamily="34" charset="-122"/>
                <a:cs typeface="Calibri" pitchFamily="34" charset="-120"/>
              </a:rPr>
              <a:t>Model hot / warm / cold regimes + pre-horizon state</a:t>
            </a:r>
            <a:endParaRPr lang="en-US" sz="1100" dirty="0"/>
          </a:p>
        </p:txBody>
      </p:sp>
      <p:sp>
        <p:nvSpPr>
          <p:cNvPr id="8" name="Shape 6"/>
          <p:cNvSpPr/>
          <p:nvPr/>
        </p:nvSpPr>
        <p:spPr>
          <a:xfrm>
            <a:off x="3172968" y="987552"/>
            <a:ext cx="2743200" cy="3794760"/>
          </a:xfrm>
          <a:prstGeom prst="rect">
            <a:avLst/>
          </a:prstGeom>
          <a:solidFill>
            <a:srgbClr val="1A3168"/>
          </a:solidFill>
          <a:ln w="12700">
            <a:solidFill>
              <a:srgbClr val="10B981"/>
            </a:solidFill>
            <a:prstDash val="solid"/>
          </a:ln>
        </p:spPr>
        <p:txBody>
          <a:bodyPr/>
          <a:lstStyle/>
          <a:p>
            <a:endParaRPr lang="en-US"/>
          </a:p>
        </p:txBody>
      </p:sp>
      <p:sp>
        <p:nvSpPr>
          <p:cNvPr id="9" name="Text 7"/>
          <p:cNvSpPr/>
          <p:nvPr/>
        </p:nvSpPr>
        <p:spPr>
          <a:xfrm>
            <a:off x="3310128" y="1097280"/>
            <a:ext cx="2514600" cy="594360"/>
          </a:xfrm>
          <a:prstGeom prst="rect">
            <a:avLst/>
          </a:prstGeom>
          <a:noFill/>
          <a:ln/>
        </p:spPr>
        <p:txBody>
          <a:bodyPr wrap="square" lIns="0" tIns="0" rIns="0" bIns="0" rtlCol="0" anchor="ctr"/>
          <a:lstStyle/>
          <a:p>
            <a:pPr marL="0" indent="0" algn="l">
              <a:buNone/>
            </a:pPr>
            <a:r>
              <a:rPr lang="en-US" sz="3200" b="1" dirty="0">
                <a:solidFill>
                  <a:srgbClr val="10B981"/>
                </a:solidFill>
                <a:latin typeface="Cambria" pitchFamily="34" charset="0"/>
                <a:ea typeface="Cambria" pitchFamily="34" charset="-122"/>
                <a:cs typeface="Cambria" pitchFamily="34" charset="-120"/>
              </a:rPr>
              <a:t>02</a:t>
            </a:r>
            <a:endParaRPr lang="en-US" sz="3200" dirty="0"/>
          </a:p>
        </p:txBody>
      </p:sp>
      <p:sp>
        <p:nvSpPr>
          <p:cNvPr id="10" name="Text 8"/>
          <p:cNvSpPr/>
          <p:nvPr/>
        </p:nvSpPr>
        <p:spPr>
          <a:xfrm>
            <a:off x="3310128" y="1664208"/>
            <a:ext cx="2514600" cy="457200"/>
          </a:xfrm>
          <a:prstGeom prst="rect">
            <a:avLst/>
          </a:prstGeom>
          <a:noFill/>
          <a:ln/>
        </p:spPr>
        <p:txBody>
          <a:bodyPr wrap="square" lIns="0" tIns="0" rIns="0" bIns="0" rtlCol="0" anchor="ctr"/>
          <a:lstStyle/>
          <a:p>
            <a:pPr marL="0" indent="0" algn="l">
              <a:buNone/>
            </a:pPr>
            <a:r>
              <a:rPr lang="en-US" sz="1350" b="1" dirty="0">
                <a:solidFill>
                  <a:srgbClr val="FFFFFF"/>
                </a:solidFill>
                <a:latin typeface="Cambria" pitchFamily="34" charset="0"/>
                <a:ea typeface="Cambria" pitchFamily="34" charset="-122"/>
                <a:cs typeface="Cambria" pitchFamily="34" charset="-120"/>
              </a:rPr>
              <a:t>N-1 Security Constraints</a:t>
            </a:r>
            <a:endParaRPr lang="en-US" sz="1350" dirty="0"/>
          </a:p>
        </p:txBody>
      </p:sp>
      <p:sp>
        <p:nvSpPr>
          <p:cNvPr id="11" name="Shape 9"/>
          <p:cNvSpPr/>
          <p:nvPr/>
        </p:nvSpPr>
        <p:spPr>
          <a:xfrm>
            <a:off x="3310128" y="2148840"/>
            <a:ext cx="2423160" cy="20117"/>
          </a:xfrm>
          <a:prstGeom prst="rect">
            <a:avLst/>
          </a:prstGeom>
          <a:solidFill>
            <a:srgbClr val="10B981"/>
          </a:solidFill>
          <a:ln w="12700">
            <a:solidFill>
              <a:srgbClr val="10B981"/>
            </a:solidFill>
            <a:prstDash val="solid"/>
          </a:ln>
        </p:spPr>
        <p:txBody>
          <a:bodyPr/>
          <a:lstStyle/>
          <a:p>
            <a:endParaRPr lang="en-US"/>
          </a:p>
        </p:txBody>
      </p:sp>
      <p:sp>
        <p:nvSpPr>
          <p:cNvPr id="12" name="Text 10"/>
          <p:cNvSpPr/>
          <p:nvPr/>
        </p:nvSpPr>
        <p:spPr>
          <a:xfrm>
            <a:off x="3310128" y="2212848"/>
            <a:ext cx="2514600" cy="2377440"/>
          </a:xfrm>
          <a:prstGeom prst="rect">
            <a:avLst/>
          </a:prstGeom>
          <a:noFill/>
          <a:ln/>
        </p:spPr>
        <p:txBody>
          <a:bodyPr wrap="square" rtlCol="0" anchor="t"/>
          <a:lstStyle/>
          <a:p>
            <a:pPr marL="342900" indent="-342900">
              <a:spcAft>
                <a:spcPts val="700"/>
              </a:spcAft>
              <a:buSzPct val="100000"/>
              <a:buChar char="•"/>
            </a:pPr>
            <a:r>
              <a:rPr lang="en-US" sz="1100" dirty="0">
                <a:solidFill>
                  <a:srgbClr val="CADCFC"/>
                </a:solidFill>
                <a:latin typeface="Calibri" pitchFamily="34" charset="0"/>
                <a:ea typeface="Calibri" pitchFamily="34" charset="-122"/>
                <a:cs typeface="Calibri" pitchFamily="34" charset="-120"/>
              </a:rPr>
              <a:t>Current: base-case flows only</a:t>
            </a:r>
            <a:endParaRPr lang="en-US" sz="1100" dirty="0"/>
          </a:p>
          <a:p>
            <a:pPr marL="342900" indent="-342900">
              <a:spcAft>
                <a:spcPts val="700"/>
              </a:spcAft>
              <a:buSzPct val="100000"/>
              <a:buChar char="•"/>
            </a:pPr>
            <a:r>
              <a:rPr lang="en-US" sz="1100" dirty="0">
                <a:solidFill>
                  <a:srgbClr val="CADCFC"/>
                </a:solidFill>
                <a:latin typeface="Calibri" pitchFamily="34" charset="0"/>
                <a:ea typeface="Calibri" pitchFamily="34" charset="-122"/>
                <a:cs typeface="Calibri" pitchFamily="34" charset="-120"/>
              </a:rPr>
              <a:t>Grid must survive any single line outage</a:t>
            </a:r>
            <a:endParaRPr lang="en-US" sz="1100" dirty="0"/>
          </a:p>
          <a:p>
            <a:pPr marL="342900" indent="-342900">
              <a:spcAft>
                <a:spcPts val="700"/>
              </a:spcAft>
              <a:buSzPct val="100000"/>
              <a:buChar char="•"/>
            </a:pPr>
            <a:r>
              <a:rPr lang="en-US" sz="1100" dirty="0">
                <a:solidFill>
                  <a:srgbClr val="CADCFC"/>
                </a:solidFill>
                <a:latin typeface="Calibri" pitchFamily="34" charset="0"/>
                <a:ea typeface="Calibri" pitchFamily="34" charset="-122"/>
                <a:cs typeface="Calibri" pitchFamily="34" charset="-120"/>
              </a:rPr>
              <a:t>Efficiently ensure load is redistributed safely during an outage.</a:t>
            </a:r>
            <a:endParaRPr lang="en-US" sz="1100" dirty="0"/>
          </a:p>
        </p:txBody>
      </p:sp>
      <p:sp>
        <p:nvSpPr>
          <p:cNvPr id="13" name="Shape 11"/>
          <p:cNvSpPr/>
          <p:nvPr/>
        </p:nvSpPr>
        <p:spPr>
          <a:xfrm>
            <a:off x="6062472" y="987552"/>
            <a:ext cx="2743200" cy="3794760"/>
          </a:xfrm>
          <a:prstGeom prst="rect">
            <a:avLst/>
          </a:prstGeom>
          <a:solidFill>
            <a:srgbClr val="1A3168"/>
          </a:solidFill>
          <a:ln w="12700">
            <a:solidFill>
              <a:srgbClr val="F59E0B"/>
            </a:solidFill>
            <a:prstDash val="solid"/>
          </a:ln>
        </p:spPr>
        <p:txBody>
          <a:bodyPr/>
          <a:lstStyle/>
          <a:p>
            <a:endParaRPr lang="en-US"/>
          </a:p>
        </p:txBody>
      </p:sp>
      <p:sp>
        <p:nvSpPr>
          <p:cNvPr id="14" name="Text 12"/>
          <p:cNvSpPr/>
          <p:nvPr/>
        </p:nvSpPr>
        <p:spPr>
          <a:xfrm>
            <a:off x="6199632" y="1097280"/>
            <a:ext cx="2514600" cy="594360"/>
          </a:xfrm>
          <a:prstGeom prst="rect">
            <a:avLst/>
          </a:prstGeom>
          <a:noFill/>
          <a:ln/>
        </p:spPr>
        <p:txBody>
          <a:bodyPr wrap="square" lIns="0" tIns="0" rIns="0" bIns="0" rtlCol="0" anchor="ctr"/>
          <a:lstStyle/>
          <a:p>
            <a:pPr marL="0" indent="0" algn="l">
              <a:buNone/>
            </a:pPr>
            <a:r>
              <a:rPr lang="en-US" sz="3200" b="1" dirty="0">
                <a:solidFill>
                  <a:srgbClr val="F59E0B"/>
                </a:solidFill>
                <a:latin typeface="Cambria" pitchFamily="34" charset="0"/>
                <a:ea typeface="Cambria" pitchFamily="34" charset="-122"/>
                <a:cs typeface="Cambria" pitchFamily="34" charset="-120"/>
              </a:rPr>
              <a:t>03</a:t>
            </a:r>
            <a:endParaRPr lang="en-US" sz="3200" dirty="0"/>
          </a:p>
        </p:txBody>
      </p:sp>
      <p:sp>
        <p:nvSpPr>
          <p:cNvPr id="15" name="Text 13"/>
          <p:cNvSpPr/>
          <p:nvPr/>
        </p:nvSpPr>
        <p:spPr>
          <a:xfrm>
            <a:off x="6199632" y="1664208"/>
            <a:ext cx="2514600" cy="457200"/>
          </a:xfrm>
          <a:prstGeom prst="rect">
            <a:avLst/>
          </a:prstGeom>
          <a:noFill/>
          <a:ln/>
        </p:spPr>
        <p:txBody>
          <a:bodyPr wrap="square" lIns="0" tIns="0" rIns="0" bIns="0" rtlCol="0" anchor="ctr"/>
          <a:lstStyle/>
          <a:p>
            <a:pPr marL="0" indent="0" algn="l">
              <a:buNone/>
            </a:pPr>
            <a:r>
              <a:rPr lang="en-US" sz="1350" b="1" dirty="0">
                <a:solidFill>
                  <a:srgbClr val="FFFFFF"/>
                </a:solidFill>
                <a:latin typeface="Cambria" pitchFamily="34" charset="0"/>
                <a:ea typeface="Cambria" pitchFamily="34" charset="-122"/>
                <a:cs typeface="Cambria" pitchFamily="34" charset="-120"/>
              </a:rPr>
              <a:t>Market Analysis</a:t>
            </a:r>
            <a:endParaRPr lang="en-US" sz="1350" dirty="0"/>
          </a:p>
        </p:txBody>
      </p:sp>
      <p:sp>
        <p:nvSpPr>
          <p:cNvPr id="16" name="Shape 14"/>
          <p:cNvSpPr/>
          <p:nvPr/>
        </p:nvSpPr>
        <p:spPr>
          <a:xfrm>
            <a:off x="6199632" y="2148840"/>
            <a:ext cx="2423160" cy="20117"/>
          </a:xfrm>
          <a:prstGeom prst="rect">
            <a:avLst/>
          </a:prstGeom>
          <a:solidFill>
            <a:srgbClr val="F59E0B"/>
          </a:solidFill>
          <a:ln w="12700">
            <a:solidFill>
              <a:srgbClr val="F59E0B"/>
            </a:solidFill>
            <a:prstDash val="solid"/>
          </a:ln>
        </p:spPr>
        <p:txBody>
          <a:bodyPr/>
          <a:lstStyle/>
          <a:p>
            <a:endParaRPr lang="en-US"/>
          </a:p>
        </p:txBody>
      </p:sp>
      <p:sp>
        <p:nvSpPr>
          <p:cNvPr id="17" name="Text 15"/>
          <p:cNvSpPr/>
          <p:nvPr/>
        </p:nvSpPr>
        <p:spPr>
          <a:xfrm>
            <a:off x="6199632" y="2212848"/>
            <a:ext cx="2514600" cy="2377440"/>
          </a:xfrm>
          <a:prstGeom prst="rect">
            <a:avLst/>
          </a:prstGeom>
          <a:noFill/>
          <a:ln/>
        </p:spPr>
        <p:txBody>
          <a:bodyPr wrap="square" rtlCol="0" anchor="t"/>
          <a:lstStyle/>
          <a:p>
            <a:pPr marL="342900" indent="-342900">
              <a:spcAft>
                <a:spcPts val="700"/>
              </a:spcAft>
              <a:buSzPct val="100000"/>
              <a:buChar char="•"/>
            </a:pPr>
            <a:r>
              <a:rPr lang="en-US" sz="1100" dirty="0">
                <a:solidFill>
                  <a:srgbClr val="CADCFC"/>
                </a:solidFill>
                <a:latin typeface="Calibri" pitchFamily="34" charset="0"/>
                <a:ea typeface="Calibri" pitchFamily="34" charset="-122"/>
                <a:cs typeface="Calibri" pitchFamily="34" charset="-120"/>
              </a:rPr>
              <a:t>Extract LMPs from dual variables</a:t>
            </a:r>
            <a:endParaRPr lang="en-US" sz="1100" dirty="0"/>
          </a:p>
          <a:p>
            <a:pPr marL="342900" indent="-342900">
              <a:spcAft>
                <a:spcPts val="700"/>
              </a:spcAft>
              <a:buSzPct val="100000"/>
              <a:buChar char="•"/>
            </a:pPr>
            <a:r>
              <a:rPr lang="en-US" sz="1100" dirty="0">
                <a:solidFill>
                  <a:srgbClr val="CADCFC"/>
                </a:solidFill>
                <a:latin typeface="Calibri" pitchFamily="34" charset="0"/>
                <a:ea typeface="Calibri" pitchFamily="34" charset="-122"/>
                <a:cs typeface="Calibri" pitchFamily="34" charset="-120"/>
              </a:rPr>
              <a:t>Merit order, congestion, peak/off-peak</a:t>
            </a:r>
            <a:endParaRPr lang="en-US" sz="1100" dirty="0"/>
          </a:p>
          <a:p>
            <a:pPr marL="342900" indent="-342900">
              <a:spcAft>
                <a:spcPts val="700"/>
              </a:spcAft>
              <a:buSzPct val="100000"/>
              <a:buChar char="•"/>
            </a:pPr>
            <a:r>
              <a:rPr lang="en-US" sz="1100" dirty="0">
                <a:solidFill>
                  <a:srgbClr val="CADCFC"/>
                </a:solidFill>
                <a:latin typeface="Calibri" pitchFamily="34" charset="0"/>
                <a:ea typeface="Calibri" pitchFamily="34" charset="-122"/>
                <a:cs typeface="Calibri" pitchFamily="34" charset="-120"/>
              </a:rPr>
              <a:t>Trader-facing briefing with actionable signals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B82F6"/>
          </a:solidFill>
          <a:ln w="12700">
            <a:solidFill>
              <a:srgbClr val="3B82F6"/>
            </a:solidFill>
            <a:prstDash val="solid"/>
          </a:ln>
        </p:spPr>
        <p:txBody>
          <a:bodyPr/>
          <a:lstStyle/>
          <a:p>
            <a:endParaRPr lang="en-US"/>
          </a:p>
        </p:txBody>
      </p:sp>
      <p:sp>
        <p:nvSpPr>
          <p:cNvPr id="3" name="Text 1"/>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Part 1 — The Cold-Start Problem</a:t>
            </a:r>
            <a:endParaRPr lang="en-US" sz="2800" dirty="0"/>
          </a:p>
        </p:txBody>
      </p:sp>
      <p:sp>
        <p:nvSpPr>
          <p:cNvPr id="4" name="Shape 2"/>
          <p:cNvSpPr/>
          <p:nvPr/>
        </p:nvSpPr>
        <p:spPr>
          <a:xfrm>
            <a:off x="457200" y="932688"/>
            <a:ext cx="8229600" cy="20117"/>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024128"/>
            <a:ext cx="4114800" cy="1600200"/>
          </a:xfrm>
          <a:prstGeom prst="rect">
            <a:avLst/>
          </a:prstGeom>
          <a:noFill/>
          <a:ln/>
        </p:spPr>
        <p:txBody>
          <a:bodyPr wrap="square" rtlCol="0" anchor="t"/>
          <a:lstStyle/>
          <a:p>
            <a:pPr marL="342900" indent="-342900">
              <a:spcAft>
                <a:spcPts val="900"/>
              </a:spcAft>
              <a:buSzPct val="100000"/>
              <a:buChar char="•"/>
            </a:pPr>
            <a:r>
              <a:rPr lang="en-US" sz="1300" dirty="0">
                <a:solidFill>
                  <a:srgbClr val="475569"/>
                </a:solidFill>
                <a:latin typeface="Calibri" pitchFamily="34" charset="0"/>
                <a:ea typeface="Calibri" pitchFamily="34" charset="-122"/>
                <a:cs typeface="Calibri" pitchFamily="34" charset="-120"/>
              </a:rPr>
              <a:t>Unit commitment cycles generators on/off to minimize total cost</a:t>
            </a:r>
            <a:endParaRPr lang="en-US" sz="1300" dirty="0"/>
          </a:p>
          <a:p>
            <a:pPr marL="342900" indent="-342900">
              <a:spcAft>
                <a:spcPts val="900"/>
              </a:spcAft>
              <a:buSzPct val="100000"/>
              <a:buChar char="•"/>
            </a:pPr>
            <a:r>
              <a:rPr lang="en-US" sz="1300" dirty="0">
                <a:solidFill>
                  <a:srgbClr val="475569"/>
                </a:solidFill>
                <a:latin typeface="Calibri" pitchFamily="34" charset="0"/>
                <a:ea typeface="Calibri" pitchFamily="34" charset="-122"/>
                <a:cs typeface="Calibri" pitchFamily="34" charset="-120"/>
              </a:rPr>
              <a:t>Restart cost depends on boiler temperature — which depends on time offline</a:t>
            </a:r>
            <a:endParaRPr lang="en-US" sz="1300" dirty="0"/>
          </a:p>
          <a:p>
            <a:pPr marL="342900" indent="-342900">
              <a:buSzPct val="100000"/>
              <a:buChar char="•"/>
            </a:pPr>
            <a:r>
              <a:rPr lang="en-US" sz="1300" dirty="0">
                <a:solidFill>
                  <a:srgbClr val="475569"/>
                </a:solidFill>
                <a:latin typeface="Calibri" pitchFamily="34" charset="0"/>
                <a:ea typeface="Calibri" pitchFamily="34" charset="-122"/>
                <a:cs typeface="Calibri" pitchFamily="34" charset="-120"/>
              </a:rPr>
              <a:t>Flat-cost model underpays for cold restarts → units cycle too much → wrong LMPs</a:t>
            </a:r>
            <a:endParaRPr lang="en-US" sz="1300" dirty="0"/>
          </a:p>
        </p:txBody>
      </p:sp>
      <p:sp>
        <p:nvSpPr>
          <p:cNvPr id="6" name="Shape 4"/>
          <p:cNvSpPr/>
          <p:nvPr/>
        </p:nvSpPr>
        <p:spPr>
          <a:xfrm>
            <a:off x="4754880" y="1024128"/>
            <a:ext cx="4069080" cy="347472"/>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4754880" y="1024128"/>
            <a:ext cx="1344168"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State</a:t>
            </a:r>
            <a:endParaRPr lang="en-US" sz="1100" dirty="0"/>
          </a:p>
        </p:txBody>
      </p:sp>
      <p:sp>
        <p:nvSpPr>
          <p:cNvPr id="8" name="Text 6"/>
          <p:cNvSpPr/>
          <p:nvPr/>
        </p:nvSpPr>
        <p:spPr>
          <a:xfrm>
            <a:off x="6144768" y="1024128"/>
            <a:ext cx="1188720"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Offline</a:t>
            </a:r>
            <a:endParaRPr lang="en-US" sz="1100" dirty="0"/>
          </a:p>
        </p:txBody>
      </p:sp>
      <p:sp>
        <p:nvSpPr>
          <p:cNvPr id="9" name="Text 7"/>
          <p:cNvSpPr/>
          <p:nvPr/>
        </p:nvSpPr>
        <p:spPr>
          <a:xfrm>
            <a:off x="7379208" y="1024128"/>
            <a:ext cx="107899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Cost</a:t>
            </a:r>
            <a:endParaRPr lang="en-US" sz="1100" dirty="0"/>
          </a:p>
        </p:txBody>
      </p:sp>
      <p:sp>
        <p:nvSpPr>
          <p:cNvPr id="10" name="Shape 8"/>
          <p:cNvSpPr/>
          <p:nvPr/>
        </p:nvSpPr>
        <p:spPr>
          <a:xfrm>
            <a:off x="4754880" y="1371600"/>
            <a:ext cx="4069080" cy="438912"/>
          </a:xfrm>
          <a:prstGeom prst="rect">
            <a:avLst/>
          </a:prstGeom>
          <a:solidFill>
            <a:srgbClr val="DCFCE7"/>
          </a:solidFill>
          <a:ln w="12700">
            <a:solidFill>
              <a:srgbClr val="16A34A"/>
            </a:solidFill>
            <a:prstDash val="solid"/>
          </a:ln>
        </p:spPr>
        <p:txBody>
          <a:bodyPr/>
          <a:lstStyle/>
          <a:p>
            <a:endParaRPr lang="en-US"/>
          </a:p>
        </p:txBody>
      </p:sp>
      <p:sp>
        <p:nvSpPr>
          <p:cNvPr id="11" name="Text 9"/>
          <p:cNvSpPr/>
          <p:nvPr/>
        </p:nvSpPr>
        <p:spPr>
          <a:xfrm>
            <a:off x="4754880" y="1371600"/>
            <a:ext cx="1344168" cy="438912"/>
          </a:xfrm>
          <a:prstGeom prst="rect">
            <a:avLst/>
          </a:prstGeom>
          <a:noFill/>
          <a:ln/>
        </p:spPr>
        <p:txBody>
          <a:bodyPr wrap="square" lIns="0" tIns="0" rIns="0" bIns="0" rtlCol="0" anchor="ctr"/>
          <a:lstStyle/>
          <a:p>
            <a:pPr marL="0" indent="0" algn="ctr">
              <a:buNone/>
            </a:pPr>
            <a:r>
              <a:rPr lang="en-US" sz="1200" b="1" dirty="0">
                <a:solidFill>
                  <a:srgbClr val="166534"/>
                </a:solidFill>
                <a:latin typeface="Calibri" pitchFamily="34" charset="0"/>
                <a:ea typeface="Calibri" pitchFamily="34" charset="-122"/>
                <a:cs typeface="Calibri" pitchFamily="34" charset="-120"/>
              </a:rPr>
              <a:t>Hot Start</a:t>
            </a:r>
            <a:endParaRPr lang="en-US" sz="1200" dirty="0"/>
          </a:p>
        </p:txBody>
      </p:sp>
      <p:sp>
        <p:nvSpPr>
          <p:cNvPr id="12" name="Text 10"/>
          <p:cNvSpPr/>
          <p:nvPr/>
        </p:nvSpPr>
        <p:spPr>
          <a:xfrm>
            <a:off x="6144768" y="1371600"/>
            <a:ext cx="1188720" cy="438912"/>
          </a:xfrm>
          <a:prstGeom prst="rect">
            <a:avLst/>
          </a:prstGeom>
          <a:noFill/>
          <a:ln/>
        </p:spPr>
        <p:txBody>
          <a:bodyPr wrap="square" lIns="0" tIns="0" rIns="0" bIns="0" rtlCol="0" anchor="ctr"/>
          <a:lstStyle/>
          <a:p>
            <a:pPr marL="0" indent="0" algn="ctr">
              <a:buNone/>
            </a:pPr>
            <a:r>
              <a:rPr lang="en-US" sz="1200" dirty="0">
                <a:solidFill>
                  <a:srgbClr val="166534"/>
                </a:solidFill>
                <a:latin typeface="Calibri" pitchFamily="34" charset="0"/>
                <a:ea typeface="Calibri" pitchFamily="34" charset="-122"/>
                <a:cs typeface="Calibri" pitchFamily="34" charset="-120"/>
              </a:rPr>
              <a:t>&lt; 4h offline</a:t>
            </a:r>
            <a:endParaRPr lang="en-US" sz="1200" dirty="0"/>
          </a:p>
        </p:txBody>
      </p:sp>
      <p:sp>
        <p:nvSpPr>
          <p:cNvPr id="13" name="Text 11"/>
          <p:cNvSpPr/>
          <p:nvPr/>
        </p:nvSpPr>
        <p:spPr>
          <a:xfrm>
            <a:off x="7379208" y="1371600"/>
            <a:ext cx="1078992" cy="438912"/>
          </a:xfrm>
          <a:prstGeom prst="rect">
            <a:avLst/>
          </a:prstGeom>
          <a:noFill/>
          <a:ln/>
        </p:spPr>
        <p:txBody>
          <a:bodyPr wrap="square" lIns="0" tIns="0" rIns="0" bIns="0" rtlCol="0" anchor="ctr"/>
          <a:lstStyle/>
          <a:p>
            <a:pPr marL="0" indent="0" algn="ctr">
              <a:buNone/>
            </a:pPr>
            <a:r>
              <a:rPr lang="en-US" sz="1200" dirty="0">
                <a:solidFill>
                  <a:srgbClr val="166534"/>
                </a:solidFill>
                <a:latin typeface="Calibri" pitchFamily="34" charset="0"/>
                <a:ea typeface="Calibri" pitchFamily="34" charset="-122"/>
                <a:cs typeface="Calibri" pitchFamily="34" charset="-120"/>
              </a:rPr>
              <a:t>$100</a:t>
            </a:r>
            <a:endParaRPr lang="en-US" sz="1200" dirty="0"/>
          </a:p>
        </p:txBody>
      </p:sp>
      <p:sp>
        <p:nvSpPr>
          <p:cNvPr id="14" name="Shape 12"/>
          <p:cNvSpPr/>
          <p:nvPr/>
        </p:nvSpPr>
        <p:spPr>
          <a:xfrm>
            <a:off x="4754880" y="1828800"/>
            <a:ext cx="4069080" cy="438912"/>
          </a:xfrm>
          <a:prstGeom prst="rect">
            <a:avLst/>
          </a:prstGeom>
          <a:solidFill>
            <a:srgbClr val="FEF9C3"/>
          </a:solidFill>
          <a:ln w="12700">
            <a:solidFill>
              <a:srgbClr val="CA8A04"/>
            </a:solidFill>
            <a:prstDash val="solid"/>
          </a:ln>
        </p:spPr>
        <p:txBody>
          <a:bodyPr/>
          <a:lstStyle/>
          <a:p>
            <a:endParaRPr lang="en-US"/>
          </a:p>
        </p:txBody>
      </p:sp>
      <p:sp>
        <p:nvSpPr>
          <p:cNvPr id="15" name="Text 13"/>
          <p:cNvSpPr/>
          <p:nvPr/>
        </p:nvSpPr>
        <p:spPr>
          <a:xfrm>
            <a:off x="4754880" y="1828800"/>
            <a:ext cx="1344168" cy="438912"/>
          </a:xfrm>
          <a:prstGeom prst="rect">
            <a:avLst/>
          </a:prstGeom>
          <a:noFill/>
          <a:ln/>
        </p:spPr>
        <p:txBody>
          <a:bodyPr wrap="square" lIns="0" tIns="0" rIns="0" bIns="0" rtlCol="0" anchor="ctr"/>
          <a:lstStyle/>
          <a:p>
            <a:pPr marL="0" indent="0" algn="ctr">
              <a:buNone/>
            </a:pPr>
            <a:r>
              <a:rPr lang="en-US" sz="1200" b="1" dirty="0">
                <a:solidFill>
                  <a:srgbClr val="713F12"/>
                </a:solidFill>
                <a:latin typeface="Calibri" pitchFamily="34" charset="0"/>
                <a:ea typeface="Calibri" pitchFamily="34" charset="-122"/>
                <a:cs typeface="Calibri" pitchFamily="34" charset="-120"/>
              </a:rPr>
              <a:t>Warm Start</a:t>
            </a:r>
            <a:endParaRPr lang="en-US" sz="1200" dirty="0"/>
          </a:p>
        </p:txBody>
      </p:sp>
      <p:sp>
        <p:nvSpPr>
          <p:cNvPr id="16" name="Text 14"/>
          <p:cNvSpPr/>
          <p:nvPr/>
        </p:nvSpPr>
        <p:spPr>
          <a:xfrm>
            <a:off x="6144768" y="1828800"/>
            <a:ext cx="1188720" cy="438912"/>
          </a:xfrm>
          <a:prstGeom prst="rect">
            <a:avLst/>
          </a:prstGeom>
          <a:noFill/>
          <a:ln/>
        </p:spPr>
        <p:txBody>
          <a:bodyPr wrap="square" lIns="0" tIns="0" rIns="0" bIns="0" rtlCol="0" anchor="ctr"/>
          <a:lstStyle/>
          <a:p>
            <a:pPr marL="0" indent="0" algn="ctr">
              <a:buNone/>
            </a:pPr>
            <a:r>
              <a:rPr lang="en-US" sz="1200" dirty="0">
                <a:solidFill>
                  <a:srgbClr val="713F12"/>
                </a:solidFill>
                <a:latin typeface="Calibri" pitchFamily="34" charset="0"/>
                <a:ea typeface="Calibri" pitchFamily="34" charset="-122"/>
                <a:cs typeface="Calibri" pitchFamily="34" charset="-120"/>
              </a:rPr>
              <a:t>4–8h offline</a:t>
            </a:r>
            <a:endParaRPr lang="en-US" sz="1200" dirty="0"/>
          </a:p>
        </p:txBody>
      </p:sp>
      <p:sp>
        <p:nvSpPr>
          <p:cNvPr id="17" name="Text 15"/>
          <p:cNvSpPr/>
          <p:nvPr/>
        </p:nvSpPr>
        <p:spPr>
          <a:xfrm>
            <a:off x="7379208" y="1828800"/>
            <a:ext cx="1078992" cy="438912"/>
          </a:xfrm>
          <a:prstGeom prst="rect">
            <a:avLst/>
          </a:prstGeom>
          <a:noFill/>
          <a:ln/>
        </p:spPr>
        <p:txBody>
          <a:bodyPr wrap="square" lIns="0" tIns="0" rIns="0" bIns="0" rtlCol="0" anchor="ctr"/>
          <a:lstStyle/>
          <a:p>
            <a:pPr marL="0" indent="0" algn="ctr">
              <a:buNone/>
            </a:pPr>
            <a:r>
              <a:rPr lang="en-US" sz="1200" dirty="0">
                <a:solidFill>
                  <a:srgbClr val="713F12"/>
                </a:solidFill>
                <a:latin typeface="Calibri" pitchFamily="34" charset="0"/>
                <a:ea typeface="Calibri" pitchFamily="34" charset="-122"/>
                <a:cs typeface="Calibri" pitchFamily="34" charset="-120"/>
              </a:rPr>
              <a:t>$400</a:t>
            </a:r>
            <a:endParaRPr lang="en-US" sz="1200" dirty="0"/>
          </a:p>
        </p:txBody>
      </p:sp>
      <p:sp>
        <p:nvSpPr>
          <p:cNvPr id="18" name="Shape 16"/>
          <p:cNvSpPr/>
          <p:nvPr/>
        </p:nvSpPr>
        <p:spPr>
          <a:xfrm>
            <a:off x="4754880" y="2286000"/>
            <a:ext cx="4069080" cy="438912"/>
          </a:xfrm>
          <a:prstGeom prst="rect">
            <a:avLst/>
          </a:prstGeom>
          <a:solidFill>
            <a:srgbClr val="FEE2E2"/>
          </a:solidFill>
          <a:ln w="12700">
            <a:solidFill>
              <a:srgbClr val="DC2626"/>
            </a:solidFill>
            <a:prstDash val="solid"/>
          </a:ln>
        </p:spPr>
        <p:txBody>
          <a:bodyPr/>
          <a:lstStyle/>
          <a:p>
            <a:endParaRPr lang="en-US"/>
          </a:p>
        </p:txBody>
      </p:sp>
      <p:sp>
        <p:nvSpPr>
          <p:cNvPr id="19" name="Text 17"/>
          <p:cNvSpPr/>
          <p:nvPr/>
        </p:nvSpPr>
        <p:spPr>
          <a:xfrm>
            <a:off x="4754880" y="2286000"/>
            <a:ext cx="1344168" cy="438912"/>
          </a:xfrm>
          <a:prstGeom prst="rect">
            <a:avLst/>
          </a:prstGeom>
          <a:noFill/>
          <a:ln/>
        </p:spPr>
        <p:txBody>
          <a:bodyPr wrap="square" lIns="0" tIns="0" rIns="0" bIns="0" rtlCol="0" anchor="ctr"/>
          <a:lstStyle/>
          <a:p>
            <a:pPr marL="0" indent="0" algn="ctr">
              <a:buNone/>
            </a:pPr>
            <a:r>
              <a:rPr lang="en-US" sz="1200" b="1" dirty="0">
                <a:solidFill>
                  <a:srgbClr val="7F1D1D"/>
                </a:solidFill>
                <a:latin typeface="Calibri" pitchFamily="34" charset="0"/>
                <a:ea typeface="Calibri" pitchFamily="34" charset="-122"/>
                <a:cs typeface="Calibri" pitchFamily="34" charset="-120"/>
              </a:rPr>
              <a:t>Cold Start</a:t>
            </a:r>
            <a:endParaRPr lang="en-US" sz="1200" dirty="0"/>
          </a:p>
        </p:txBody>
      </p:sp>
      <p:sp>
        <p:nvSpPr>
          <p:cNvPr id="20" name="Text 18"/>
          <p:cNvSpPr/>
          <p:nvPr/>
        </p:nvSpPr>
        <p:spPr>
          <a:xfrm>
            <a:off x="6144768" y="2286000"/>
            <a:ext cx="1188720" cy="438912"/>
          </a:xfrm>
          <a:prstGeom prst="rect">
            <a:avLst/>
          </a:prstGeom>
          <a:noFill/>
          <a:ln/>
        </p:spPr>
        <p:txBody>
          <a:bodyPr wrap="square" lIns="0" tIns="0" rIns="0" bIns="0" rtlCol="0" anchor="ctr"/>
          <a:lstStyle/>
          <a:p>
            <a:pPr marL="0" indent="0" algn="ctr">
              <a:buNone/>
            </a:pPr>
            <a:r>
              <a:rPr lang="en-US" sz="1200" dirty="0">
                <a:solidFill>
                  <a:srgbClr val="7F1D1D"/>
                </a:solidFill>
                <a:latin typeface="Calibri" pitchFamily="34" charset="0"/>
                <a:ea typeface="Calibri" pitchFamily="34" charset="-122"/>
                <a:cs typeface="Calibri" pitchFamily="34" charset="-120"/>
              </a:rPr>
              <a:t>≥8h offline</a:t>
            </a:r>
            <a:endParaRPr lang="en-US" sz="1200" dirty="0"/>
          </a:p>
        </p:txBody>
      </p:sp>
      <p:sp>
        <p:nvSpPr>
          <p:cNvPr id="21" name="Text 19"/>
          <p:cNvSpPr/>
          <p:nvPr/>
        </p:nvSpPr>
        <p:spPr>
          <a:xfrm>
            <a:off x="7379208" y="2286000"/>
            <a:ext cx="1078992" cy="438912"/>
          </a:xfrm>
          <a:prstGeom prst="rect">
            <a:avLst/>
          </a:prstGeom>
          <a:noFill/>
          <a:ln/>
        </p:spPr>
        <p:txBody>
          <a:bodyPr wrap="square" lIns="0" tIns="0" rIns="0" bIns="0" rtlCol="0" anchor="ctr"/>
          <a:lstStyle/>
          <a:p>
            <a:pPr marL="0" indent="0" algn="ctr">
              <a:buNone/>
            </a:pPr>
            <a:r>
              <a:rPr lang="en-US" sz="1200" dirty="0">
                <a:solidFill>
                  <a:srgbClr val="7F1D1D"/>
                </a:solidFill>
                <a:latin typeface="Calibri" pitchFamily="34" charset="0"/>
                <a:ea typeface="Calibri" pitchFamily="34" charset="-122"/>
                <a:cs typeface="Calibri" pitchFamily="34" charset="-120"/>
              </a:rPr>
              <a:t>$900</a:t>
            </a:r>
            <a:endParaRPr lang="en-US" sz="1200" dirty="0"/>
          </a:p>
        </p:txBody>
      </p:sp>
      <p:sp>
        <p:nvSpPr>
          <p:cNvPr id="22" name="Shape 20"/>
          <p:cNvSpPr/>
          <p:nvPr/>
        </p:nvSpPr>
        <p:spPr>
          <a:xfrm>
            <a:off x="4754880" y="2761488"/>
            <a:ext cx="4069080" cy="566928"/>
          </a:xfrm>
          <a:prstGeom prst="rect">
            <a:avLst/>
          </a:prstGeom>
          <a:solidFill>
            <a:srgbClr val="FFF7ED"/>
          </a:solidFill>
          <a:ln w="12700">
            <a:solidFill>
              <a:srgbClr val="F59E0B"/>
            </a:solidFill>
            <a:prstDash val="solid"/>
          </a:ln>
        </p:spPr>
        <p:txBody>
          <a:bodyPr/>
          <a:lstStyle/>
          <a:p>
            <a:endParaRPr lang="en-US"/>
          </a:p>
        </p:txBody>
      </p:sp>
      <p:sp>
        <p:nvSpPr>
          <p:cNvPr id="23" name="Text 21"/>
          <p:cNvSpPr/>
          <p:nvPr/>
        </p:nvSpPr>
        <p:spPr>
          <a:xfrm>
            <a:off x="4800600" y="2779776"/>
            <a:ext cx="3977640" cy="530352"/>
          </a:xfrm>
          <a:prstGeom prst="rect">
            <a:avLst/>
          </a:prstGeom>
          <a:noFill/>
          <a:ln/>
        </p:spPr>
        <p:txBody>
          <a:bodyPr wrap="square" rtlCol="0" anchor="ctr"/>
          <a:lstStyle/>
          <a:p>
            <a:pPr marL="0" indent="0" algn="ctr">
              <a:buNone/>
            </a:pPr>
            <a:r>
              <a:rPr lang="en-US" sz="1100" dirty="0">
                <a:solidFill>
                  <a:srgbClr val="92400E"/>
                </a:solidFill>
                <a:latin typeface="Calibri" pitchFamily="34" charset="0"/>
                <a:ea typeface="Calibri" pitchFamily="34" charset="-122"/>
                <a:cs typeface="Calibri" pitchFamily="34" charset="-120"/>
              </a:rPr>
              <a:t>Flat model charges $100 for everything</a:t>
            </a:r>
            <a:endParaRPr lang="en-US" sz="1100" dirty="0"/>
          </a:p>
          <a:p>
            <a:pPr marL="0" indent="0" algn="ctr">
              <a:buNone/>
            </a:pPr>
            <a:r>
              <a:rPr lang="en-US" sz="1100" dirty="0">
                <a:solidFill>
                  <a:srgbClr val="92400E"/>
                </a:solidFill>
                <a:latin typeface="Calibri" pitchFamily="34" charset="0"/>
                <a:ea typeface="Calibri" pitchFamily="34" charset="-122"/>
                <a:cs typeface="Calibri" pitchFamily="34" charset="-120"/>
              </a:rPr>
              <a:t>→ underprices cold starts by 9×</a:t>
            </a:r>
            <a:endParaRPr lang="en-US" sz="1100" dirty="0"/>
          </a:p>
        </p:txBody>
      </p:sp>
      <p:sp>
        <p:nvSpPr>
          <p:cNvPr id="24" name="Shape 22"/>
          <p:cNvSpPr/>
          <p:nvPr/>
        </p:nvSpPr>
        <p:spPr>
          <a:xfrm>
            <a:off x="457200" y="4005072"/>
            <a:ext cx="8229600" cy="502920"/>
          </a:xfrm>
          <a:prstGeom prst="rect">
            <a:avLst/>
          </a:prstGeom>
          <a:solidFill>
            <a:srgbClr val="FEF2F2"/>
          </a:solidFill>
          <a:ln w="12700">
            <a:solidFill>
              <a:srgbClr val="DC2626"/>
            </a:solidFill>
            <a:prstDash val="solid"/>
          </a:ln>
        </p:spPr>
        <p:txBody>
          <a:bodyPr/>
          <a:lstStyle/>
          <a:p>
            <a:endParaRPr lang="en-US"/>
          </a:p>
        </p:txBody>
      </p:sp>
      <p:sp>
        <p:nvSpPr>
          <p:cNvPr id="25" name="Text 23"/>
          <p:cNvSpPr/>
          <p:nvPr/>
        </p:nvSpPr>
        <p:spPr>
          <a:xfrm>
            <a:off x="502920" y="4005072"/>
            <a:ext cx="8138160" cy="502920"/>
          </a:xfrm>
          <a:prstGeom prst="rect">
            <a:avLst/>
          </a:prstGeom>
          <a:noFill/>
          <a:ln/>
        </p:spPr>
        <p:txBody>
          <a:bodyPr wrap="square" lIns="0" tIns="0" rIns="0" bIns="0" rtlCol="0" anchor="ctr"/>
          <a:lstStyle/>
          <a:p>
            <a:pPr marL="0" indent="0" algn="ctr">
              <a:buNone/>
            </a:pPr>
            <a:r>
              <a:rPr lang="en-US" sz="1200" b="1" dirty="0">
                <a:solidFill>
                  <a:srgbClr val="B91C1C"/>
                </a:solidFill>
                <a:latin typeface="Calibri" pitchFamily="34" charset="0"/>
                <a:ea typeface="Calibri" pitchFamily="34" charset="-122"/>
                <a:cs typeface="Calibri" pitchFamily="34" charset="-120"/>
              </a:rPr>
              <a:t>Wrong startup cost  →  wrong cycling decisions  →  wrong commitment  →  wrong LMPs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B82F6"/>
          </a:solidFill>
          <a:ln w="12700">
            <a:solidFill>
              <a:srgbClr val="3B82F6"/>
            </a:solidFill>
            <a:prstDash val="solid"/>
          </a:ln>
        </p:spPr>
        <p:txBody>
          <a:bodyPr/>
          <a:lstStyle/>
          <a:p>
            <a:endParaRPr lang="en-US"/>
          </a:p>
        </p:txBody>
      </p:sp>
      <p:sp>
        <p:nvSpPr>
          <p:cNvPr id="3" name="Text 1"/>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Part 1 — Window-Based Binary Formulation</a:t>
            </a:r>
            <a:endParaRPr lang="en-US" sz="2800" dirty="0"/>
          </a:p>
        </p:txBody>
      </p:sp>
      <p:sp>
        <p:nvSpPr>
          <p:cNvPr id="4" name="Shape 2"/>
          <p:cNvSpPr/>
          <p:nvPr/>
        </p:nvSpPr>
        <p:spPr>
          <a:xfrm>
            <a:off x="457200" y="932688"/>
            <a:ext cx="8229600" cy="20117"/>
          </a:xfrm>
          <a:prstGeom prst="rect">
            <a:avLst/>
          </a:prstGeom>
          <a:solidFill>
            <a:srgbClr val="E2E8F0"/>
          </a:solidFill>
          <a:ln w="12700">
            <a:solidFill>
              <a:srgbClr val="E2E8F0"/>
            </a:solidFill>
            <a:prstDash val="solid"/>
          </a:ln>
        </p:spPr>
        <p:txBody>
          <a:bodyPr/>
          <a:lstStyle/>
          <a:p>
            <a:endParaRPr lang="en-US"/>
          </a:p>
        </p:txBody>
      </p:sp>
      <p:sp>
        <p:nvSpPr>
          <p:cNvPr id="8" name="Text 6"/>
          <p:cNvSpPr/>
          <p:nvPr/>
        </p:nvSpPr>
        <p:spPr>
          <a:xfrm>
            <a:off x="4325112" y="1672468"/>
            <a:ext cx="493776" cy="502920"/>
          </a:xfrm>
          <a:prstGeom prst="rect">
            <a:avLst/>
          </a:prstGeom>
          <a:noFill/>
          <a:ln/>
        </p:spPr>
        <p:txBody>
          <a:bodyPr wrap="square" lIns="0" tIns="0" rIns="0" bIns="0" rtlCol="0" anchor="ctr"/>
          <a:lstStyle/>
          <a:p>
            <a:pPr marL="0" indent="0" algn="ctr">
              <a:buNone/>
            </a:pPr>
            <a:r>
              <a:rPr lang="en-US" sz="1800" b="1" dirty="0">
                <a:solidFill>
                  <a:srgbClr val="475569"/>
                </a:solidFill>
                <a:latin typeface="Cambria" pitchFamily="34" charset="0"/>
                <a:ea typeface="Cambria" pitchFamily="34" charset="-122"/>
                <a:cs typeface="Cambria" pitchFamily="34" charset="-120"/>
              </a:rPr>
              <a:t>vs.</a:t>
            </a:r>
            <a:endParaRPr lang="en-US" sz="1800" dirty="0"/>
          </a:p>
        </p:txBody>
      </p:sp>
      <p:sp>
        <p:nvSpPr>
          <p:cNvPr id="9" name="Shape 7"/>
          <p:cNvSpPr/>
          <p:nvPr/>
        </p:nvSpPr>
        <p:spPr>
          <a:xfrm>
            <a:off x="457200" y="1367186"/>
            <a:ext cx="3840480" cy="1261872"/>
          </a:xfrm>
          <a:prstGeom prst="rect">
            <a:avLst/>
          </a:prstGeom>
          <a:solidFill>
            <a:srgbClr val="DCFCE7"/>
          </a:solidFill>
          <a:ln w="12700">
            <a:solidFill>
              <a:srgbClr val="16A34A"/>
            </a:solidFill>
            <a:prstDash val="solid"/>
          </a:ln>
        </p:spPr>
        <p:txBody>
          <a:bodyPr/>
          <a:lstStyle/>
          <a:p>
            <a:endParaRPr lang="en-US"/>
          </a:p>
        </p:txBody>
      </p:sp>
      <p:sp>
        <p:nvSpPr>
          <p:cNvPr id="10" name="Text 8"/>
          <p:cNvSpPr/>
          <p:nvPr/>
        </p:nvSpPr>
        <p:spPr>
          <a:xfrm>
            <a:off x="548640" y="1412906"/>
            <a:ext cx="3657600" cy="365760"/>
          </a:xfrm>
          <a:prstGeom prst="rect">
            <a:avLst/>
          </a:prstGeom>
          <a:noFill/>
          <a:ln/>
        </p:spPr>
        <p:txBody>
          <a:bodyPr wrap="square" lIns="0" tIns="0" rIns="0" bIns="0" rtlCol="0" anchor="ctr"/>
          <a:lstStyle/>
          <a:p>
            <a:pPr marL="0" indent="0" algn="l">
              <a:buNone/>
            </a:pPr>
            <a:r>
              <a:rPr lang="en-US" sz="1250" b="1" dirty="0">
                <a:solidFill>
                  <a:srgbClr val="166534"/>
                </a:solidFill>
                <a:latin typeface="Calibri" pitchFamily="34" charset="0"/>
                <a:ea typeface="Calibri" pitchFamily="34" charset="-122"/>
                <a:cs typeface="Calibri" pitchFamily="34" charset="-120"/>
              </a:rPr>
              <a:t>Window-Based Binary δ[g,s,t]</a:t>
            </a:r>
            <a:endParaRPr lang="en-US" sz="1250" dirty="0"/>
          </a:p>
        </p:txBody>
      </p:sp>
      <p:sp>
        <p:nvSpPr>
          <p:cNvPr id="11" name="Text 9"/>
          <p:cNvSpPr/>
          <p:nvPr/>
        </p:nvSpPr>
        <p:spPr>
          <a:xfrm>
            <a:off x="548640" y="1787810"/>
            <a:ext cx="3657600" cy="777240"/>
          </a:xfrm>
          <a:prstGeom prst="rect">
            <a:avLst/>
          </a:prstGeom>
          <a:noFill/>
          <a:ln/>
        </p:spPr>
        <p:txBody>
          <a:bodyPr wrap="square" lIns="0" tIns="0" rIns="0" bIns="0" rtlCol="0" anchor="ctr"/>
          <a:lstStyle/>
          <a:p>
            <a:pPr marL="0" indent="0" algn="l">
              <a:buNone/>
            </a:pPr>
            <a:r>
              <a:rPr lang="en-US" sz="1100" dirty="0">
                <a:solidFill>
                  <a:srgbClr val="475569"/>
                </a:solidFill>
                <a:latin typeface="Calibri" pitchFamily="34" charset="0"/>
                <a:ea typeface="Calibri" pitchFamily="34" charset="-122"/>
                <a:cs typeface="Calibri" pitchFamily="34" charset="-120"/>
              </a:rPr>
              <a:t>RHS = sum of existing binary switch_off vars</a:t>
            </a:r>
            <a:endParaRPr lang="en-US" sz="1100" dirty="0"/>
          </a:p>
          <a:p>
            <a:pPr marL="0" indent="0" algn="l">
              <a:buNone/>
            </a:pPr>
            <a:r>
              <a:rPr lang="en-US" sz="1100" dirty="0">
                <a:solidFill>
                  <a:srgbClr val="475569"/>
                </a:solidFill>
                <a:latin typeface="Calibri" pitchFamily="34" charset="0"/>
                <a:ea typeface="Calibri" pitchFamily="34" charset="-122"/>
                <a:cs typeface="Calibri" pitchFamily="34" charset="-120"/>
              </a:rPr>
              <a:t>Always ≤ 1  →  no Big-M needed</a:t>
            </a:r>
            <a:endParaRPr lang="en-US" sz="1100" dirty="0"/>
          </a:p>
          <a:p>
            <a:pPr marL="0" indent="0" algn="l">
              <a:buNone/>
            </a:pPr>
            <a:r>
              <a:rPr lang="en-US" sz="1100" dirty="0">
                <a:solidFill>
                  <a:srgbClr val="475569"/>
                </a:solidFill>
                <a:latin typeface="Calibri" pitchFamily="34" charset="0"/>
                <a:ea typeface="Calibri" pitchFamily="34" charset="-122"/>
                <a:cs typeface="Calibri" pitchFamily="34" charset="-120"/>
              </a:rPr>
              <a:t>Tight LP bound  →  fast MILP solve</a:t>
            </a:r>
            <a:endParaRPr lang="en-US" sz="1100" dirty="0"/>
          </a:p>
        </p:txBody>
      </p:sp>
      <p:sp>
        <p:nvSpPr>
          <p:cNvPr id="12" name="Text 10"/>
          <p:cNvSpPr/>
          <p:nvPr/>
        </p:nvSpPr>
        <p:spPr>
          <a:xfrm>
            <a:off x="457200" y="2769748"/>
            <a:ext cx="8229600" cy="320040"/>
          </a:xfrm>
          <a:prstGeom prst="rect">
            <a:avLst/>
          </a:prstGeom>
          <a:noFill/>
          <a:ln/>
        </p:spPr>
        <p:txBody>
          <a:bodyPr wrap="square" lIns="0" tIns="0" rIns="0" bIns="0" rtlCol="0" anchor="ctr"/>
          <a:lstStyle/>
          <a:p>
            <a:pPr marL="0" indent="0" algn="l">
              <a:buNone/>
            </a:pPr>
            <a:r>
              <a:rPr lang="en-US" sz="1250" b="1" dirty="0">
                <a:solidFill>
                  <a:srgbClr val="1E2761"/>
                </a:solidFill>
                <a:latin typeface="Cambria" pitchFamily="34" charset="0"/>
                <a:ea typeface="Cambria" pitchFamily="34" charset="-122"/>
                <a:cs typeface="Cambria" pitchFamily="34" charset="-120"/>
              </a:rPr>
              <a:t>Two constraints per (generator, tier, period):</a:t>
            </a:r>
            <a:endParaRPr lang="en-US" sz="1250" dirty="0"/>
          </a:p>
        </p:txBody>
      </p:sp>
      <p:sp>
        <p:nvSpPr>
          <p:cNvPr id="13" name="Shape 11"/>
          <p:cNvSpPr/>
          <p:nvPr/>
        </p:nvSpPr>
        <p:spPr>
          <a:xfrm>
            <a:off x="457200" y="3117220"/>
            <a:ext cx="3840480" cy="658368"/>
          </a:xfrm>
          <a:prstGeom prst="rect">
            <a:avLst/>
          </a:prstGeom>
          <a:solidFill>
            <a:srgbClr val="EFF6FF"/>
          </a:solidFill>
          <a:ln w="12700">
            <a:solidFill>
              <a:srgbClr val="4FA8D8"/>
            </a:solidFill>
            <a:prstDash val="solid"/>
          </a:ln>
        </p:spPr>
        <p:txBody>
          <a:bodyPr/>
          <a:lstStyle/>
          <a:p>
            <a:endParaRPr lang="en-US"/>
          </a:p>
        </p:txBody>
      </p:sp>
      <p:sp>
        <p:nvSpPr>
          <p:cNvPr id="14" name="Text 12"/>
          <p:cNvSpPr/>
          <p:nvPr/>
        </p:nvSpPr>
        <p:spPr>
          <a:xfrm>
            <a:off x="530352" y="3135508"/>
            <a:ext cx="3694176" cy="310896"/>
          </a:xfrm>
          <a:prstGeom prst="rect">
            <a:avLst/>
          </a:prstGeom>
          <a:noFill/>
          <a:ln/>
        </p:spPr>
        <p:txBody>
          <a:bodyPr wrap="square" lIns="0" tIns="0" rIns="0" bIns="0" rtlCol="0" anchor="ctr"/>
          <a:lstStyle/>
          <a:p>
            <a:pPr marL="0" indent="0" algn="l">
              <a:buNone/>
            </a:pPr>
            <a:r>
              <a:rPr lang="en-US" sz="1200" b="1" dirty="0">
                <a:solidFill>
                  <a:srgbClr val="1E2761"/>
                </a:solidFill>
                <a:latin typeface="Consolas" pitchFamily="34" charset="0"/>
                <a:ea typeface="Consolas" pitchFamily="34" charset="-122"/>
                <a:cs typeface="Consolas" pitchFamily="34" charset="-120"/>
              </a:rPr>
              <a:t>Σₛ δ[g,s,t]  =  v[g,t]</a:t>
            </a:r>
            <a:endParaRPr lang="en-US" sz="1200" dirty="0"/>
          </a:p>
        </p:txBody>
      </p:sp>
      <p:sp>
        <p:nvSpPr>
          <p:cNvPr id="15" name="Text 13"/>
          <p:cNvSpPr/>
          <p:nvPr/>
        </p:nvSpPr>
        <p:spPr>
          <a:xfrm>
            <a:off x="530352" y="3437260"/>
            <a:ext cx="3694176" cy="310896"/>
          </a:xfrm>
          <a:prstGeom prst="rect">
            <a:avLst/>
          </a:prstGeom>
          <a:noFill/>
          <a:ln/>
        </p:spPr>
        <p:txBody>
          <a:bodyPr wrap="square" lIns="0" tIns="0" rIns="0" bIns="0" rtlCol="0" anchor="ctr"/>
          <a:lstStyle/>
          <a:p>
            <a:pPr marL="0" indent="0" algn="l">
              <a:buNone/>
            </a:pPr>
            <a:r>
              <a:rPr lang="en-US" sz="1000" i="1" dirty="0">
                <a:solidFill>
                  <a:srgbClr val="475569"/>
                </a:solidFill>
                <a:latin typeface="Calibri" pitchFamily="34" charset="0"/>
                <a:ea typeface="Calibri" pitchFamily="34" charset="-122"/>
                <a:cs typeface="Calibri" pitchFamily="34" charset="-120"/>
              </a:rPr>
              <a:t>Exactly one tier chosen per startup event</a:t>
            </a:r>
            <a:endParaRPr lang="en-US" sz="1000" dirty="0"/>
          </a:p>
        </p:txBody>
      </p:sp>
      <p:sp>
        <p:nvSpPr>
          <p:cNvPr id="16" name="Shape 14"/>
          <p:cNvSpPr/>
          <p:nvPr/>
        </p:nvSpPr>
        <p:spPr>
          <a:xfrm>
            <a:off x="4846320" y="3117220"/>
            <a:ext cx="3840480" cy="658368"/>
          </a:xfrm>
          <a:prstGeom prst="rect">
            <a:avLst/>
          </a:prstGeom>
          <a:solidFill>
            <a:srgbClr val="EFF6FF"/>
          </a:solidFill>
          <a:ln w="12700">
            <a:solidFill>
              <a:srgbClr val="4FA8D8"/>
            </a:solidFill>
            <a:prstDash val="solid"/>
          </a:ln>
        </p:spPr>
        <p:txBody>
          <a:bodyPr/>
          <a:lstStyle/>
          <a:p>
            <a:endParaRPr lang="en-US"/>
          </a:p>
        </p:txBody>
      </p:sp>
      <p:sp>
        <p:nvSpPr>
          <p:cNvPr id="17" name="Text 15"/>
          <p:cNvSpPr/>
          <p:nvPr/>
        </p:nvSpPr>
        <p:spPr>
          <a:xfrm>
            <a:off x="4919472" y="3135508"/>
            <a:ext cx="3694176" cy="310896"/>
          </a:xfrm>
          <a:prstGeom prst="rect">
            <a:avLst/>
          </a:prstGeom>
          <a:noFill/>
          <a:ln/>
        </p:spPr>
        <p:txBody>
          <a:bodyPr wrap="square" lIns="0" tIns="0" rIns="0" bIns="0" rtlCol="0" anchor="ctr"/>
          <a:lstStyle/>
          <a:p>
            <a:pPr marL="0" indent="0" algn="l">
              <a:buNone/>
            </a:pPr>
            <a:r>
              <a:rPr lang="en-US" sz="1200" b="1" dirty="0">
                <a:solidFill>
                  <a:srgbClr val="1E2761"/>
                </a:solidFill>
                <a:latin typeface="Consolas" pitchFamily="34" charset="0"/>
                <a:ea typeface="Consolas" pitchFamily="34" charset="-122"/>
                <a:cs typeface="Consolas" pitchFamily="34" charset="-120"/>
              </a:rPr>
              <a:t>δ[g,s,t]  ≤  Σᵢ w[g,i] + pre_horizon</a:t>
            </a:r>
            <a:endParaRPr lang="en-US" sz="1200" dirty="0"/>
          </a:p>
        </p:txBody>
      </p:sp>
      <p:sp>
        <p:nvSpPr>
          <p:cNvPr id="18" name="Text 16"/>
          <p:cNvSpPr/>
          <p:nvPr/>
        </p:nvSpPr>
        <p:spPr>
          <a:xfrm>
            <a:off x="4919472" y="3437260"/>
            <a:ext cx="3694176" cy="310896"/>
          </a:xfrm>
          <a:prstGeom prst="rect">
            <a:avLst/>
          </a:prstGeom>
          <a:noFill/>
          <a:ln/>
        </p:spPr>
        <p:txBody>
          <a:bodyPr wrap="square" lIns="0" tIns="0" rIns="0" bIns="0" rtlCol="0" anchor="ctr"/>
          <a:lstStyle/>
          <a:p>
            <a:pPr marL="0" indent="0" algn="l">
              <a:buNone/>
            </a:pPr>
            <a:r>
              <a:rPr lang="en-US" sz="1000" i="1" dirty="0">
                <a:solidFill>
                  <a:srgbClr val="475569"/>
                </a:solidFill>
                <a:latin typeface="Calibri" pitchFamily="34" charset="0"/>
                <a:ea typeface="Calibri" pitchFamily="34" charset="-122"/>
                <a:cs typeface="Calibri" pitchFamily="34" charset="-120"/>
              </a:rPr>
              <a:t>Unit was offline long enough to reach tier s</a:t>
            </a:r>
            <a:endParaRPr lang="en-US" sz="1000" dirty="0"/>
          </a:p>
        </p:txBody>
      </p:sp>
      <p:sp>
        <p:nvSpPr>
          <p:cNvPr id="500" name="sw500"/>
          <p:cNvSpPr/>
          <p:nvPr/>
        </p:nvSpPr>
        <p:spPr>
          <a:xfrm>
            <a:off x="457200" y="4158023"/>
            <a:ext cx="8229600" cy="360000"/>
          </a:xfrm>
          <a:prstGeom prst="rect">
            <a:avLst/>
          </a:prstGeom>
          <a:solidFill>
            <a:srgbClr val="FFF7ED"/>
          </a:solidFill>
          <a:ln w="19050">
            <a:solidFill>
              <a:srgbClr val="F59E0B"/>
            </a:solidFill>
            <a:prstDash val="solid"/>
          </a:ln>
        </p:spPr>
        <p:txBody>
          <a:bodyPr wrap="square" lIns="91440" tIns="45720" rIns="91440" bIns="45720" rtlCol="0" anchor="ctr"/>
          <a:lstStyle/>
          <a:p>
            <a:pPr marL="0" indent="0" algn="l">
              <a:buNone/>
            </a:pPr>
            <a:r>
              <a:rPr lang="en-US" sz="1100" b="1" dirty="0">
                <a:solidFill>
                  <a:srgbClr val="B45309"/>
                </a:solidFill>
                <a:latin typeface="Calibri" pitchFamily="34" charset="0"/>
                <a:ea typeface="Calibri" pitchFamily="34" charset="-122"/>
                <a:cs typeface="Calibri" pitchFamily="34" charset="-120"/>
              </a:rPr>
              <a:t>Bottom line:  </a:t>
            </a:r>
            <a:r>
              <a:rPr lang="en-US" sz="1100" dirty="0">
                <a:solidFill>
                  <a:srgbClr val="92400E"/>
                </a:solidFill>
                <a:latin typeface="Calibri" pitchFamily="34" charset="0"/>
                <a:ea typeface="Calibri" pitchFamily="34" charset="-122"/>
                <a:cs typeface="Calibri" pitchFamily="34" charset="-120"/>
              </a:rPr>
              <a:t>No Big-M constant needed — RHS is always ≤ 1, the LP relaxation stays tight, and branch-and-bound needs 3–10× fewer nodes than the countdown-timer approach.</a:t>
            </a:r>
          </a:p>
        </p:txBody>
      </p:sp>
      <p:sp>
        <p:nvSpPr>
          <p:cNvPr id="19" name="Shape 3"/>
          <p:cNvSpPr/>
          <p:nvPr/>
        </p:nvSpPr>
        <p:spPr>
          <a:xfrm>
            <a:off x="4846320" y="1367186"/>
            <a:ext cx="3840480" cy="1261872"/>
          </a:xfrm>
          <a:prstGeom prst="rect">
            <a:avLst/>
          </a:prstGeom>
          <a:solidFill>
            <a:srgbClr val="FEF2F2"/>
          </a:solidFill>
          <a:ln w="12700">
            <a:solidFill>
              <a:srgbClr val="DC2626"/>
            </a:solidFill>
            <a:prstDash val="solid"/>
          </a:ln>
        </p:spPr>
        <p:txBody>
          <a:bodyPr/>
          <a:lstStyle/>
          <a:p>
            <a:endParaRPr lang="en-US"/>
          </a:p>
        </p:txBody>
      </p:sp>
      <p:sp>
        <p:nvSpPr>
          <p:cNvPr id="20" name="Text 4"/>
          <p:cNvSpPr/>
          <p:nvPr/>
        </p:nvSpPr>
        <p:spPr>
          <a:xfrm>
            <a:off x="4937760" y="1412906"/>
            <a:ext cx="3657600" cy="365760"/>
          </a:xfrm>
          <a:prstGeom prst="rect">
            <a:avLst/>
          </a:prstGeom>
          <a:noFill/>
          <a:ln/>
        </p:spPr>
        <p:txBody>
          <a:bodyPr wrap="square" lIns="0" tIns="0" rIns="0" bIns="0" rtlCol="0" anchor="ctr"/>
          <a:lstStyle/>
          <a:p>
            <a:pPr marL="0" indent="0" algn="l">
              <a:buNone/>
            </a:pPr>
            <a:r>
              <a:rPr lang="en-US" sz="1250" b="1" dirty="0">
                <a:solidFill>
                  <a:srgbClr val="DC2626"/>
                </a:solidFill>
                <a:latin typeface="Calibri" pitchFamily="34" charset="0"/>
                <a:ea typeface="Calibri" pitchFamily="34" charset="-122"/>
                <a:cs typeface="Calibri" pitchFamily="34" charset="-120"/>
              </a:rPr>
              <a:t>Big-M Countdown Timer</a:t>
            </a:r>
            <a:endParaRPr lang="en-US" sz="1250" dirty="0"/>
          </a:p>
        </p:txBody>
      </p:sp>
      <p:sp>
        <p:nvSpPr>
          <p:cNvPr id="21" name="Text 5"/>
          <p:cNvSpPr/>
          <p:nvPr/>
        </p:nvSpPr>
        <p:spPr>
          <a:xfrm>
            <a:off x="4937760" y="1787810"/>
            <a:ext cx="3657600" cy="777240"/>
          </a:xfrm>
          <a:prstGeom prst="rect">
            <a:avLst/>
          </a:prstGeom>
          <a:noFill/>
          <a:ln/>
        </p:spPr>
        <p:txBody>
          <a:bodyPr wrap="square" lIns="0" tIns="0" rIns="0" bIns="0" rtlCol="0" anchor="ctr"/>
          <a:lstStyle/>
          <a:p>
            <a:pPr marL="0" indent="0" algn="l">
              <a:buNone/>
            </a:pPr>
            <a:r>
              <a:rPr lang="en-US" sz="1100" dirty="0">
                <a:solidFill>
                  <a:srgbClr val="475569"/>
                </a:solidFill>
                <a:latin typeface="Calibri" pitchFamily="34" charset="0"/>
                <a:ea typeface="Calibri" pitchFamily="34" charset="-122"/>
                <a:cs typeface="Calibri" pitchFamily="34" charset="-120"/>
              </a:rPr>
              <a:t>Requires large constant M to encode</a:t>
            </a:r>
            <a:endParaRPr lang="en-US" sz="1100" dirty="0"/>
          </a:p>
          <a:p>
            <a:pPr marL="0" indent="0" algn="l">
              <a:buNone/>
            </a:pPr>
            <a:r>
              <a:rPr lang="en-US" sz="1100" dirty="0">
                <a:solidFill>
                  <a:srgbClr val="475569"/>
                </a:solidFill>
                <a:latin typeface="Calibri" pitchFamily="34" charset="0"/>
                <a:ea typeface="Calibri" pitchFamily="34" charset="-122"/>
                <a:cs typeface="Calibri" pitchFamily="34" charset="-120"/>
              </a:rPr>
              <a:t>“if offline ≥ T hours”</a:t>
            </a:r>
            <a:endParaRPr lang="en-US" sz="1100" dirty="0"/>
          </a:p>
          <a:p>
            <a:pPr marL="0" indent="0" algn="l">
              <a:buNone/>
            </a:pPr>
            <a:r>
              <a:rPr lang="en-US" sz="1100" dirty="0">
                <a:solidFill>
                  <a:srgbClr val="475569"/>
                </a:solidFill>
                <a:latin typeface="Calibri" pitchFamily="34" charset="0"/>
                <a:ea typeface="Calibri" pitchFamily="34" charset="-122"/>
                <a:cs typeface="Calibri" pitchFamily="34" charset="-120"/>
              </a:rPr>
              <a:t>Weakens LP relaxation → 3–10× more B&amp;B nodes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Part 2 — N-1 Security at Scale</a:t>
            </a:r>
            <a:endParaRPr lang="en-US" sz="2800" dirty="0"/>
          </a:p>
        </p:txBody>
      </p:sp>
      <p:sp>
        <p:nvSpPr>
          <p:cNvPr id="3" name="Text 1"/>
          <p:cNvSpPr/>
          <p:nvPr/>
        </p:nvSpPr>
        <p:spPr>
          <a:xfrm>
            <a:off x="320040" y="1051560"/>
            <a:ext cx="3749040" cy="1645920"/>
          </a:xfrm>
          <a:prstGeom prst="rect">
            <a:avLst/>
          </a:prstGeom>
          <a:noFill/>
          <a:ln/>
        </p:spPr>
        <p:txBody>
          <a:bodyPr wrap="square" lIns="0" tIns="0" rIns="0" bIns="0" rtlCol="0" anchor="ctr"/>
          <a:lstStyle/>
          <a:p>
            <a:pPr marL="0" indent="0" algn="ctr">
              <a:buNone/>
            </a:pPr>
            <a:r>
              <a:rPr lang="en-US" sz="7600" b="1" dirty="0">
                <a:solidFill>
                  <a:srgbClr val="4FA8D8"/>
                </a:solidFill>
                <a:latin typeface="Cambria" pitchFamily="34" charset="0"/>
                <a:ea typeface="Cambria" pitchFamily="34" charset="-122"/>
                <a:cs typeface="Cambria" pitchFamily="34" charset="-120"/>
              </a:rPr>
              <a:t>14,592</a:t>
            </a:r>
            <a:endParaRPr lang="en-US" sz="7600" dirty="0"/>
          </a:p>
        </p:txBody>
      </p:sp>
      <p:sp>
        <p:nvSpPr>
          <p:cNvPr id="4" name="Text 2"/>
          <p:cNvSpPr/>
          <p:nvPr/>
        </p:nvSpPr>
        <p:spPr>
          <a:xfrm>
            <a:off x="320040" y="2487168"/>
            <a:ext cx="3749040" cy="566928"/>
          </a:xfrm>
          <a:prstGeom prst="rect">
            <a:avLst/>
          </a:prstGeom>
          <a:noFill/>
          <a:ln/>
        </p:spPr>
        <p:txBody>
          <a:bodyPr wrap="square" lIns="0" tIns="0" rIns="0" bIns="0" rtlCol="0" anchor="ctr"/>
          <a:lstStyle/>
          <a:p>
            <a:pPr marL="0" indent="0" algn="ctr">
              <a:buNone/>
            </a:pPr>
            <a:r>
              <a:rPr lang="en-US" sz="1250" dirty="0">
                <a:solidFill>
                  <a:srgbClr val="CADCFC"/>
                </a:solidFill>
                <a:latin typeface="Calibri" pitchFamily="34" charset="0"/>
                <a:ea typeface="Calibri" pitchFamily="34" charset="-122"/>
                <a:cs typeface="Calibri" pitchFamily="34" charset="-120"/>
              </a:rPr>
              <a:t>new inequalities if added upfront</a:t>
            </a:r>
            <a:endParaRPr lang="en-US" sz="1250" dirty="0"/>
          </a:p>
          <a:p>
            <a:pPr marL="0" indent="0" algn="ctr">
              <a:buNone/>
            </a:pPr>
            <a:r>
              <a:rPr lang="en-US" sz="1250" dirty="0">
                <a:solidFill>
                  <a:srgbClr val="CADCFC"/>
                </a:solidFill>
                <a:latin typeface="Calibri" pitchFamily="34" charset="0"/>
                <a:ea typeface="Calibri" pitchFamily="34" charset="-122"/>
                <a:cs typeface="Calibri" pitchFamily="34" charset="-120"/>
              </a:rPr>
              <a:t>(3× model size)</a:t>
            </a:r>
            <a:endParaRPr lang="en-US" sz="1250" dirty="0"/>
          </a:p>
        </p:txBody>
      </p:sp>
      <p:sp>
        <p:nvSpPr>
          <p:cNvPr id="5" name="Shape 3"/>
          <p:cNvSpPr/>
          <p:nvPr/>
        </p:nvSpPr>
        <p:spPr>
          <a:xfrm>
            <a:off x="320040" y="3410712"/>
            <a:ext cx="3749040" cy="713232"/>
          </a:xfrm>
          <a:prstGeom prst="rect">
            <a:avLst/>
          </a:prstGeom>
          <a:solidFill>
            <a:srgbClr val="1A3168"/>
          </a:solidFill>
          <a:ln w="12700">
            <a:solidFill>
              <a:srgbClr val="4FA8D8"/>
            </a:solidFill>
            <a:prstDash val="solid"/>
          </a:ln>
        </p:spPr>
        <p:txBody>
          <a:bodyPr/>
          <a:lstStyle/>
          <a:p>
            <a:endParaRPr lang="en-US"/>
          </a:p>
        </p:txBody>
      </p:sp>
      <p:sp>
        <p:nvSpPr>
          <p:cNvPr id="6" name="Text 4"/>
          <p:cNvSpPr/>
          <p:nvPr/>
        </p:nvSpPr>
        <p:spPr>
          <a:xfrm>
            <a:off x="365760" y="3431415"/>
            <a:ext cx="3621024" cy="676656"/>
          </a:xfrm>
          <a:prstGeom prst="rect">
            <a:avLst/>
          </a:prstGeom>
          <a:noFill/>
          <a:ln/>
        </p:spPr>
        <p:txBody>
          <a:bodyPr wrap="square" lIns="0" tIns="0" rIns="0" bIns="0" rtlCol="0" anchor="ctr"/>
          <a:lstStyle/>
          <a:p>
            <a:pPr marL="0" indent="0" algn="ctr">
              <a:buNone/>
            </a:pPr>
            <a:r>
              <a:rPr lang="en-US" sz="1100" dirty="0">
                <a:solidFill>
                  <a:srgbClr val="CADCFC"/>
                </a:solidFill>
                <a:latin typeface="Consolas" pitchFamily="34" charset="0"/>
                <a:ea typeface="Consolas" pitchFamily="34" charset="-122"/>
                <a:cs typeface="Consolas" pitchFamily="34" charset="-120"/>
              </a:rPr>
              <a:t>f_post[k,c,t]  =  f_k[t]  +  LODF[k,c] × f_c[t]</a:t>
            </a:r>
            <a:endParaRPr lang="en-US" sz="1100" dirty="0"/>
          </a:p>
        </p:txBody>
      </p:sp>
      <p:sp>
        <p:nvSpPr>
          <p:cNvPr id="7" name="Text 5"/>
          <p:cNvSpPr/>
          <p:nvPr/>
        </p:nvSpPr>
        <p:spPr>
          <a:xfrm>
            <a:off x="320040" y="4123944"/>
            <a:ext cx="3749040" cy="320040"/>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Post-contingency flow via pre-computed LODF matrix</a:t>
            </a:r>
            <a:endParaRPr lang="en-US" sz="950" dirty="0"/>
          </a:p>
        </p:txBody>
      </p:sp>
      <p:sp>
        <p:nvSpPr>
          <p:cNvPr id="8" name="Shape 6"/>
          <p:cNvSpPr/>
          <p:nvPr/>
        </p:nvSpPr>
        <p:spPr>
          <a:xfrm>
            <a:off x="4617720" y="1051560"/>
            <a:ext cx="4160520" cy="731520"/>
          </a:xfrm>
          <a:prstGeom prst="rect">
            <a:avLst/>
          </a:prstGeom>
          <a:solidFill>
            <a:srgbClr val="1A3168"/>
          </a:solidFill>
          <a:ln w="12700">
            <a:solidFill>
              <a:srgbClr val="2D4A8A"/>
            </a:solidFill>
            <a:prstDash val="solid"/>
          </a:ln>
        </p:spPr>
        <p:txBody>
          <a:bodyPr/>
          <a:lstStyle/>
          <a:p>
            <a:endParaRPr lang="en-US"/>
          </a:p>
        </p:txBody>
      </p:sp>
      <p:sp>
        <p:nvSpPr>
          <p:cNvPr id="9" name="Text 7"/>
          <p:cNvSpPr/>
          <p:nvPr/>
        </p:nvSpPr>
        <p:spPr>
          <a:xfrm>
            <a:off x="4736592" y="1078992"/>
            <a:ext cx="2560320" cy="676656"/>
          </a:xfrm>
          <a:prstGeom prst="rect">
            <a:avLst/>
          </a:prstGeom>
          <a:noFill/>
          <a:ln/>
        </p:spPr>
        <p:txBody>
          <a:bodyPr wrap="square" lIns="0" tIns="0" rIns="0" bIns="0" rtlCol="0" anchor="ctr"/>
          <a:lstStyle/>
          <a:p>
            <a:pPr marL="0" indent="0" algn="l">
              <a:buNone/>
            </a:pPr>
            <a:r>
              <a:rPr lang="en-US" sz="1300" dirty="0">
                <a:solidFill>
                  <a:srgbClr val="CADCFC"/>
                </a:solidFill>
                <a:latin typeface="Calibri" pitchFamily="34" charset="0"/>
                <a:ea typeface="Calibri" pitchFamily="34" charset="-122"/>
                <a:cs typeface="Calibri" pitchFamily="34" charset="-120"/>
              </a:rPr>
              <a:t>Monitored branches</a:t>
            </a:r>
            <a:endParaRPr lang="en-US" sz="1300" dirty="0"/>
          </a:p>
        </p:txBody>
      </p:sp>
      <p:sp>
        <p:nvSpPr>
          <p:cNvPr id="10" name="Text 8"/>
          <p:cNvSpPr/>
          <p:nvPr/>
        </p:nvSpPr>
        <p:spPr>
          <a:xfrm>
            <a:off x="7223760" y="1078992"/>
            <a:ext cx="1463040" cy="676656"/>
          </a:xfrm>
          <a:prstGeom prst="rect">
            <a:avLst/>
          </a:prstGeom>
          <a:noFill/>
          <a:ln/>
        </p:spPr>
        <p:txBody>
          <a:bodyPr wrap="square" lIns="0" tIns="0" rIns="0" bIns="0" rtlCol="0" anchor="ctr"/>
          <a:lstStyle/>
          <a:p>
            <a:pPr marL="0" indent="0" algn="r">
              <a:buNone/>
            </a:pPr>
            <a:r>
              <a:rPr lang="en-US" sz="2200" b="1" dirty="0">
                <a:solidFill>
                  <a:srgbClr val="6EE7B7"/>
                </a:solidFill>
                <a:latin typeface="Cambria" pitchFamily="34" charset="0"/>
                <a:ea typeface="Cambria" pitchFamily="34" charset="-122"/>
                <a:cs typeface="Cambria" pitchFamily="34" charset="-120"/>
              </a:rPr>
              <a:t>38</a:t>
            </a:r>
            <a:endParaRPr lang="en-US" sz="2200" dirty="0"/>
          </a:p>
        </p:txBody>
      </p:sp>
      <p:sp>
        <p:nvSpPr>
          <p:cNvPr id="11" name="Shape 9"/>
          <p:cNvSpPr/>
          <p:nvPr/>
        </p:nvSpPr>
        <p:spPr>
          <a:xfrm>
            <a:off x="4617720" y="1938528"/>
            <a:ext cx="4160520" cy="731520"/>
          </a:xfrm>
          <a:prstGeom prst="rect">
            <a:avLst/>
          </a:prstGeom>
          <a:solidFill>
            <a:srgbClr val="1A3168"/>
          </a:solidFill>
          <a:ln w="12700">
            <a:solidFill>
              <a:srgbClr val="2D4A8A"/>
            </a:solidFill>
            <a:prstDash val="solid"/>
          </a:ln>
        </p:spPr>
        <p:txBody>
          <a:bodyPr/>
          <a:lstStyle/>
          <a:p>
            <a:endParaRPr lang="en-US"/>
          </a:p>
        </p:txBody>
      </p:sp>
      <p:sp>
        <p:nvSpPr>
          <p:cNvPr id="12" name="Text 10"/>
          <p:cNvSpPr/>
          <p:nvPr/>
        </p:nvSpPr>
        <p:spPr>
          <a:xfrm>
            <a:off x="4736592" y="1965960"/>
            <a:ext cx="2560320" cy="676656"/>
          </a:xfrm>
          <a:prstGeom prst="rect">
            <a:avLst/>
          </a:prstGeom>
          <a:noFill/>
          <a:ln/>
        </p:spPr>
        <p:txBody>
          <a:bodyPr wrap="square" lIns="0" tIns="0" rIns="0" bIns="0" rtlCol="0" anchor="ctr"/>
          <a:lstStyle/>
          <a:p>
            <a:pPr marL="0" indent="0" algn="l">
              <a:buNone/>
            </a:pPr>
            <a:r>
              <a:rPr lang="en-US" sz="1300" dirty="0">
                <a:solidFill>
                  <a:srgbClr val="CADCFC"/>
                </a:solidFill>
                <a:latin typeface="Calibri" pitchFamily="34" charset="0"/>
                <a:ea typeface="Calibri" pitchFamily="34" charset="-122"/>
                <a:cs typeface="Calibri" pitchFamily="34" charset="-120"/>
              </a:rPr>
              <a:t>Contingencies</a:t>
            </a:r>
            <a:endParaRPr lang="en-US" sz="1300" dirty="0"/>
          </a:p>
        </p:txBody>
      </p:sp>
      <p:sp>
        <p:nvSpPr>
          <p:cNvPr id="13" name="Text 11"/>
          <p:cNvSpPr/>
          <p:nvPr/>
        </p:nvSpPr>
        <p:spPr>
          <a:xfrm>
            <a:off x="7223760" y="1965960"/>
            <a:ext cx="1463040" cy="676656"/>
          </a:xfrm>
          <a:prstGeom prst="rect">
            <a:avLst/>
          </a:prstGeom>
          <a:noFill/>
          <a:ln/>
        </p:spPr>
        <p:txBody>
          <a:bodyPr wrap="square" lIns="0" tIns="0" rIns="0" bIns="0" rtlCol="0" anchor="ctr"/>
          <a:lstStyle/>
          <a:p>
            <a:pPr marL="0" indent="0" algn="r">
              <a:buNone/>
            </a:pPr>
            <a:r>
              <a:rPr lang="en-US" sz="2200" b="1" dirty="0">
                <a:solidFill>
                  <a:srgbClr val="6EE7B7"/>
                </a:solidFill>
                <a:latin typeface="Cambria" pitchFamily="34" charset="0"/>
                <a:ea typeface="Cambria" pitchFamily="34" charset="-122"/>
                <a:cs typeface="Cambria" pitchFamily="34" charset="-120"/>
              </a:rPr>
              <a:t>8</a:t>
            </a:r>
            <a:endParaRPr lang="en-US" sz="2200" dirty="0"/>
          </a:p>
        </p:txBody>
      </p:sp>
      <p:sp>
        <p:nvSpPr>
          <p:cNvPr id="14" name="Shape 12"/>
          <p:cNvSpPr/>
          <p:nvPr/>
        </p:nvSpPr>
        <p:spPr>
          <a:xfrm>
            <a:off x="4617720" y="2825496"/>
            <a:ext cx="4160520" cy="731520"/>
          </a:xfrm>
          <a:prstGeom prst="rect">
            <a:avLst/>
          </a:prstGeom>
          <a:solidFill>
            <a:srgbClr val="1A3168"/>
          </a:solidFill>
          <a:ln w="12700">
            <a:solidFill>
              <a:srgbClr val="2D4A8A"/>
            </a:solidFill>
            <a:prstDash val="solid"/>
          </a:ln>
        </p:spPr>
        <p:txBody>
          <a:bodyPr/>
          <a:lstStyle/>
          <a:p>
            <a:endParaRPr lang="en-US"/>
          </a:p>
        </p:txBody>
      </p:sp>
      <p:sp>
        <p:nvSpPr>
          <p:cNvPr id="15" name="Text 13"/>
          <p:cNvSpPr/>
          <p:nvPr/>
        </p:nvSpPr>
        <p:spPr>
          <a:xfrm>
            <a:off x="4736592" y="2852928"/>
            <a:ext cx="2560320" cy="676656"/>
          </a:xfrm>
          <a:prstGeom prst="rect">
            <a:avLst/>
          </a:prstGeom>
          <a:noFill/>
          <a:ln/>
        </p:spPr>
        <p:txBody>
          <a:bodyPr wrap="square" lIns="0" tIns="0" rIns="0" bIns="0" rtlCol="0" anchor="ctr"/>
          <a:lstStyle/>
          <a:p>
            <a:pPr marL="0" indent="0" algn="l">
              <a:buNone/>
            </a:pPr>
            <a:r>
              <a:rPr lang="en-US" sz="1300" dirty="0">
                <a:solidFill>
                  <a:srgbClr val="CADCFC"/>
                </a:solidFill>
                <a:latin typeface="Calibri" pitchFamily="34" charset="0"/>
                <a:ea typeface="Calibri" pitchFamily="34" charset="-122"/>
                <a:cs typeface="Calibri" pitchFamily="34" charset="-120"/>
              </a:rPr>
              <a:t>Time periods</a:t>
            </a:r>
            <a:endParaRPr lang="en-US" sz="1300" dirty="0"/>
          </a:p>
        </p:txBody>
      </p:sp>
      <p:sp>
        <p:nvSpPr>
          <p:cNvPr id="16" name="Text 14"/>
          <p:cNvSpPr/>
          <p:nvPr/>
        </p:nvSpPr>
        <p:spPr>
          <a:xfrm>
            <a:off x="7223760" y="2852928"/>
            <a:ext cx="1463040" cy="676656"/>
          </a:xfrm>
          <a:prstGeom prst="rect">
            <a:avLst/>
          </a:prstGeom>
          <a:noFill/>
          <a:ln/>
        </p:spPr>
        <p:txBody>
          <a:bodyPr wrap="square" lIns="0" tIns="0" rIns="0" bIns="0" rtlCol="0" anchor="ctr"/>
          <a:lstStyle/>
          <a:p>
            <a:pPr marL="0" indent="0" algn="r">
              <a:buNone/>
            </a:pPr>
            <a:r>
              <a:rPr lang="en-US" sz="2200" b="1" dirty="0">
                <a:solidFill>
                  <a:srgbClr val="6EE7B7"/>
                </a:solidFill>
                <a:latin typeface="Cambria" pitchFamily="34" charset="0"/>
                <a:ea typeface="Cambria" pitchFamily="34" charset="-122"/>
                <a:cs typeface="Cambria" pitchFamily="34" charset="-120"/>
              </a:rPr>
              <a:t>24</a:t>
            </a:r>
            <a:endParaRPr lang="en-US" sz="2200" dirty="0"/>
          </a:p>
        </p:txBody>
      </p:sp>
      <p:sp>
        <p:nvSpPr>
          <p:cNvPr id="17" name="Shape 15"/>
          <p:cNvSpPr/>
          <p:nvPr/>
        </p:nvSpPr>
        <p:spPr>
          <a:xfrm>
            <a:off x="4617720" y="3712464"/>
            <a:ext cx="4160520" cy="731520"/>
          </a:xfrm>
          <a:prstGeom prst="rect">
            <a:avLst/>
          </a:prstGeom>
          <a:solidFill>
            <a:srgbClr val="1A3168"/>
          </a:solidFill>
          <a:ln w="12700">
            <a:solidFill>
              <a:srgbClr val="2D4A8A"/>
            </a:solidFill>
            <a:prstDash val="solid"/>
          </a:ln>
        </p:spPr>
        <p:txBody>
          <a:bodyPr/>
          <a:lstStyle/>
          <a:p>
            <a:endParaRPr lang="en-US"/>
          </a:p>
        </p:txBody>
      </p:sp>
      <p:sp>
        <p:nvSpPr>
          <p:cNvPr id="18" name="Text 16"/>
          <p:cNvSpPr/>
          <p:nvPr/>
        </p:nvSpPr>
        <p:spPr>
          <a:xfrm>
            <a:off x="4736592" y="3739896"/>
            <a:ext cx="2560320" cy="676656"/>
          </a:xfrm>
          <a:prstGeom prst="rect">
            <a:avLst/>
          </a:prstGeom>
          <a:noFill/>
          <a:ln/>
        </p:spPr>
        <p:txBody>
          <a:bodyPr wrap="square" lIns="0" tIns="0" rIns="0" bIns="0" rtlCol="0" anchor="ctr"/>
          <a:lstStyle/>
          <a:p>
            <a:pPr marL="0" indent="0" algn="l">
              <a:buNone/>
            </a:pPr>
            <a:r>
              <a:rPr lang="en-US" sz="1300" dirty="0">
                <a:solidFill>
                  <a:srgbClr val="CADCFC"/>
                </a:solidFill>
                <a:latin typeface="Calibri" pitchFamily="34" charset="0"/>
                <a:ea typeface="Calibri" pitchFamily="34" charset="-122"/>
                <a:cs typeface="Calibri" pitchFamily="34" charset="-120"/>
              </a:rPr>
              <a:t>Total inequalities</a:t>
            </a:r>
            <a:endParaRPr lang="en-US" sz="1300" dirty="0"/>
          </a:p>
        </p:txBody>
      </p:sp>
      <p:sp>
        <p:nvSpPr>
          <p:cNvPr id="19" name="Text 17"/>
          <p:cNvSpPr/>
          <p:nvPr/>
        </p:nvSpPr>
        <p:spPr>
          <a:xfrm>
            <a:off x="7223760" y="3739896"/>
            <a:ext cx="1463040" cy="676656"/>
          </a:xfrm>
          <a:prstGeom prst="rect">
            <a:avLst/>
          </a:prstGeom>
          <a:noFill/>
          <a:ln/>
        </p:spPr>
        <p:txBody>
          <a:bodyPr wrap="square" lIns="0" tIns="0" rIns="0" bIns="0" rtlCol="0" anchor="ctr"/>
          <a:lstStyle/>
          <a:p>
            <a:pPr marL="0" indent="0" algn="r">
              <a:buNone/>
            </a:pPr>
            <a:r>
              <a:rPr lang="en-US" sz="1800" b="1" dirty="0">
                <a:solidFill>
                  <a:srgbClr val="4FA8D8"/>
                </a:solidFill>
                <a:latin typeface="Cambria" pitchFamily="34" charset="0"/>
                <a:ea typeface="Cambria" pitchFamily="34" charset="-122"/>
                <a:cs typeface="Cambria" pitchFamily="34" charset="-120"/>
              </a:rPr>
              <a:t>14,592</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10B981"/>
          </a:solidFill>
          <a:ln w="12700">
            <a:solidFill>
              <a:srgbClr val="10B981"/>
            </a:solidFill>
            <a:prstDash val="solid"/>
          </a:ln>
        </p:spPr>
        <p:txBody>
          <a:bodyPr/>
          <a:lstStyle/>
          <a:p>
            <a:endParaRPr lang="en-US"/>
          </a:p>
        </p:txBody>
      </p:sp>
      <p:sp>
        <p:nvSpPr>
          <p:cNvPr id="3" name="Text 1"/>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Part 2 — Iterative Cutting-Plane</a:t>
            </a:r>
            <a:endParaRPr lang="en-US" sz="2800" dirty="0"/>
          </a:p>
        </p:txBody>
      </p:sp>
      <p:sp>
        <p:nvSpPr>
          <p:cNvPr id="4" name="Shape 2"/>
          <p:cNvSpPr/>
          <p:nvPr/>
        </p:nvSpPr>
        <p:spPr>
          <a:xfrm>
            <a:off x="457200" y="932688"/>
            <a:ext cx="8229600" cy="20117"/>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005840"/>
            <a:ext cx="8229600" cy="347472"/>
          </a:xfrm>
          <a:prstGeom prst="rect">
            <a:avLst/>
          </a:prstGeom>
          <a:noFill/>
          <a:ln/>
        </p:spPr>
        <p:txBody>
          <a:bodyPr wrap="square" lIns="0" tIns="0" rIns="0" bIns="0" rtlCol="0" anchor="ctr"/>
          <a:lstStyle/>
          <a:p>
            <a:pPr marL="0" indent="0" algn="l">
              <a:buNone/>
            </a:pPr>
            <a:r>
              <a:rPr lang="en-US" sz="1400" b="1" dirty="0">
                <a:solidFill>
                  <a:srgbClr val="1E2761"/>
                </a:solidFill>
                <a:latin typeface="Cambria" pitchFamily="34" charset="0"/>
                <a:ea typeface="Cambria" pitchFamily="34" charset="-122"/>
                <a:cs typeface="Cambria" pitchFamily="34" charset="-120"/>
              </a:rPr>
              <a:t>Key insight:  fewer than 10% of N-1 constraints are binding at optimality.</a:t>
            </a:r>
            <a:endParaRPr lang="en-US" sz="1400" dirty="0"/>
          </a:p>
        </p:txBody>
      </p:sp>
      <p:sp>
        <p:nvSpPr>
          <p:cNvPr id="6" name="Shape 4"/>
          <p:cNvSpPr/>
          <p:nvPr/>
        </p:nvSpPr>
        <p:spPr>
          <a:xfrm>
            <a:off x="457200" y="1490472"/>
            <a:ext cx="347472" cy="347472"/>
          </a:xfrm>
          <a:prstGeom prst="ellipse">
            <a:avLst/>
          </a:prstGeom>
          <a:solidFill>
            <a:srgbClr val="3B82F6"/>
          </a:solidFill>
          <a:ln w="12700">
            <a:solidFill>
              <a:srgbClr val="3B82F6"/>
            </a:solidFill>
            <a:prstDash val="solid"/>
          </a:ln>
        </p:spPr>
        <p:txBody>
          <a:bodyPr/>
          <a:lstStyle/>
          <a:p>
            <a:endParaRPr lang="en-US"/>
          </a:p>
        </p:txBody>
      </p:sp>
      <p:sp>
        <p:nvSpPr>
          <p:cNvPr id="7" name="Text 5"/>
          <p:cNvSpPr/>
          <p:nvPr/>
        </p:nvSpPr>
        <p:spPr>
          <a:xfrm>
            <a:off x="457200" y="149047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969264" y="1490472"/>
            <a:ext cx="4572000" cy="347472"/>
          </a:xfrm>
          <a:prstGeom prst="rect">
            <a:avLst/>
          </a:prstGeom>
          <a:noFill/>
          <a:ln/>
        </p:spPr>
        <p:txBody>
          <a:bodyPr wrap="square" lIns="0" tIns="0" rIns="0" bIns="0" rtlCol="0" anchor="ctr"/>
          <a:lstStyle/>
          <a:p>
            <a:pPr marL="0" indent="0" algn="l">
              <a:buNone/>
            </a:pPr>
            <a:r>
              <a:rPr lang="en-US" sz="1250" dirty="0">
                <a:solidFill>
                  <a:srgbClr val="475569"/>
                </a:solidFill>
                <a:latin typeface="Calibri" pitchFamily="34" charset="0"/>
                <a:ea typeface="Calibri" pitchFamily="34" charset="-122"/>
                <a:cs typeface="Calibri" pitchFamily="34" charset="-120"/>
              </a:rPr>
              <a:t>Solve base SCUC (no N-1 constraints)</a:t>
            </a:r>
            <a:endParaRPr lang="en-US" sz="1250" dirty="0"/>
          </a:p>
        </p:txBody>
      </p:sp>
      <p:sp>
        <p:nvSpPr>
          <p:cNvPr id="9" name="Shape 7"/>
          <p:cNvSpPr/>
          <p:nvPr/>
        </p:nvSpPr>
        <p:spPr>
          <a:xfrm>
            <a:off x="457200" y="2057400"/>
            <a:ext cx="347472" cy="347472"/>
          </a:xfrm>
          <a:prstGeom prst="ellipse">
            <a:avLst/>
          </a:prstGeom>
          <a:solidFill>
            <a:srgbClr val="6366F1"/>
          </a:solidFill>
          <a:ln w="12700">
            <a:solidFill>
              <a:srgbClr val="6366F1"/>
            </a:solidFill>
            <a:prstDash val="solid"/>
          </a:ln>
        </p:spPr>
        <p:txBody>
          <a:bodyPr/>
          <a:lstStyle/>
          <a:p>
            <a:endParaRPr lang="en-US"/>
          </a:p>
        </p:txBody>
      </p:sp>
      <p:sp>
        <p:nvSpPr>
          <p:cNvPr id="10" name="Text 8"/>
          <p:cNvSpPr/>
          <p:nvPr/>
        </p:nvSpPr>
        <p:spPr>
          <a:xfrm>
            <a:off x="457200" y="205740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969264" y="2057400"/>
            <a:ext cx="4572000" cy="347472"/>
          </a:xfrm>
          <a:prstGeom prst="rect">
            <a:avLst/>
          </a:prstGeom>
          <a:noFill/>
          <a:ln/>
        </p:spPr>
        <p:txBody>
          <a:bodyPr wrap="square" lIns="0" tIns="0" rIns="0" bIns="0" rtlCol="0" anchor="ctr"/>
          <a:lstStyle/>
          <a:p>
            <a:pPr marL="0" indent="0" algn="l">
              <a:buNone/>
            </a:pPr>
            <a:r>
              <a:rPr lang="en-US" sz="1050" dirty="0">
                <a:solidFill>
                  <a:srgbClr val="475569"/>
                </a:solidFill>
                <a:latin typeface="Consolas" pitchFamily="34" charset="0"/>
                <a:ea typeface="Consolas" pitchFamily="34" charset="-122"/>
                <a:cs typeface="Consolas" pitchFamily="34" charset="-120"/>
              </a:rPr>
              <a:t>Compute  f_post = f_k + LODF[k,c] × f_c  for all contingencies</a:t>
            </a:r>
            <a:endParaRPr lang="en-US" sz="1050" dirty="0"/>
          </a:p>
        </p:txBody>
      </p:sp>
      <p:sp>
        <p:nvSpPr>
          <p:cNvPr id="12" name="Shape 10"/>
          <p:cNvSpPr/>
          <p:nvPr/>
        </p:nvSpPr>
        <p:spPr>
          <a:xfrm>
            <a:off x="457200" y="2624328"/>
            <a:ext cx="347472" cy="347472"/>
          </a:xfrm>
          <a:prstGeom prst="ellipse">
            <a:avLst/>
          </a:prstGeom>
          <a:solidFill>
            <a:srgbClr val="8B5CF6"/>
          </a:solidFill>
          <a:ln w="12700">
            <a:solidFill>
              <a:srgbClr val="8B5CF6"/>
            </a:solidFill>
            <a:prstDash val="solid"/>
          </a:ln>
        </p:spPr>
        <p:txBody>
          <a:bodyPr/>
          <a:lstStyle/>
          <a:p>
            <a:endParaRPr lang="en-US"/>
          </a:p>
        </p:txBody>
      </p:sp>
      <p:sp>
        <p:nvSpPr>
          <p:cNvPr id="13" name="Text 11"/>
          <p:cNvSpPr/>
          <p:nvPr/>
        </p:nvSpPr>
        <p:spPr>
          <a:xfrm>
            <a:off x="457200" y="262432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p:nvPr/>
        </p:nvSpPr>
        <p:spPr>
          <a:xfrm>
            <a:off x="969264" y="2624328"/>
            <a:ext cx="4572000" cy="347472"/>
          </a:xfrm>
          <a:prstGeom prst="rect">
            <a:avLst/>
          </a:prstGeom>
          <a:noFill/>
          <a:ln/>
        </p:spPr>
        <p:txBody>
          <a:bodyPr wrap="square" lIns="0" tIns="0" rIns="0" bIns="0" rtlCol="0" anchor="ctr"/>
          <a:lstStyle/>
          <a:p>
            <a:pPr marL="0" indent="0" algn="l">
              <a:buNone/>
            </a:pPr>
            <a:r>
              <a:rPr lang="en-US" sz="1050" dirty="0">
                <a:solidFill>
                  <a:srgbClr val="475569"/>
                </a:solidFill>
                <a:latin typeface="Consolas" pitchFamily="34" charset="0"/>
                <a:ea typeface="Consolas" pitchFamily="34" charset="-122"/>
                <a:cs typeface="Consolas" pitchFamily="34" charset="-120"/>
              </a:rPr>
              <a:t>Find violated constraints:  |f_post|  &gt;  emergency_limit + ε</a:t>
            </a:r>
            <a:endParaRPr lang="en-US" sz="1050" dirty="0"/>
          </a:p>
        </p:txBody>
      </p:sp>
      <p:sp>
        <p:nvSpPr>
          <p:cNvPr id="15" name="Shape 13"/>
          <p:cNvSpPr/>
          <p:nvPr/>
        </p:nvSpPr>
        <p:spPr>
          <a:xfrm>
            <a:off x="457200" y="3191256"/>
            <a:ext cx="347472" cy="347472"/>
          </a:xfrm>
          <a:prstGeom prst="ellipse">
            <a:avLst/>
          </a:prstGeom>
          <a:solidFill>
            <a:srgbClr val="10B981"/>
          </a:solidFill>
          <a:ln w="12700">
            <a:solidFill>
              <a:srgbClr val="10B981"/>
            </a:solidFill>
            <a:prstDash val="solid"/>
          </a:ln>
        </p:spPr>
        <p:txBody>
          <a:bodyPr/>
          <a:lstStyle/>
          <a:p>
            <a:endParaRPr lang="en-US"/>
          </a:p>
        </p:txBody>
      </p:sp>
      <p:sp>
        <p:nvSpPr>
          <p:cNvPr id="16" name="Text 14"/>
          <p:cNvSpPr/>
          <p:nvPr/>
        </p:nvSpPr>
        <p:spPr>
          <a:xfrm>
            <a:off x="457200" y="319125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p:nvPr/>
        </p:nvSpPr>
        <p:spPr>
          <a:xfrm>
            <a:off x="969264" y="3191256"/>
            <a:ext cx="4572000" cy="347472"/>
          </a:xfrm>
          <a:prstGeom prst="rect">
            <a:avLst/>
          </a:prstGeom>
          <a:noFill/>
          <a:ln/>
        </p:spPr>
        <p:txBody>
          <a:bodyPr wrap="square" lIns="0" tIns="0" rIns="0" bIns="0" rtlCol="0" anchor="ctr"/>
          <a:lstStyle/>
          <a:p>
            <a:pPr marL="0" indent="0" algn="l">
              <a:buNone/>
            </a:pPr>
            <a:r>
              <a:rPr lang="en-US" sz="1250" b="1" dirty="0">
                <a:solidFill>
                  <a:srgbClr val="166534"/>
                </a:solidFill>
                <a:latin typeface="Calibri" pitchFamily="34" charset="0"/>
                <a:ea typeface="Calibri" pitchFamily="34" charset="-122"/>
                <a:cs typeface="Calibri" pitchFamily="34" charset="-120"/>
              </a:rPr>
              <a:t>If none  →  STOP  —  solution is N-1 feasible</a:t>
            </a:r>
            <a:endParaRPr lang="en-US" sz="1250" dirty="0"/>
          </a:p>
        </p:txBody>
      </p:sp>
      <p:sp>
        <p:nvSpPr>
          <p:cNvPr id="18" name="Shape 16"/>
          <p:cNvSpPr/>
          <p:nvPr/>
        </p:nvSpPr>
        <p:spPr>
          <a:xfrm>
            <a:off x="457200" y="3758184"/>
            <a:ext cx="347472" cy="347472"/>
          </a:xfrm>
          <a:prstGeom prst="ellipse">
            <a:avLst/>
          </a:prstGeom>
          <a:solidFill>
            <a:srgbClr val="F59E0B"/>
          </a:solidFill>
          <a:ln w="12700">
            <a:solidFill>
              <a:srgbClr val="F59E0B"/>
            </a:solidFill>
            <a:prstDash val="solid"/>
          </a:ln>
        </p:spPr>
        <p:txBody>
          <a:bodyPr/>
          <a:lstStyle/>
          <a:p>
            <a:endParaRPr lang="en-US"/>
          </a:p>
        </p:txBody>
      </p:sp>
      <p:sp>
        <p:nvSpPr>
          <p:cNvPr id="19" name="Text 17"/>
          <p:cNvSpPr/>
          <p:nvPr/>
        </p:nvSpPr>
        <p:spPr>
          <a:xfrm>
            <a:off x="457200" y="375818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8"/>
          <p:cNvSpPr/>
          <p:nvPr/>
        </p:nvSpPr>
        <p:spPr>
          <a:xfrm>
            <a:off x="969264" y="3758184"/>
            <a:ext cx="4572000" cy="347472"/>
          </a:xfrm>
          <a:prstGeom prst="rect">
            <a:avLst/>
          </a:prstGeom>
          <a:noFill/>
          <a:ln/>
        </p:spPr>
        <p:txBody>
          <a:bodyPr wrap="square" lIns="0" tIns="0" rIns="0" bIns="0" rtlCol="0" anchor="ctr"/>
          <a:lstStyle/>
          <a:p>
            <a:pPr marL="0" indent="0" algn="l">
              <a:buNone/>
            </a:pPr>
            <a:r>
              <a:rPr lang="en-US" sz="1250" dirty="0">
                <a:solidFill>
                  <a:srgbClr val="475569"/>
                </a:solidFill>
                <a:latin typeface="Calibri" pitchFamily="34" charset="0"/>
                <a:ea typeface="Calibri" pitchFamily="34" charset="-122"/>
                <a:cs typeface="Calibri" pitchFamily="34" charset="-120"/>
              </a:rPr>
              <a:t>Add only the violated cuts  →  return to step 1</a:t>
            </a:r>
            <a:endParaRPr lang="en-US" sz="1250" dirty="0"/>
          </a:p>
        </p:txBody>
      </p:sp>
      <p:sp>
        <p:nvSpPr>
          <p:cNvPr id="21" name="Shape 19"/>
          <p:cNvSpPr/>
          <p:nvPr/>
        </p:nvSpPr>
        <p:spPr>
          <a:xfrm>
            <a:off x="5760720" y="1399032"/>
            <a:ext cx="2926080" cy="2139696"/>
          </a:xfrm>
          <a:prstGeom prst="rect">
            <a:avLst/>
          </a:prstGeom>
          <a:solidFill>
            <a:srgbClr val="F0FDF4"/>
          </a:solidFill>
          <a:ln w="12700">
            <a:solidFill>
              <a:srgbClr val="10B981"/>
            </a:solidFill>
            <a:prstDash val="solid"/>
          </a:ln>
          <a:effectLst>
            <a:outerShdw blurRad="101600" dist="25400" dir="8100000" algn="bl" rotWithShape="0">
              <a:srgbClr val="000000">
                <a:alpha val="12000"/>
              </a:srgbClr>
            </a:outerShdw>
          </a:effectLst>
        </p:spPr>
        <p:txBody>
          <a:bodyPr/>
          <a:lstStyle/>
          <a:p>
            <a:endParaRPr lang="en-US"/>
          </a:p>
        </p:txBody>
      </p:sp>
      <p:sp>
        <p:nvSpPr>
          <p:cNvPr id="22" name="Text 20"/>
          <p:cNvSpPr/>
          <p:nvPr/>
        </p:nvSpPr>
        <p:spPr>
          <a:xfrm>
            <a:off x="5852160" y="1481328"/>
            <a:ext cx="2743200" cy="347472"/>
          </a:xfrm>
          <a:prstGeom prst="rect">
            <a:avLst/>
          </a:prstGeom>
          <a:noFill/>
          <a:ln/>
        </p:spPr>
        <p:txBody>
          <a:bodyPr wrap="square" lIns="0" tIns="0" rIns="0" bIns="0" rtlCol="0" anchor="ctr"/>
          <a:lstStyle/>
          <a:p>
            <a:pPr marL="0" indent="0" algn="ctr">
              <a:buNone/>
            </a:pPr>
            <a:r>
              <a:rPr lang="en-US" sz="1250" b="1" dirty="0">
                <a:solidFill>
                  <a:srgbClr val="166534"/>
                </a:solidFill>
                <a:latin typeface="Cambria" pitchFamily="34" charset="0"/>
                <a:ea typeface="Cambria" pitchFamily="34" charset="-122"/>
                <a:cs typeface="Cambria" pitchFamily="34" charset="-120"/>
              </a:rPr>
              <a:t>Measured — 24-Bus Main Case</a:t>
            </a:r>
            <a:endParaRPr lang="en-US" sz="1250" dirty="0"/>
          </a:p>
        </p:txBody>
      </p:sp>
      <p:sp>
        <p:nvSpPr>
          <p:cNvPr id="23" name="Text 21"/>
          <p:cNvSpPr/>
          <p:nvPr/>
        </p:nvSpPr>
        <p:spPr>
          <a:xfrm>
            <a:off x="5852160" y="1874520"/>
            <a:ext cx="2743200" cy="1993392"/>
          </a:xfrm>
          <a:prstGeom prst="rect">
            <a:avLst/>
          </a:prstGeom>
          <a:noFill/>
          <a:ln/>
        </p:spPr>
        <p:txBody>
          <a:bodyPr wrap="square" rtlCol="0" anchor="t"/>
          <a:lstStyle/>
          <a:p>
            <a:pPr marL="342900" indent="-342900">
              <a:spcAft>
                <a:spcPts val="700"/>
              </a:spcAft>
              <a:buSzPct val="100000"/>
              <a:buChar char="•"/>
            </a:pPr>
            <a:r>
              <a:rPr lang="en-US" sz="1100" b="1" dirty="0">
                <a:solidFill>
                  <a:srgbClr val="475569"/>
                </a:solidFill>
                <a:latin typeface="Calibri" pitchFamily="34" charset="0"/>
                <a:ea typeface="Calibri" pitchFamily="34" charset="-122"/>
                <a:cs typeface="Calibri" pitchFamily="34" charset="-120"/>
              </a:rPr>
              <a:t>2 iterations (converged)</a:t>
            </a:r>
            <a:endParaRPr lang="en-US" sz="1100" dirty="0"/>
          </a:p>
          <a:p>
            <a:pPr marL="342900" indent="-342900">
              <a:spcAft>
                <a:spcPts val="700"/>
              </a:spcAft>
              <a:buSzPct val="100000"/>
              <a:buChar char="•"/>
            </a:pPr>
            <a:r>
              <a:rPr lang="en-US" sz="1100" b="1" dirty="0">
                <a:solidFill>
                  <a:srgbClr val="475569"/>
                </a:solidFill>
                <a:latin typeface="Calibri" pitchFamily="34" charset="0"/>
                <a:ea typeface="Calibri" pitchFamily="34" charset="-122"/>
                <a:cs typeface="Calibri" pitchFamily="34" charset="-120"/>
              </a:rPr>
              <a:t>32 constraints added</a:t>
            </a:r>
            <a:endParaRPr lang="en-US" sz="1100" dirty="0"/>
          </a:p>
          <a:p>
            <a:pPr marL="342900" indent="-3429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of 14,592 possible  →  0.22%</a:t>
            </a:r>
            <a:endParaRPr lang="en-US" sz="1100" dirty="0"/>
          </a:p>
          <a:p>
            <a:pPr marL="342900" indent="-342900">
              <a:spcAft>
                <a:spcPts val="700"/>
              </a:spcAft>
              <a:buSzPct val="100000"/>
              <a:buChar char="•"/>
            </a:pPr>
            <a:r>
              <a:rPr lang="en-US" sz="1100" b="1" dirty="0">
                <a:solidFill>
                  <a:srgbClr val="475569"/>
                </a:solidFill>
                <a:latin typeface="Calibri" pitchFamily="34" charset="0"/>
                <a:ea typeface="Calibri" pitchFamily="34" charset="-122"/>
                <a:cs typeface="Calibri" pitchFamily="34" charset="-120"/>
              </a:rPr>
              <a:t>Same optimal cost (±$1 vs. full)</a:t>
            </a:r>
            <a:endParaRPr lang="en-US" sz="1100" dirty="0"/>
          </a:p>
          <a:p>
            <a:pPr marL="342900" indent="-3429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+$7,941 N-1 security premium</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16" name="Shape 3">
            <a:extLst>
              <a:ext uri="{FF2B5EF4-FFF2-40B4-BE49-F238E27FC236}">
                <a16:creationId xmlns:a16="http://schemas.microsoft.com/office/drawing/2014/main" id="{53019930-8F78-2BE5-AE6B-AEFD276CF584}"/>
              </a:ext>
            </a:extLst>
          </p:cNvPr>
          <p:cNvSpPr/>
          <p:nvPr/>
        </p:nvSpPr>
        <p:spPr>
          <a:xfrm>
            <a:off x="4800600" y="1024128"/>
            <a:ext cx="3886200" cy="1810512"/>
          </a:xfrm>
          <a:prstGeom prst="rect">
            <a:avLst/>
          </a:prstGeom>
          <a:solidFill>
            <a:srgbClr val="FEF2F2"/>
          </a:solidFill>
          <a:ln w="12700">
            <a:solidFill>
              <a:srgbClr val="DC2626"/>
            </a:solidFill>
            <a:prstDash val="solid"/>
          </a:ln>
        </p:spPr>
        <p:txBody>
          <a:bodyPr/>
          <a:lstStyle/>
          <a:p>
            <a:endParaRPr lang="en-US"/>
          </a:p>
        </p:txBody>
      </p:sp>
      <p:sp>
        <p:nvSpPr>
          <p:cNvPr id="2" name="Shape 0"/>
          <p:cNvSpPr/>
          <p:nvPr/>
        </p:nvSpPr>
        <p:spPr>
          <a:xfrm>
            <a:off x="0" y="0"/>
            <a:ext cx="54864" cy="5143500"/>
          </a:xfrm>
          <a:prstGeom prst="rect">
            <a:avLst/>
          </a:prstGeom>
          <a:solidFill>
            <a:srgbClr val="4FA8D8"/>
          </a:solidFill>
          <a:ln w="12700">
            <a:solidFill>
              <a:srgbClr val="4FA8D8"/>
            </a:solidFill>
            <a:prstDash val="solid"/>
          </a:ln>
        </p:spPr>
        <p:txBody>
          <a:bodyPr/>
          <a:lstStyle/>
          <a:p>
            <a:endParaRPr lang="en-US"/>
          </a:p>
        </p:txBody>
      </p:sp>
      <p:sp>
        <p:nvSpPr>
          <p:cNvPr id="3" name="Text 1"/>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Part 3 — LMP Extraction via Fix-and-Re-Solve</a:t>
            </a:r>
            <a:endParaRPr lang="en-US" sz="2800" dirty="0"/>
          </a:p>
        </p:txBody>
      </p:sp>
      <p:sp>
        <p:nvSpPr>
          <p:cNvPr id="4" name="Shape 2"/>
          <p:cNvSpPr/>
          <p:nvPr/>
        </p:nvSpPr>
        <p:spPr>
          <a:xfrm>
            <a:off x="457200" y="932688"/>
            <a:ext cx="8229600" cy="20117"/>
          </a:xfrm>
          <a:prstGeom prst="rect">
            <a:avLst/>
          </a:prstGeom>
          <a:solidFill>
            <a:srgbClr val="E2E8F0"/>
          </a:solidFill>
          <a:ln w="12700">
            <a:solidFill>
              <a:srgbClr val="E2E8F0"/>
            </a:solidFill>
            <a:prstDash val="solid"/>
          </a:ln>
        </p:spPr>
        <p:txBody>
          <a:bodyPr/>
          <a:lstStyle/>
          <a:p>
            <a:endParaRPr lang="en-US"/>
          </a:p>
        </p:txBody>
      </p:sp>
      <p:sp>
        <p:nvSpPr>
          <p:cNvPr id="7" name="Text 5"/>
          <p:cNvSpPr/>
          <p:nvPr/>
        </p:nvSpPr>
        <p:spPr>
          <a:xfrm>
            <a:off x="566928" y="1508760"/>
            <a:ext cx="3657600" cy="1810512"/>
          </a:xfrm>
          <a:prstGeom prst="rect">
            <a:avLst/>
          </a:prstGeom>
          <a:noFill/>
          <a:ln/>
        </p:spPr>
        <p:txBody>
          <a:bodyPr wrap="square" rtlCol="0" anchor="t"/>
          <a:lstStyle/>
          <a:p>
            <a:pPr marL="342900" indent="-342900">
              <a:spcAft>
                <a:spcPts val="800"/>
              </a:spcAft>
              <a:buSzPct val="100000"/>
              <a:buChar char="•"/>
            </a:pPr>
            <a:endParaRPr lang="en-US" sz="1100" dirty="0"/>
          </a:p>
        </p:txBody>
      </p:sp>
      <p:sp>
        <p:nvSpPr>
          <p:cNvPr id="8" name="Shape 6"/>
          <p:cNvSpPr/>
          <p:nvPr/>
        </p:nvSpPr>
        <p:spPr>
          <a:xfrm>
            <a:off x="484632" y="1024128"/>
            <a:ext cx="3886200" cy="1810512"/>
          </a:xfrm>
          <a:prstGeom prst="rect">
            <a:avLst/>
          </a:prstGeom>
          <a:solidFill>
            <a:srgbClr val="DCFCE7"/>
          </a:solidFill>
          <a:ln w="12700">
            <a:solidFill>
              <a:srgbClr val="10B981"/>
            </a:solidFill>
            <a:prstDash val="solid"/>
          </a:ln>
        </p:spPr>
        <p:txBody>
          <a:bodyPr/>
          <a:lstStyle/>
          <a:p>
            <a:endParaRPr lang="en-US"/>
          </a:p>
        </p:txBody>
      </p:sp>
      <p:sp>
        <p:nvSpPr>
          <p:cNvPr id="9" name="Text 7"/>
          <p:cNvSpPr/>
          <p:nvPr/>
        </p:nvSpPr>
        <p:spPr>
          <a:xfrm>
            <a:off x="4910328" y="1097280"/>
            <a:ext cx="3657600" cy="365760"/>
          </a:xfrm>
          <a:prstGeom prst="rect">
            <a:avLst/>
          </a:prstGeom>
          <a:noFill/>
          <a:ln/>
        </p:spPr>
        <p:txBody>
          <a:bodyPr wrap="square" lIns="0" tIns="0" rIns="0" bIns="0" rtlCol="0" anchor="ctr"/>
          <a:lstStyle/>
          <a:p>
            <a:r>
              <a:rPr lang="en-US" sz="1350" b="1" dirty="0">
                <a:solidFill>
                  <a:srgbClr val="DC2626"/>
                </a:solidFill>
                <a:latin typeface="Cambria" pitchFamily="34" charset="0"/>
                <a:ea typeface="Cambria" pitchFamily="34" charset="-122"/>
                <a:cs typeface="Cambria" pitchFamily="34" charset="-120"/>
              </a:rPr>
              <a:t>Why not extract from MILP?</a:t>
            </a:r>
            <a:endParaRPr lang="en-US" sz="1350" dirty="0"/>
          </a:p>
        </p:txBody>
      </p:sp>
      <p:sp>
        <p:nvSpPr>
          <p:cNvPr id="10" name="Text 8"/>
          <p:cNvSpPr/>
          <p:nvPr/>
        </p:nvSpPr>
        <p:spPr>
          <a:xfrm>
            <a:off x="4910328" y="1508760"/>
            <a:ext cx="3657600" cy="1810512"/>
          </a:xfrm>
          <a:prstGeom prst="rect">
            <a:avLst/>
          </a:prstGeom>
          <a:noFill/>
          <a:ln/>
        </p:spPr>
        <p:txBody>
          <a:bodyPr wrap="square" rtlCol="0" anchor="t"/>
          <a:lstStyle/>
          <a:p>
            <a:pPr marL="342900" indent="-342900">
              <a:spcAft>
                <a:spcPts val="800"/>
              </a:spcAft>
              <a:buSzPct val="100000"/>
              <a:buChar char="•"/>
            </a:pPr>
            <a:r>
              <a:rPr lang="en-US" sz="1100" dirty="0">
                <a:solidFill>
                  <a:srgbClr val="475569"/>
                </a:solidFill>
                <a:latin typeface="Calibri" pitchFamily="34" charset="0"/>
                <a:ea typeface="Calibri" pitchFamily="34" charset="-122"/>
                <a:cs typeface="Calibri" pitchFamily="34" charset="-120"/>
              </a:rPr>
              <a:t>LP duality theory: every constraint has a shadow price</a:t>
            </a:r>
          </a:p>
          <a:p>
            <a:pPr marL="342900" indent="-342900">
              <a:spcAft>
                <a:spcPts val="800"/>
              </a:spcAft>
              <a:buSzPct val="100000"/>
              <a:buChar char="•"/>
            </a:pPr>
            <a:r>
              <a:rPr lang="en-US" sz="1100" dirty="0">
                <a:solidFill>
                  <a:srgbClr val="475569"/>
                </a:solidFill>
                <a:latin typeface="Calibri" pitchFamily="34" charset="0"/>
                <a:ea typeface="Calibri" pitchFamily="34" charset="-122"/>
                <a:cs typeface="Calibri" pitchFamily="34" charset="-120"/>
              </a:rPr>
              <a:t>These shadow prices = LMPs</a:t>
            </a:r>
            <a:endParaRPr lang="en-US" sz="1100" dirty="0"/>
          </a:p>
          <a:p>
            <a:pPr marL="342900" indent="-342900">
              <a:spcAft>
                <a:spcPts val="800"/>
              </a:spcAft>
              <a:buSzPct val="100000"/>
              <a:buChar char="•"/>
            </a:pPr>
            <a:r>
              <a:rPr lang="en-US" sz="1100" dirty="0">
                <a:solidFill>
                  <a:srgbClr val="475569"/>
                </a:solidFill>
                <a:latin typeface="Calibri" pitchFamily="34" charset="0"/>
                <a:ea typeface="Calibri" pitchFamily="34" charset="-122"/>
                <a:cs typeface="Calibri" pitchFamily="34" charset="-120"/>
              </a:rPr>
              <a:t>BUT: integer variables break LP duality</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MILP solvers don't compute meaningful duals</a:t>
            </a:r>
            <a:endParaRPr lang="en-US" sz="1100" dirty="0"/>
          </a:p>
        </p:txBody>
      </p:sp>
      <p:sp>
        <p:nvSpPr>
          <p:cNvPr id="11" name="Shape 9"/>
          <p:cNvSpPr/>
          <p:nvPr/>
        </p:nvSpPr>
        <p:spPr>
          <a:xfrm>
            <a:off x="484632" y="3108960"/>
            <a:ext cx="8229600" cy="914400"/>
          </a:xfrm>
          <a:prstGeom prst="rect">
            <a:avLst/>
          </a:prstGeom>
          <a:solidFill>
            <a:srgbClr val="1E2761"/>
          </a:solidFill>
          <a:ln w="12700">
            <a:solidFill>
              <a:srgbClr val="1E2761"/>
            </a:solidFill>
            <a:prstDash val="solid"/>
          </a:ln>
        </p:spPr>
        <p:txBody>
          <a:bodyPr/>
          <a:lstStyle/>
          <a:p>
            <a:endParaRPr lang="en-US"/>
          </a:p>
        </p:txBody>
      </p:sp>
      <p:sp>
        <p:nvSpPr>
          <p:cNvPr id="12" name="Text 10"/>
          <p:cNvSpPr/>
          <p:nvPr/>
        </p:nvSpPr>
        <p:spPr>
          <a:xfrm>
            <a:off x="594360" y="3172968"/>
            <a:ext cx="8010144" cy="256032"/>
          </a:xfrm>
          <a:prstGeom prst="rect">
            <a:avLst/>
          </a:prstGeom>
          <a:noFill/>
          <a:ln/>
        </p:spPr>
        <p:txBody>
          <a:bodyPr wrap="square" lIns="0" tIns="0" rIns="0" bIns="0" rtlCol="0" anchor="ctr"/>
          <a:lstStyle/>
          <a:p>
            <a:pPr marL="0" indent="0" algn="l">
              <a:buNone/>
            </a:pPr>
            <a:r>
              <a:rPr lang="en-US" sz="1250" b="1" dirty="0">
                <a:solidFill>
                  <a:srgbClr val="4FA8D8"/>
                </a:solidFill>
                <a:latin typeface="Cambria" pitchFamily="34" charset="0"/>
                <a:ea typeface="Cambria" pitchFamily="34" charset="-122"/>
                <a:cs typeface="Cambria" pitchFamily="34" charset="-120"/>
              </a:rPr>
              <a:t>Why this works</a:t>
            </a:r>
            <a:endParaRPr lang="en-US" sz="1250" dirty="0"/>
          </a:p>
        </p:txBody>
      </p:sp>
      <p:sp>
        <p:nvSpPr>
          <p:cNvPr id="13" name="Text 11"/>
          <p:cNvSpPr/>
          <p:nvPr/>
        </p:nvSpPr>
        <p:spPr>
          <a:xfrm>
            <a:off x="594360" y="3447288"/>
            <a:ext cx="8010144" cy="530352"/>
          </a:xfrm>
          <a:prstGeom prst="rect">
            <a:avLst/>
          </a:prstGeom>
          <a:noFill/>
          <a:ln/>
        </p:spPr>
        <p:txBody>
          <a:bodyPr wrap="square" rtlCol="0" anchor="t"/>
          <a:lstStyle/>
          <a:p>
            <a:pPr marL="0" indent="0" algn="l">
              <a:buNone/>
            </a:pPr>
            <a:r>
              <a:rPr lang="en-US" sz="1050" dirty="0">
                <a:solidFill>
                  <a:srgbClr val="CADCFC"/>
                </a:solidFill>
                <a:latin typeface="Calibri" pitchFamily="34" charset="0"/>
                <a:ea typeface="Calibri" pitchFamily="34" charset="-122"/>
                <a:cs typeface="Calibri" pitchFamily="34" charset="-120"/>
              </a:rPr>
              <a:t>The fixed values were feasible in the original MILP — locking them can't violate any constraints, only remove degrees of freedom. The resulting LP is continuous throughout, so LP duality applies. The dual variables are well-defined and correctly interpreted as LMPs. </a:t>
            </a:r>
            <a:endParaRPr lang="en-US" sz="1050" dirty="0"/>
          </a:p>
        </p:txBody>
      </p:sp>
      <p:sp>
        <p:nvSpPr>
          <p:cNvPr id="14" name="Text 4"/>
          <p:cNvSpPr/>
          <p:nvPr/>
        </p:nvSpPr>
        <p:spPr>
          <a:xfrm>
            <a:off x="566928" y="1097280"/>
            <a:ext cx="3657600" cy="365760"/>
          </a:xfrm>
          <a:prstGeom prst="rect">
            <a:avLst/>
          </a:prstGeom>
          <a:noFill/>
          <a:ln/>
        </p:spPr>
        <p:txBody>
          <a:bodyPr wrap="square" lIns="0" tIns="0" rIns="0" bIns="0" rtlCol="0" anchor="ctr"/>
          <a:lstStyle/>
          <a:p>
            <a:r>
              <a:rPr lang="en-US" sz="1350" b="1" dirty="0">
                <a:solidFill>
                  <a:srgbClr val="166534"/>
                </a:solidFill>
                <a:latin typeface="Cambria" panose="02040503050406030204" pitchFamily="18" charset="0"/>
                <a:ea typeface="Cambria" panose="02040503050406030204" pitchFamily="18" charset="0"/>
                <a:cs typeface="Cambria" pitchFamily="34" charset="-120"/>
              </a:rPr>
              <a:t>Fix-and-Re-Solve</a:t>
            </a:r>
            <a:endParaRPr lang="en-US" sz="1350" dirty="0"/>
          </a:p>
        </p:txBody>
      </p:sp>
      <p:sp>
        <p:nvSpPr>
          <p:cNvPr id="15" name="Text 8">
            <a:extLst>
              <a:ext uri="{FF2B5EF4-FFF2-40B4-BE49-F238E27FC236}">
                <a16:creationId xmlns:a16="http://schemas.microsoft.com/office/drawing/2014/main" id="{AAD2FCBF-B3B3-9714-86C7-97BE9C8F4ACB}"/>
              </a:ext>
            </a:extLst>
          </p:cNvPr>
          <p:cNvSpPr/>
          <p:nvPr/>
        </p:nvSpPr>
        <p:spPr>
          <a:xfrm>
            <a:off x="566928" y="1490472"/>
            <a:ext cx="3657600" cy="1810512"/>
          </a:xfrm>
          <a:prstGeom prst="rect">
            <a:avLst/>
          </a:prstGeom>
          <a:noFill/>
          <a:ln/>
        </p:spPr>
        <p:txBody>
          <a:bodyPr wrap="square" rtlCol="0" anchor="t"/>
          <a:lstStyle/>
          <a:p>
            <a:pPr marL="342900" indent="-3429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1. Solve MILP (Parts 1 + 2) → optimal binary values</a:t>
            </a:r>
            <a:endParaRPr lang="en-US" sz="1100" dirty="0"/>
          </a:p>
          <a:p>
            <a:pPr marL="342900" indent="-3429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2. Lock all binaries: LB = UB = optimal value</a:t>
            </a:r>
            <a:endParaRPr lang="en-US" sz="1100" dirty="0"/>
          </a:p>
          <a:p>
            <a:pPr marL="342900" indent="-342900">
              <a:spcAft>
                <a:spcPts val="700"/>
              </a:spcAft>
              <a:buSzPct val="100000"/>
              <a:buChar char="•"/>
            </a:pPr>
            <a:r>
              <a:rPr lang="en-US" sz="1100" dirty="0">
                <a:solidFill>
                  <a:srgbClr val="475569"/>
                </a:solidFill>
                <a:latin typeface="Calibri" pitchFamily="34" charset="0"/>
                <a:ea typeface="Calibri" pitchFamily="34" charset="-122"/>
                <a:cs typeface="Calibri" pitchFamily="34" charset="-120"/>
              </a:rPr>
              <a:t>3. Re-solve as pure LP (continuous dispatch only)</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4. Extract duals → LMP[n,t] =−dual(nodal_balance[n,t])</a:t>
            </a:r>
            <a:endParaRPr lang="en-US" sz="1100" dirty="0"/>
          </a:p>
        </p:txBody>
      </p:sp>
      <p:sp>
        <p:nvSpPr>
          <p:cNvPr id="500" name="sw500"/>
          <p:cNvSpPr/>
          <p:nvPr/>
        </p:nvSpPr>
        <p:spPr>
          <a:xfrm>
            <a:off x="457200" y="4297680"/>
            <a:ext cx="8229600" cy="360000"/>
          </a:xfrm>
          <a:prstGeom prst="rect">
            <a:avLst/>
          </a:prstGeom>
          <a:solidFill>
            <a:srgbClr val="FFF7ED"/>
          </a:solidFill>
          <a:ln w="19050">
            <a:solidFill>
              <a:srgbClr val="F59E0B"/>
            </a:solidFill>
            <a:prstDash val="solid"/>
          </a:ln>
        </p:spPr>
        <p:txBody>
          <a:bodyPr wrap="square" lIns="91440" tIns="45720" rIns="91440" bIns="45720" rtlCol="0" anchor="ctr"/>
          <a:lstStyle/>
          <a:p>
            <a:pPr marL="0" indent="0" algn="l">
              <a:buNone/>
            </a:pPr>
            <a:r>
              <a:rPr lang="en-US" sz="1100" b="1" dirty="0">
                <a:solidFill>
                  <a:srgbClr val="B45309"/>
                </a:solidFill>
                <a:latin typeface="Calibri" pitchFamily="34" charset="0"/>
                <a:ea typeface="Calibri" pitchFamily="34" charset="-122"/>
                <a:cs typeface="Calibri" pitchFamily="34" charset="-120"/>
              </a:rPr>
              <a:t>Bottom line:  </a:t>
            </a:r>
            <a:r>
              <a:rPr lang="en-US" sz="1100" dirty="0">
                <a:solidFill>
                  <a:srgbClr val="92400E"/>
                </a:solidFill>
                <a:latin typeface="Calibri" pitchFamily="34" charset="0"/>
                <a:ea typeface="Calibri" pitchFamily="34" charset="-122"/>
                <a:cs typeface="Calibri" pitchFamily="34" charset="-120"/>
              </a:rPr>
              <a:t>Integer variables block LP duality — MILP shadow prices are meaningless. Fixing the optimal binaries converts the problem to a pure LP, restoring correct duals: the same LMPs an ISO would compute.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9E0B"/>
          </a:solidFill>
          <a:ln w="12700">
            <a:solidFill>
              <a:srgbClr val="F59E0B"/>
            </a:solidFill>
            <a:prstDash val="solid"/>
          </a:ln>
        </p:spPr>
        <p:txBody>
          <a:bodyPr/>
          <a:lstStyle/>
          <a:p>
            <a:endParaRPr lang="en-US"/>
          </a:p>
        </p:txBody>
      </p:sp>
      <p:sp>
        <p:nvSpPr>
          <p:cNvPr id="3" name="Text 1"/>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Part 3 — Six Actionable Trading Signals</a:t>
            </a:r>
            <a:endParaRPr lang="en-US" sz="2800" dirty="0"/>
          </a:p>
        </p:txBody>
      </p:sp>
      <p:sp>
        <p:nvSpPr>
          <p:cNvPr id="4" name="Shape 2"/>
          <p:cNvSpPr/>
          <p:nvPr/>
        </p:nvSpPr>
        <p:spPr>
          <a:xfrm>
            <a:off x="457200" y="932688"/>
            <a:ext cx="8229600" cy="20117"/>
          </a:xfrm>
          <a:prstGeom prst="rect">
            <a:avLst/>
          </a:prstGeom>
          <a:solidFill>
            <a:srgbClr val="E2E8F0"/>
          </a:solidFill>
          <a:ln w="12700">
            <a:solidFill>
              <a:srgbClr val="E2E8F0"/>
            </a:solidFill>
            <a:prstDash val="solid"/>
          </a:ln>
        </p:spPr>
        <p:txBody>
          <a:bodyPr/>
          <a:lstStyle/>
          <a:p>
            <a:endParaRPr lang="en-US"/>
          </a:p>
        </p:txBody>
      </p:sp>
      <p:sp>
        <p:nvSpPr>
          <p:cNvPr id="5" name="Shape 3"/>
          <p:cNvSpPr/>
          <p:nvPr/>
        </p:nvSpPr>
        <p:spPr>
          <a:xfrm>
            <a:off x="457200" y="1051560"/>
            <a:ext cx="4023360" cy="1051560"/>
          </a:xfrm>
          <a:prstGeom prst="rect">
            <a:avLst/>
          </a:prstGeom>
          <a:solidFill>
            <a:srgbClr val="FFFBEB"/>
          </a:solidFill>
          <a:ln w="12700">
            <a:solidFill>
              <a:srgbClr val="F59E0B"/>
            </a:solidFill>
            <a:prstDash val="solid"/>
          </a:ln>
        </p:spPr>
        <p:txBody>
          <a:bodyPr/>
          <a:lstStyle/>
          <a:p>
            <a:endParaRPr lang="en-US"/>
          </a:p>
        </p:txBody>
      </p:sp>
      <p:sp>
        <p:nvSpPr>
          <p:cNvPr id="6" name="Text 4"/>
          <p:cNvSpPr/>
          <p:nvPr/>
        </p:nvSpPr>
        <p:spPr>
          <a:xfrm>
            <a:off x="566928" y="1088136"/>
            <a:ext cx="274320" cy="274320"/>
          </a:xfrm>
          <a:prstGeom prst="rect">
            <a:avLst/>
          </a:prstGeom>
          <a:noFill/>
          <a:ln/>
        </p:spPr>
        <p:txBody>
          <a:bodyPr wrap="square" lIns="0" tIns="0" rIns="0" bIns="0" rtlCol="0" anchor="ctr"/>
          <a:lstStyle/>
          <a:p>
            <a:pPr marL="0" indent="0" algn="ctr">
              <a:buNone/>
            </a:pPr>
            <a:r>
              <a:rPr lang="en-US" sz="1400" b="1" dirty="0">
                <a:solidFill>
                  <a:srgbClr val="F59E0B"/>
                </a:solidFill>
                <a:latin typeface="Cambria" pitchFamily="34" charset="0"/>
                <a:ea typeface="Cambria" pitchFamily="34" charset="-122"/>
                <a:cs typeface="Cambria" pitchFamily="34" charset="-120"/>
              </a:rPr>
              <a:t>1</a:t>
            </a:r>
            <a:endParaRPr lang="en-US" sz="1400" dirty="0"/>
          </a:p>
        </p:txBody>
      </p:sp>
      <p:sp>
        <p:nvSpPr>
          <p:cNvPr id="7" name="Text 5"/>
          <p:cNvSpPr/>
          <p:nvPr/>
        </p:nvSpPr>
        <p:spPr>
          <a:xfrm>
            <a:off x="896112" y="1097280"/>
            <a:ext cx="3474720" cy="292608"/>
          </a:xfrm>
          <a:prstGeom prst="rect">
            <a:avLst/>
          </a:prstGeom>
          <a:noFill/>
          <a:ln/>
        </p:spPr>
        <p:txBody>
          <a:bodyPr wrap="square" lIns="0" tIns="0" rIns="0" bIns="0" rtlCol="0" anchor="ctr"/>
          <a:lstStyle/>
          <a:p>
            <a:pPr marL="0" indent="0" algn="l">
              <a:buNone/>
            </a:pPr>
            <a:r>
              <a:rPr lang="en-US" sz="1050" b="1" dirty="0">
                <a:solidFill>
                  <a:srgbClr val="1E2761"/>
                </a:solidFill>
                <a:latin typeface="Calibri" pitchFamily="34" charset="0"/>
                <a:ea typeface="Calibri" pitchFamily="34" charset="-122"/>
                <a:cs typeface="Calibri" pitchFamily="34" charset="-120"/>
              </a:rPr>
              <a:t>Battery arbitrage (13.64× temporal)</a:t>
            </a:r>
            <a:endParaRPr lang="en-US" sz="1050" dirty="0"/>
          </a:p>
        </p:txBody>
      </p:sp>
      <p:sp>
        <p:nvSpPr>
          <p:cNvPr id="8" name="Text 6"/>
          <p:cNvSpPr/>
          <p:nvPr/>
        </p:nvSpPr>
        <p:spPr>
          <a:xfrm>
            <a:off x="566928" y="1417320"/>
            <a:ext cx="3803904" cy="640080"/>
          </a:xfrm>
          <a:prstGeom prst="rect">
            <a:avLst/>
          </a:prstGeom>
          <a:noFill/>
          <a:ln/>
        </p:spPr>
        <p:txBody>
          <a:bodyPr wrap="square" lIns="0" tIns="0" rIns="0" bIns="0" rtlCol="0" anchor="t"/>
          <a:lstStyle/>
          <a:p>
            <a:pPr marL="0" indent="0" algn="l">
              <a:buNone/>
            </a:pPr>
            <a:r>
              <a:rPr lang="en-US" sz="950" dirty="0">
                <a:solidFill>
                  <a:srgbClr val="475569"/>
                </a:solidFill>
                <a:latin typeface="Calibri" pitchFamily="34" charset="0"/>
                <a:ea typeface="Calibri" pitchFamily="34" charset="-122"/>
                <a:cs typeface="Calibri" pitchFamily="34" charset="-120"/>
              </a:rPr>
              <a:t>Charge $2/MWh (h1–7) → discharge $28–37/MWh (h13–18). Expected spread $26–29/MWh per cycle.</a:t>
            </a:r>
            <a:endParaRPr lang="en-US" sz="950" dirty="0"/>
          </a:p>
        </p:txBody>
      </p:sp>
      <p:sp>
        <p:nvSpPr>
          <p:cNvPr id="9" name="Shape 7"/>
          <p:cNvSpPr/>
          <p:nvPr/>
        </p:nvSpPr>
        <p:spPr>
          <a:xfrm>
            <a:off x="4663440" y="1051560"/>
            <a:ext cx="4023360" cy="1051560"/>
          </a:xfrm>
          <a:prstGeom prst="rect">
            <a:avLst/>
          </a:prstGeom>
          <a:solidFill>
            <a:srgbClr val="FFFBEB"/>
          </a:solidFill>
          <a:ln w="12700">
            <a:solidFill>
              <a:srgbClr val="F59E0B"/>
            </a:solidFill>
            <a:prstDash val="solid"/>
          </a:ln>
        </p:spPr>
        <p:txBody>
          <a:bodyPr/>
          <a:lstStyle/>
          <a:p>
            <a:endParaRPr lang="en-US"/>
          </a:p>
        </p:txBody>
      </p:sp>
      <p:sp>
        <p:nvSpPr>
          <p:cNvPr id="10" name="Text 8"/>
          <p:cNvSpPr/>
          <p:nvPr/>
        </p:nvSpPr>
        <p:spPr>
          <a:xfrm>
            <a:off x="4773168" y="1088136"/>
            <a:ext cx="274320" cy="274320"/>
          </a:xfrm>
          <a:prstGeom prst="rect">
            <a:avLst/>
          </a:prstGeom>
          <a:noFill/>
          <a:ln/>
        </p:spPr>
        <p:txBody>
          <a:bodyPr wrap="square" lIns="0" tIns="0" rIns="0" bIns="0" rtlCol="0" anchor="ctr"/>
          <a:lstStyle/>
          <a:p>
            <a:pPr marL="0" indent="0" algn="ctr">
              <a:buNone/>
            </a:pPr>
            <a:r>
              <a:rPr lang="en-US" sz="1400" b="1" dirty="0">
                <a:solidFill>
                  <a:srgbClr val="F59E0B"/>
                </a:solidFill>
                <a:latin typeface="Cambria" pitchFamily="34" charset="0"/>
                <a:ea typeface="Cambria" pitchFamily="34" charset="-122"/>
                <a:cs typeface="Cambria" pitchFamily="34" charset="-120"/>
              </a:rPr>
              <a:t>2</a:t>
            </a:r>
            <a:endParaRPr lang="en-US" sz="1400" dirty="0"/>
          </a:p>
        </p:txBody>
      </p:sp>
      <p:sp>
        <p:nvSpPr>
          <p:cNvPr id="11" name="Text 9"/>
          <p:cNvSpPr/>
          <p:nvPr/>
        </p:nvSpPr>
        <p:spPr>
          <a:xfrm>
            <a:off x="5102352" y="1097280"/>
            <a:ext cx="3474720" cy="292608"/>
          </a:xfrm>
          <a:prstGeom prst="rect">
            <a:avLst/>
          </a:prstGeom>
          <a:noFill/>
          <a:ln/>
        </p:spPr>
        <p:txBody>
          <a:bodyPr wrap="square" lIns="0" tIns="0" rIns="0" bIns="0" rtlCol="0" anchor="ctr"/>
          <a:lstStyle/>
          <a:p>
            <a:pPr marL="0" indent="0" algn="l">
              <a:buNone/>
            </a:pPr>
            <a:r>
              <a:rPr lang="en-US" sz="1050" b="1" dirty="0">
                <a:solidFill>
                  <a:srgbClr val="1E2761"/>
                </a:solidFill>
                <a:latin typeface="Calibri" pitchFamily="34" charset="0"/>
                <a:ea typeface="Calibri" pitchFamily="34" charset="-122"/>
                <a:cs typeface="Calibri" pitchFamily="34" charset="-120"/>
              </a:rPr>
              <a:t>Geographic arbitrage (north-south FTR)</a:t>
            </a:r>
            <a:endParaRPr lang="en-US" sz="1050" dirty="0"/>
          </a:p>
        </p:txBody>
      </p:sp>
      <p:sp>
        <p:nvSpPr>
          <p:cNvPr id="12" name="Text 10"/>
          <p:cNvSpPr/>
          <p:nvPr/>
        </p:nvSpPr>
        <p:spPr>
          <a:xfrm>
            <a:off x="4773168" y="1417320"/>
            <a:ext cx="3803904" cy="640080"/>
          </a:xfrm>
          <a:prstGeom prst="rect">
            <a:avLst/>
          </a:prstGeom>
          <a:noFill/>
          <a:ln/>
        </p:spPr>
        <p:txBody>
          <a:bodyPr wrap="square" lIns="0" tIns="0" rIns="0" bIns="0" rtlCol="0" anchor="t"/>
          <a:lstStyle/>
          <a:p>
            <a:r>
              <a:rPr lang="en-US" sz="950" dirty="0">
                <a:solidFill>
                  <a:srgbClr val="475569"/>
                </a:solidFill>
                <a:latin typeface="Calibri" pitchFamily="34" charset="0"/>
                <a:ea typeface="Calibri" pitchFamily="34" charset="-122"/>
                <a:cs typeface="Calibri" pitchFamily="34" charset="-120"/>
              </a:rPr>
              <a:t>B22 (renewables, $6.47) → B3 (thermal, $23.72) = $17.25/MWh structural spread.</a:t>
            </a:r>
            <a:endParaRPr lang="en-US" sz="950" dirty="0"/>
          </a:p>
        </p:txBody>
      </p:sp>
      <p:sp>
        <p:nvSpPr>
          <p:cNvPr id="13" name="Shape 11"/>
          <p:cNvSpPr/>
          <p:nvPr/>
        </p:nvSpPr>
        <p:spPr>
          <a:xfrm>
            <a:off x="457200" y="2194560"/>
            <a:ext cx="4023360" cy="1051560"/>
          </a:xfrm>
          <a:prstGeom prst="rect">
            <a:avLst/>
          </a:prstGeom>
          <a:solidFill>
            <a:srgbClr val="FFFBEB"/>
          </a:solidFill>
          <a:ln w="12700">
            <a:solidFill>
              <a:srgbClr val="F59E0B"/>
            </a:solidFill>
            <a:prstDash val="solid"/>
          </a:ln>
        </p:spPr>
        <p:txBody>
          <a:bodyPr/>
          <a:lstStyle/>
          <a:p>
            <a:endParaRPr lang="en-US"/>
          </a:p>
        </p:txBody>
      </p:sp>
      <p:sp>
        <p:nvSpPr>
          <p:cNvPr id="14" name="Text 12"/>
          <p:cNvSpPr/>
          <p:nvPr/>
        </p:nvSpPr>
        <p:spPr>
          <a:xfrm>
            <a:off x="566928" y="2231136"/>
            <a:ext cx="274320" cy="274320"/>
          </a:xfrm>
          <a:prstGeom prst="rect">
            <a:avLst/>
          </a:prstGeom>
          <a:noFill/>
          <a:ln/>
        </p:spPr>
        <p:txBody>
          <a:bodyPr wrap="square" lIns="0" tIns="0" rIns="0" bIns="0" rtlCol="0" anchor="ctr"/>
          <a:lstStyle/>
          <a:p>
            <a:pPr marL="0" indent="0" algn="ctr">
              <a:buNone/>
            </a:pPr>
            <a:r>
              <a:rPr lang="en-US" sz="1400" b="1" dirty="0">
                <a:solidFill>
                  <a:srgbClr val="F59E0B"/>
                </a:solidFill>
                <a:latin typeface="Cambria" pitchFamily="34" charset="0"/>
                <a:ea typeface="Cambria" pitchFamily="34" charset="-122"/>
                <a:cs typeface="Cambria" pitchFamily="34" charset="-120"/>
              </a:rPr>
              <a:t>3</a:t>
            </a:r>
            <a:endParaRPr lang="en-US" sz="1400" dirty="0"/>
          </a:p>
        </p:txBody>
      </p:sp>
      <p:sp>
        <p:nvSpPr>
          <p:cNvPr id="15" name="Text 13"/>
          <p:cNvSpPr/>
          <p:nvPr/>
        </p:nvSpPr>
        <p:spPr>
          <a:xfrm>
            <a:off x="896112" y="2240280"/>
            <a:ext cx="3474720" cy="292608"/>
          </a:xfrm>
          <a:prstGeom prst="rect">
            <a:avLst/>
          </a:prstGeom>
          <a:noFill/>
          <a:ln/>
        </p:spPr>
        <p:txBody>
          <a:bodyPr wrap="square" lIns="0" tIns="0" rIns="0" bIns="0" rtlCol="0" anchor="ctr"/>
          <a:lstStyle/>
          <a:p>
            <a:pPr marL="0" indent="0" algn="l">
              <a:buNone/>
            </a:pPr>
            <a:r>
              <a:rPr lang="en-US" sz="1050" b="1" dirty="0">
                <a:solidFill>
                  <a:srgbClr val="1E2761"/>
                </a:solidFill>
                <a:latin typeface="Calibri" pitchFamily="34" charset="0"/>
                <a:ea typeface="Calibri" pitchFamily="34" charset="-122"/>
                <a:cs typeface="Calibri" pitchFamily="34" charset="-120"/>
              </a:rPr>
              <a:t>Ramp spike opportunities</a:t>
            </a:r>
            <a:endParaRPr lang="en-US" sz="1050" dirty="0"/>
          </a:p>
        </p:txBody>
      </p:sp>
      <p:sp>
        <p:nvSpPr>
          <p:cNvPr id="16" name="Text 14"/>
          <p:cNvSpPr/>
          <p:nvPr/>
        </p:nvSpPr>
        <p:spPr>
          <a:xfrm>
            <a:off x="566928" y="2560320"/>
            <a:ext cx="3803904" cy="640080"/>
          </a:xfrm>
          <a:prstGeom prst="rect">
            <a:avLst/>
          </a:prstGeom>
          <a:noFill/>
          <a:ln/>
        </p:spPr>
        <p:txBody>
          <a:bodyPr wrap="square" lIns="0" tIns="0" rIns="0" bIns="0" rtlCol="0" anchor="t"/>
          <a:lstStyle/>
          <a:p>
            <a:pPr marL="0" indent="0" algn="l">
              <a:buNone/>
            </a:pPr>
            <a:r>
              <a:rPr lang="en-US" sz="950" dirty="0">
                <a:solidFill>
                  <a:srgbClr val="475569"/>
                </a:solidFill>
                <a:latin typeface="Calibri" pitchFamily="34" charset="0"/>
                <a:ea typeface="Calibri" pitchFamily="34" charset="-122"/>
                <a:cs typeface="Calibri" pitchFamily="34" charset="-120"/>
              </a:rPr>
              <a:t>Hours 18 &amp; 23 spike to $37.10 &amp; $35.49 — caused by ramping, not load. Virtual bid can capture value. </a:t>
            </a:r>
            <a:endParaRPr lang="en-US" sz="950" dirty="0"/>
          </a:p>
        </p:txBody>
      </p:sp>
      <p:sp>
        <p:nvSpPr>
          <p:cNvPr id="17" name="Shape 15"/>
          <p:cNvSpPr/>
          <p:nvPr/>
        </p:nvSpPr>
        <p:spPr>
          <a:xfrm>
            <a:off x="4663440" y="2194560"/>
            <a:ext cx="4023360" cy="1051560"/>
          </a:xfrm>
          <a:prstGeom prst="rect">
            <a:avLst/>
          </a:prstGeom>
          <a:solidFill>
            <a:srgbClr val="FFFBEB"/>
          </a:solidFill>
          <a:ln w="12700">
            <a:solidFill>
              <a:srgbClr val="F59E0B"/>
            </a:solidFill>
            <a:prstDash val="solid"/>
          </a:ln>
        </p:spPr>
        <p:txBody>
          <a:bodyPr/>
          <a:lstStyle/>
          <a:p>
            <a:endParaRPr lang="en-US"/>
          </a:p>
        </p:txBody>
      </p:sp>
      <p:sp>
        <p:nvSpPr>
          <p:cNvPr id="18" name="Text 16"/>
          <p:cNvSpPr/>
          <p:nvPr/>
        </p:nvSpPr>
        <p:spPr>
          <a:xfrm>
            <a:off x="4773168" y="2231136"/>
            <a:ext cx="274320" cy="274320"/>
          </a:xfrm>
          <a:prstGeom prst="rect">
            <a:avLst/>
          </a:prstGeom>
          <a:noFill/>
          <a:ln/>
        </p:spPr>
        <p:txBody>
          <a:bodyPr wrap="square" lIns="0" tIns="0" rIns="0" bIns="0" rtlCol="0" anchor="ctr"/>
          <a:lstStyle/>
          <a:p>
            <a:pPr marL="0" indent="0" algn="ctr">
              <a:buNone/>
            </a:pPr>
            <a:r>
              <a:rPr lang="en-US" sz="1400" b="1" dirty="0">
                <a:solidFill>
                  <a:srgbClr val="F59E0B"/>
                </a:solidFill>
                <a:latin typeface="Cambria" pitchFamily="34" charset="0"/>
                <a:ea typeface="Cambria" pitchFamily="34" charset="-122"/>
                <a:cs typeface="Cambria" pitchFamily="34" charset="-120"/>
              </a:rPr>
              <a:t>4</a:t>
            </a:r>
            <a:endParaRPr lang="en-US" sz="1400" dirty="0"/>
          </a:p>
        </p:txBody>
      </p:sp>
      <p:sp>
        <p:nvSpPr>
          <p:cNvPr id="19" name="Text 17"/>
          <p:cNvSpPr/>
          <p:nvPr/>
        </p:nvSpPr>
        <p:spPr>
          <a:xfrm>
            <a:off x="5102352" y="2240280"/>
            <a:ext cx="3474720" cy="292608"/>
          </a:xfrm>
          <a:prstGeom prst="rect">
            <a:avLst/>
          </a:prstGeom>
          <a:noFill/>
          <a:ln/>
        </p:spPr>
        <p:txBody>
          <a:bodyPr wrap="square" lIns="0" tIns="0" rIns="0" bIns="0" rtlCol="0" anchor="ctr"/>
          <a:lstStyle/>
          <a:p>
            <a:pPr marL="0" indent="0" algn="l">
              <a:buNone/>
            </a:pPr>
            <a:r>
              <a:rPr lang="en-US" sz="1050" b="1" dirty="0">
                <a:solidFill>
                  <a:srgbClr val="1E2761"/>
                </a:solidFill>
                <a:latin typeface="Calibri" pitchFamily="34" charset="0"/>
                <a:ea typeface="Calibri" pitchFamily="34" charset="-122"/>
                <a:cs typeface="Calibri" pitchFamily="34" charset="-120"/>
              </a:rPr>
              <a:t>Renewable hedging</a:t>
            </a:r>
            <a:endParaRPr lang="en-US" sz="1050" dirty="0"/>
          </a:p>
        </p:txBody>
      </p:sp>
      <p:sp>
        <p:nvSpPr>
          <p:cNvPr id="20" name="Text 18"/>
          <p:cNvSpPr/>
          <p:nvPr/>
        </p:nvSpPr>
        <p:spPr>
          <a:xfrm>
            <a:off x="4773168" y="2560320"/>
            <a:ext cx="3803904" cy="640080"/>
          </a:xfrm>
          <a:prstGeom prst="rect">
            <a:avLst/>
          </a:prstGeom>
          <a:noFill/>
          <a:ln/>
        </p:spPr>
        <p:txBody>
          <a:bodyPr wrap="square" lIns="0" tIns="0" rIns="0" bIns="0" rtlCol="0" anchor="t"/>
          <a:lstStyle/>
          <a:p>
            <a:pPr marL="0" indent="0" algn="l">
              <a:buNone/>
            </a:pPr>
            <a:r>
              <a:rPr lang="en-US" sz="950" dirty="0">
                <a:solidFill>
                  <a:srgbClr val="475569"/>
                </a:solidFill>
                <a:latin typeface="Calibri" pitchFamily="34" charset="0"/>
                <a:ea typeface="Calibri" pitchFamily="34" charset="-122"/>
                <a:cs typeface="Calibri" pitchFamily="34" charset="-120"/>
              </a:rPr>
              <a:t>Long renewable positions lose value in off-peak hours (1–7: only $7.56/MWh). Pair with peak-hour forward sales or storage.</a:t>
            </a:r>
            <a:endParaRPr lang="en-US" sz="950" dirty="0"/>
          </a:p>
        </p:txBody>
      </p:sp>
      <p:sp>
        <p:nvSpPr>
          <p:cNvPr id="21" name="Shape 19"/>
          <p:cNvSpPr/>
          <p:nvPr/>
        </p:nvSpPr>
        <p:spPr>
          <a:xfrm>
            <a:off x="457200" y="3337560"/>
            <a:ext cx="4023360" cy="1051560"/>
          </a:xfrm>
          <a:prstGeom prst="rect">
            <a:avLst/>
          </a:prstGeom>
          <a:solidFill>
            <a:srgbClr val="FFFBEB"/>
          </a:solidFill>
          <a:ln w="12700">
            <a:solidFill>
              <a:srgbClr val="F59E0B"/>
            </a:solidFill>
            <a:prstDash val="solid"/>
          </a:ln>
        </p:spPr>
        <p:txBody>
          <a:bodyPr/>
          <a:lstStyle/>
          <a:p>
            <a:endParaRPr lang="en-US"/>
          </a:p>
        </p:txBody>
      </p:sp>
      <p:sp>
        <p:nvSpPr>
          <p:cNvPr id="22" name="Text 20"/>
          <p:cNvSpPr/>
          <p:nvPr/>
        </p:nvSpPr>
        <p:spPr>
          <a:xfrm>
            <a:off x="566928" y="3374136"/>
            <a:ext cx="274320" cy="274320"/>
          </a:xfrm>
          <a:prstGeom prst="rect">
            <a:avLst/>
          </a:prstGeom>
          <a:noFill/>
          <a:ln/>
        </p:spPr>
        <p:txBody>
          <a:bodyPr wrap="square" lIns="0" tIns="0" rIns="0" bIns="0" rtlCol="0" anchor="ctr"/>
          <a:lstStyle/>
          <a:p>
            <a:pPr marL="0" indent="0" algn="ctr">
              <a:buNone/>
            </a:pPr>
            <a:r>
              <a:rPr lang="en-US" sz="1400" b="1" dirty="0">
                <a:solidFill>
                  <a:srgbClr val="F59E0B"/>
                </a:solidFill>
                <a:latin typeface="Cambria" pitchFamily="34" charset="0"/>
                <a:ea typeface="Cambria" pitchFamily="34" charset="-122"/>
                <a:cs typeface="Cambria" pitchFamily="34" charset="-120"/>
              </a:rPr>
              <a:t>5</a:t>
            </a:r>
            <a:endParaRPr lang="en-US" sz="1400" dirty="0"/>
          </a:p>
        </p:txBody>
      </p:sp>
      <p:sp>
        <p:nvSpPr>
          <p:cNvPr id="23" name="Text 21"/>
          <p:cNvSpPr/>
          <p:nvPr/>
        </p:nvSpPr>
        <p:spPr>
          <a:xfrm>
            <a:off x="896112" y="3383280"/>
            <a:ext cx="3474720" cy="292608"/>
          </a:xfrm>
          <a:prstGeom prst="rect">
            <a:avLst/>
          </a:prstGeom>
          <a:noFill/>
          <a:ln/>
        </p:spPr>
        <p:txBody>
          <a:bodyPr wrap="square" lIns="0" tIns="0" rIns="0" bIns="0" rtlCol="0" anchor="ctr"/>
          <a:lstStyle/>
          <a:p>
            <a:pPr marL="0" indent="0" algn="l">
              <a:buNone/>
            </a:pPr>
            <a:r>
              <a:rPr lang="en-US" sz="1050" b="1" dirty="0">
                <a:solidFill>
                  <a:srgbClr val="1E2761"/>
                </a:solidFill>
                <a:latin typeface="Calibri" pitchFamily="34" charset="0"/>
                <a:ea typeface="Calibri" pitchFamily="34" charset="-122"/>
                <a:cs typeface="Calibri" pitchFamily="34" charset="-120"/>
              </a:rPr>
              <a:t>Security-driven dispatch premium</a:t>
            </a:r>
            <a:endParaRPr lang="en-US" sz="1050" dirty="0"/>
          </a:p>
        </p:txBody>
      </p:sp>
      <p:sp>
        <p:nvSpPr>
          <p:cNvPr id="24" name="Text 22"/>
          <p:cNvSpPr/>
          <p:nvPr/>
        </p:nvSpPr>
        <p:spPr>
          <a:xfrm>
            <a:off x="566928" y="3703320"/>
            <a:ext cx="3803904" cy="640080"/>
          </a:xfrm>
          <a:prstGeom prst="rect">
            <a:avLst/>
          </a:prstGeom>
          <a:noFill/>
          <a:ln/>
        </p:spPr>
        <p:txBody>
          <a:bodyPr wrap="square" lIns="0" tIns="0" rIns="0" bIns="0" rtlCol="0" anchor="t"/>
          <a:lstStyle/>
          <a:p>
            <a:pPr marL="0" indent="0" algn="l">
              <a:buNone/>
            </a:pPr>
            <a:r>
              <a:rPr lang="en-US" sz="950" dirty="0">
                <a:solidFill>
                  <a:srgbClr val="475569"/>
                </a:solidFill>
                <a:latin typeface="Calibri" pitchFamily="34" charset="0"/>
                <a:ea typeface="Calibri" pitchFamily="34" charset="-122"/>
                <a:cs typeface="Calibri" pitchFamily="34" charset="-120"/>
              </a:rPr>
              <a:t>N-1 tight hours (17–22): peaker commits for grid safety. Focus on congestion/FTR opportunities and avoid unhedged long energy positions.</a:t>
            </a:r>
            <a:endParaRPr lang="en-US" sz="950" dirty="0"/>
          </a:p>
        </p:txBody>
      </p:sp>
      <p:sp>
        <p:nvSpPr>
          <p:cNvPr id="25" name="Shape 23"/>
          <p:cNvSpPr/>
          <p:nvPr/>
        </p:nvSpPr>
        <p:spPr>
          <a:xfrm>
            <a:off x="4663440" y="3337560"/>
            <a:ext cx="4023360" cy="1051560"/>
          </a:xfrm>
          <a:prstGeom prst="rect">
            <a:avLst/>
          </a:prstGeom>
          <a:solidFill>
            <a:srgbClr val="FFFBEB"/>
          </a:solidFill>
          <a:ln w="12700">
            <a:solidFill>
              <a:srgbClr val="F59E0B"/>
            </a:solidFill>
            <a:prstDash val="solid"/>
          </a:ln>
        </p:spPr>
        <p:txBody>
          <a:bodyPr/>
          <a:lstStyle/>
          <a:p>
            <a:endParaRPr lang="en-US"/>
          </a:p>
        </p:txBody>
      </p:sp>
      <p:sp>
        <p:nvSpPr>
          <p:cNvPr id="26" name="Text 24"/>
          <p:cNvSpPr/>
          <p:nvPr/>
        </p:nvSpPr>
        <p:spPr>
          <a:xfrm>
            <a:off x="4773168" y="3374136"/>
            <a:ext cx="274320" cy="274320"/>
          </a:xfrm>
          <a:prstGeom prst="rect">
            <a:avLst/>
          </a:prstGeom>
          <a:noFill/>
          <a:ln/>
        </p:spPr>
        <p:txBody>
          <a:bodyPr wrap="square" lIns="0" tIns="0" rIns="0" bIns="0" rtlCol="0" anchor="ctr"/>
          <a:lstStyle/>
          <a:p>
            <a:pPr marL="0" indent="0" algn="ctr">
              <a:buNone/>
            </a:pPr>
            <a:r>
              <a:rPr lang="en-US" sz="1400" b="1" dirty="0">
                <a:solidFill>
                  <a:srgbClr val="F59E0B"/>
                </a:solidFill>
                <a:latin typeface="Cambria" pitchFamily="34" charset="0"/>
                <a:ea typeface="Cambria" pitchFamily="34" charset="-122"/>
                <a:cs typeface="Cambria" pitchFamily="34" charset="-120"/>
              </a:rPr>
              <a:t>6</a:t>
            </a:r>
            <a:endParaRPr lang="en-US" sz="1400" dirty="0"/>
          </a:p>
        </p:txBody>
      </p:sp>
      <p:sp>
        <p:nvSpPr>
          <p:cNvPr id="27" name="Text 25"/>
          <p:cNvSpPr/>
          <p:nvPr/>
        </p:nvSpPr>
        <p:spPr>
          <a:xfrm>
            <a:off x="5102352" y="3383280"/>
            <a:ext cx="3474720" cy="292608"/>
          </a:xfrm>
          <a:prstGeom prst="rect">
            <a:avLst/>
          </a:prstGeom>
          <a:noFill/>
          <a:ln/>
        </p:spPr>
        <p:txBody>
          <a:bodyPr wrap="square" lIns="0" tIns="0" rIns="0" bIns="0" rtlCol="0" anchor="ctr"/>
          <a:lstStyle/>
          <a:p>
            <a:pPr marL="0" indent="0" algn="l">
              <a:buNone/>
            </a:pPr>
            <a:r>
              <a:rPr lang="en-US" sz="1050" b="1" dirty="0">
                <a:solidFill>
                  <a:srgbClr val="1E2761"/>
                </a:solidFill>
                <a:latin typeface="Calibri" pitchFamily="34" charset="0"/>
                <a:ea typeface="Calibri" pitchFamily="34" charset="-122"/>
                <a:cs typeface="Calibri" pitchFamily="34" charset="-120"/>
              </a:rPr>
              <a:t>Generator availability volatility</a:t>
            </a:r>
            <a:endParaRPr lang="en-US" sz="1050" dirty="0"/>
          </a:p>
        </p:txBody>
      </p:sp>
      <p:sp>
        <p:nvSpPr>
          <p:cNvPr id="28" name="Text 26"/>
          <p:cNvSpPr/>
          <p:nvPr/>
        </p:nvSpPr>
        <p:spPr>
          <a:xfrm>
            <a:off x="4773168" y="3703320"/>
            <a:ext cx="3803904" cy="640080"/>
          </a:xfrm>
          <a:prstGeom prst="rect">
            <a:avLst/>
          </a:prstGeom>
          <a:noFill/>
          <a:ln/>
        </p:spPr>
        <p:txBody>
          <a:bodyPr wrap="square" lIns="0" tIns="0" rIns="0" bIns="0" rtlCol="0" anchor="t"/>
          <a:lstStyle/>
          <a:p>
            <a:pPr marL="0" indent="0" algn="l">
              <a:buNone/>
            </a:pPr>
            <a:r>
              <a:rPr lang="en-US" sz="950" dirty="0">
                <a:solidFill>
                  <a:srgbClr val="475569"/>
                </a:solidFill>
                <a:latin typeface="Calibri" pitchFamily="34" charset="0"/>
                <a:ea typeface="Calibri" pitchFamily="34" charset="-122"/>
                <a:cs typeface="Calibri" pitchFamily="34" charset="-120"/>
              </a:rPr>
              <a:t>THERM_009 ($23.2/MWh) sets peak price. Outage → $3/MWh jump. Structure option positions around key generator risk.</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F59E0B"/>
          </a:solidFill>
          <a:ln w="12700">
            <a:solidFill>
              <a:srgbClr val="F59E0B"/>
            </a:solidFill>
            <a:prstDash val="solid"/>
          </a:ln>
        </p:spPr>
        <p:txBody>
          <a:bodyPr/>
          <a:lstStyle/>
          <a:p>
            <a:endParaRPr lang="en-US"/>
          </a:p>
        </p:txBody>
      </p:sp>
      <p:sp>
        <p:nvSpPr>
          <p:cNvPr id="3" name="Text 1"/>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Part 3 — What the Simulator Tells a Trader</a:t>
            </a:r>
            <a:endParaRPr lang="en-US" sz="2800" dirty="0"/>
          </a:p>
        </p:txBody>
      </p:sp>
      <p:sp>
        <p:nvSpPr>
          <p:cNvPr id="4" name="Shape 2"/>
          <p:cNvSpPr/>
          <p:nvPr/>
        </p:nvSpPr>
        <p:spPr>
          <a:xfrm>
            <a:off x="457200" y="932688"/>
            <a:ext cx="8229600" cy="20117"/>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971550"/>
            <a:ext cx="8229600" cy="3200400"/>
          </a:xfrm>
          <a:prstGeom prst="rect">
            <a:avLst/>
          </a:prstGeom>
          <a:noFill/>
          <a:ln/>
        </p:spPr>
        <p:txBody>
          <a:bodyPr wrap="square" rtlCol="0" anchor="t"/>
          <a:lstStyle/>
          <a:p>
            <a:pPr marL="342900" indent="-342900">
              <a:spcAft>
                <a:spcPts val="900"/>
              </a:spcAft>
              <a:buSzPct val="100000"/>
              <a:buChar char="•"/>
            </a:pPr>
            <a:r>
              <a:rPr lang="en-US" sz="1100" dirty="0">
                <a:solidFill>
                  <a:srgbClr val="475569"/>
                </a:solidFill>
                <a:latin typeface="Calibri" pitchFamily="34" charset="0"/>
                <a:ea typeface="Calibri" pitchFamily="34" charset="-122"/>
                <a:cs typeface="Calibri" pitchFamily="34" charset="-120"/>
              </a:rPr>
              <a:t>Merit order deviation → constraint identification</a:t>
            </a:r>
            <a:r>
              <a:rPr lang="en-US" sz="1100" dirty="0"/>
              <a:t>. </a:t>
            </a:r>
          </a:p>
          <a:p>
            <a:pPr lvl="1">
              <a:spcAft>
                <a:spcPts val="900"/>
              </a:spcAft>
              <a:buSzPct val="100000"/>
            </a:pPr>
            <a:r>
              <a:rPr lang="en-US" sz="1100" i="1" dirty="0">
                <a:solidFill>
                  <a:srgbClr val="475569"/>
                </a:solidFill>
                <a:latin typeface="Calibri" pitchFamily="34" charset="0"/>
                <a:ea typeface="Calibri" pitchFamily="34" charset="-122"/>
                <a:cs typeface="Calibri" pitchFamily="34" charset="-120"/>
              </a:rPr>
              <a:t>When expensive generators run out-of-merit, transmission or security is binding. THERM_002 ($97.9/MWh) at hour 18 signals N-1 constraint, not load scarcity.</a:t>
            </a:r>
            <a:endParaRPr lang="en-US" sz="1100" dirty="0"/>
          </a:p>
          <a:p>
            <a:pPr marL="342900" indent="-342900">
              <a:spcAft>
                <a:spcPts val="900"/>
              </a:spcAft>
              <a:buSzPct val="100000"/>
              <a:buChar char="•"/>
            </a:pPr>
            <a:r>
              <a:rPr lang="en-US" sz="1100" dirty="0">
                <a:solidFill>
                  <a:srgbClr val="475569"/>
                </a:solidFill>
                <a:latin typeface="Calibri" pitchFamily="34" charset="0"/>
                <a:ea typeface="Calibri" pitchFamily="34" charset="-122"/>
                <a:cs typeface="Calibri" pitchFamily="34" charset="-120"/>
              </a:rPr>
              <a:t>Congested line hours/magnitude → FTR targets. </a:t>
            </a:r>
          </a:p>
          <a:p>
            <a:pPr lvl="1">
              <a:spcAft>
                <a:spcPts val="900"/>
              </a:spcAft>
              <a:buSzPct val="100000"/>
            </a:pPr>
            <a:r>
              <a:rPr lang="en-US" sz="1100" i="1" dirty="0">
                <a:solidFill>
                  <a:srgbClr val="475569"/>
                </a:solidFill>
                <a:latin typeface="Calibri" pitchFamily="34" charset="0"/>
                <a:ea typeface="Calibri" pitchFamily="34" charset="-122"/>
                <a:cs typeface="Calibri" pitchFamily="34" charset="-120"/>
              </a:rPr>
              <a:t>N-1 violations on specific (line, hour) pairs = premium for congestion-hedging FTRs. Hours 17–22 see tightest constraints.</a:t>
            </a:r>
            <a:endParaRPr lang="en-US" sz="1100" dirty="0"/>
          </a:p>
          <a:p>
            <a:pPr marL="342900" indent="-342900">
              <a:spcAft>
                <a:spcPts val="900"/>
              </a:spcAft>
              <a:buSzPct val="100000"/>
              <a:buChar char="•"/>
            </a:pPr>
            <a:r>
              <a:rPr lang="en-US" sz="1100" dirty="0">
                <a:solidFill>
                  <a:srgbClr val="475569"/>
                </a:solidFill>
                <a:latin typeface="Calibri" pitchFamily="34" charset="0"/>
                <a:ea typeface="Calibri" pitchFamily="34" charset="-122"/>
                <a:cs typeface="Calibri" pitchFamily="34" charset="-120"/>
              </a:rPr>
              <a:t>LMP classification by regime. </a:t>
            </a:r>
          </a:p>
          <a:p>
            <a:pPr lvl="1">
              <a:spcAft>
                <a:spcPts val="900"/>
              </a:spcAft>
              <a:buSzPct val="100000"/>
            </a:pPr>
            <a:r>
              <a:rPr lang="en-US" sz="1100" i="1" dirty="0">
                <a:solidFill>
                  <a:srgbClr val="475569"/>
                </a:solidFill>
                <a:latin typeface="Calibri" pitchFamily="34" charset="0"/>
                <a:ea typeface="Calibri" pitchFamily="34" charset="-122"/>
                <a:cs typeface="Calibri" pitchFamily="34" charset="-120"/>
              </a:rPr>
              <a:t>Off-peak ($2.11/MWh) vs. peak ($28.77/MWh) vs. high-ren ($7.56/MWh) — different regimes require different hedges.</a:t>
            </a:r>
            <a:endParaRPr lang="en-US" sz="1100" dirty="0"/>
          </a:p>
          <a:p>
            <a:pPr marL="342900" indent="-342900">
              <a:spcAft>
                <a:spcPts val="900"/>
              </a:spcAft>
              <a:buSzPct val="100000"/>
              <a:buChar char="•"/>
            </a:pPr>
            <a:r>
              <a:rPr lang="en-US" sz="1100" dirty="0">
                <a:solidFill>
                  <a:srgbClr val="475569"/>
                </a:solidFill>
                <a:latin typeface="Calibri" pitchFamily="34" charset="0"/>
                <a:ea typeface="Calibri" pitchFamily="34" charset="-122"/>
                <a:cs typeface="Calibri" pitchFamily="34" charset="-120"/>
              </a:rPr>
              <a:t>Spatial LMP spreads → arbitrage sizing. </a:t>
            </a:r>
          </a:p>
          <a:p>
            <a:pPr lvl="1">
              <a:spcAft>
                <a:spcPts val="900"/>
              </a:spcAft>
              <a:buSzPct val="100000"/>
            </a:pPr>
            <a:r>
              <a:rPr lang="en-US" sz="1100" i="1" dirty="0">
                <a:solidFill>
                  <a:srgbClr val="475569"/>
                </a:solidFill>
                <a:latin typeface="Calibri" pitchFamily="34" charset="0"/>
                <a:ea typeface="Calibri" pitchFamily="34" charset="-122"/>
                <a:cs typeface="Calibri" pitchFamily="34" charset="-120"/>
              </a:rPr>
              <a:t>B22 (renewables, $6.47) → B3 (thermal, $23.72) = $17.25/MWh structural spread. FTR economics: 100 MW × $17.25 × 24 × 365 = $15.1M/year.</a:t>
            </a:r>
            <a:endParaRPr lang="en-US" sz="1100" dirty="0"/>
          </a:p>
          <a:p>
            <a:pPr marL="342900" indent="-342900">
              <a:spcAft>
                <a:spcPts val="900"/>
              </a:spcAft>
              <a:buSzPct val="100000"/>
              <a:buChar char="•"/>
            </a:pPr>
            <a:r>
              <a:rPr lang="en-US" sz="1100" dirty="0">
                <a:solidFill>
                  <a:srgbClr val="475569"/>
                </a:solidFill>
                <a:latin typeface="Calibri" pitchFamily="34" charset="0"/>
                <a:ea typeface="Calibri" pitchFamily="34" charset="-122"/>
                <a:cs typeface="Calibri" pitchFamily="34" charset="-120"/>
              </a:rPr>
              <a:t>Renewable suppression risk. </a:t>
            </a:r>
          </a:p>
          <a:p>
            <a:pPr lvl="1">
              <a:spcAft>
                <a:spcPts val="900"/>
              </a:spcAft>
              <a:buSzPct val="100000"/>
            </a:pPr>
            <a:r>
              <a:rPr lang="en-US" sz="1100" i="1" dirty="0">
                <a:solidFill>
                  <a:srgbClr val="475569"/>
                </a:solidFill>
                <a:latin typeface="Calibri" pitchFamily="34" charset="0"/>
                <a:ea typeface="Calibri" pitchFamily="34" charset="-122"/>
                <a:cs typeface="Calibri" pitchFamily="34" charset="-120"/>
              </a:rPr>
              <a:t>Cheap local renewable output may be curtailed; LMP spread overstates true arbitrage. Risk collapses if transmission added or demand grows.</a:t>
            </a:r>
            <a:endParaRPr lang="en-US" sz="1100" dirty="0"/>
          </a:p>
        </p:txBody>
      </p:sp>
      <p:sp>
        <p:nvSpPr>
          <p:cNvPr id="6" name="Shape 4"/>
          <p:cNvSpPr/>
          <p:nvPr/>
        </p:nvSpPr>
        <p:spPr>
          <a:xfrm>
            <a:off x="457200" y="4343400"/>
            <a:ext cx="8229600" cy="566928"/>
          </a:xfrm>
          <a:prstGeom prst="rect">
            <a:avLst/>
          </a:prstGeom>
          <a:solidFill>
            <a:srgbClr val="1E2761"/>
          </a:solidFill>
          <a:ln w="12700">
            <a:solidFill>
              <a:srgbClr val="1E2761"/>
            </a:solidFill>
            <a:prstDash val="solid"/>
          </a:ln>
        </p:spPr>
        <p:txBody>
          <a:bodyPr/>
          <a:lstStyle/>
          <a:p>
            <a:endParaRPr lang="en-US"/>
          </a:p>
        </p:txBody>
      </p:sp>
      <p:sp>
        <p:nvSpPr>
          <p:cNvPr id="7" name="Text 5"/>
          <p:cNvSpPr/>
          <p:nvPr/>
        </p:nvSpPr>
        <p:spPr>
          <a:xfrm>
            <a:off x="530352" y="4370832"/>
            <a:ext cx="8083296" cy="512064"/>
          </a:xfrm>
          <a:prstGeom prst="rect">
            <a:avLst/>
          </a:prstGeom>
          <a:noFill/>
          <a:ln/>
        </p:spPr>
        <p:txBody>
          <a:bodyPr wrap="square" lIns="0" tIns="0" rIns="0" bIns="0" rtlCol="0" anchor="ctr"/>
          <a:lstStyle/>
          <a:p>
            <a:pPr marL="0" indent="0" algn="ctr">
              <a:buNone/>
            </a:pPr>
            <a:r>
              <a:rPr lang="en-US" sz="1050" dirty="0">
                <a:solidFill>
                  <a:srgbClr val="CADCFC"/>
                </a:solidFill>
                <a:latin typeface="Calibri" pitchFamily="34" charset="0"/>
                <a:ea typeface="Calibri" pitchFamily="34" charset="-122"/>
                <a:cs typeface="Calibri" pitchFamily="34" charset="-120"/>
              </a:rPr>
              <a:t>Result: $18.24 avg LMP  |  $17.25 spatial (B22→B3)  |  13.64× peak/off-peak  |  High-ren $7.56/MWh</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bg>
      <p:bgPr>
        <a:solidFill>
          <a:srgbClr val="1E2761"/>
        </a:solidFill>
        <a:effectLst/>
      </p:bgPr>
    </p:bg>
    <p:spTree>
      <p:nvGrpSpPr>
        <p:cNvPr id="1" name=""/>
        <p:cNvGrpSpPr/>
        <p:nvPr/>
      </p:nvGrpSpPr>
      <p:grpSpPr>
        <a:xfrm>
          <a:off x="0" y="0"/>
          <a:ext cx="0" cy="0"/>
          <a:chOff x="0" y="0"/>
          <a:chExt cx="0" cy="0"/>
        </a:xfrm>
      </p:grpSpPr>
      <p:sp>
        <p:nvSpPr>
          <p:cNvPr id="25" name="Shape 23"/>
          <p:cNvSpPr/>
          <p:nvPr/>
        </p:nvSpPr>
        <p:spPr>
          <a:xfrm>
            <a:off x="7461504" y="1801368"/>
            <a:ext cx="36576" cy="164592"/>
          </a:xfrm>
          <a:prstGeom prst="rect">
            <a:avLst/>
          </a:prstGeom>
          <a:solidFill>
            <a:srgbClr val="2D4A8A"/>
          </a:solidFill>
          <a:ln w="12700">
            <a:solidFill>
              <a:srgbClr val="2D4A8A"/>
            </a:solidFill>
            <a:prstDash val="solid"/>
          </a:ln>
        </p:spPr>
        <p:txBody>
          <a:bodyPr/>
          <a:lstStyle/>
          <a:p>
            <a:endParaRPr lang="en-US"/>
          </a:p>
        </p:txBody>
      </p:sp>
      <p:sp>
        <p:nvSpPr>
          <p:cNvPr id="22" name="Shape 20"/>
          <p:cNvSpPr/>
          <p:nvPr/>
        </p:nvSpPr>
        <p:spPr>
          <a:xfrm>
            <a:off x="5358384" y="1801368"/>
            <a:ext cx="36576" cy="1499616"/>
          </a:xfrm>
          <a:prstGeom prst="rect">
            <a:avLst/>
          </a:prstGeom>
          <a:solidFill>
            <a:srgbClr val="2D4A8A"/>
          </a:solidFill>
          <a:ln w="12700">
            <a:solidFill>
              <a:srgbClr val="2D4A8A"/>
            </a:solidFill>
            <a:prstDash val="solid"/>
          </a:ln>
        </p:spPr>
        <p:txBody>
          <a:bodyPr/>
          <a:lstStyle/>
          <a:p>
            <a:endParaRPr lang="en-US"/>
          </a:p>
        </p:txBody>
      </p:sp>
      <p:sp>
        <p:nvSpPr>
          <p:cNvPr id="18" name="Shape 16"/>
          <p:cNvSpPr/>
          <p:nvPr/>
        </p:nvSpPr>
        <p:spPr>
          <a:xfrm>
            <a:off x="4453128" y="1965960"/>
            <a:ext cx="1828800" cy="621792"/>
          </a:xfrm>
          <a:prstGeom prst="rect">
            <a:avLst/>
          </a:prstGeom>
          <a:solidFill>
            <a:srgbClr val="1A3168"/>
          </a:solidFill>
          <a:ln w="12700">
            <a:solidFill>
              <a:srgbClr val="3B82F6"/>
            </a:solidFill>
            <a:prstDash val="solid"/>
          </a:ln>
        </p:spPr>
        <p:txBody>
          <a:bodyPr/>
          <a:lstStyle/>
          <a:p>
            <a:endParaRPr lang="en-US"/>
          </a:p>
        </p:txBody>
      </p:sp>
      <p:sp>
        <p:nvSpPr>
          <p:cNvPr id="2" name="Text 0"/>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Clean, Layered Architecture</a:t>
            </a:r>
            <a:endParaRPr lang="en-US" sz="2800" dirty="0"/>
          </a:p>
        </p:txBody>
      </p:sp>
      <p:sp>
        <p:nvSpPr>
          <p:cNvPr id="3" name="Shape 1"/>
          <p:cNvSpPr/>
          <p:nvPr/>
        </p:nvSpPr>
        <p:spPr>
          <a:xfrm>
            <a:off x="256032" y="1051560"/>
            <a:ext cx="1828800" cy="749808"/>
          </a:xfrm>
          <a:prstGeom prst="rect">
            <a:avLst/>
          </a:prstGeom>
          <a:solidFill>
            <a:srgbClr val="374151"/>
          </a:solidFill>
          <a:ln w="12700">
            <a:solidFill>
              <a:srgbClr val="4FA8D8"/>
            </a:solidFill>
            <a:prstDash val="solid"/>
          </a:ln>
        </p:spPr>
        <p:txBody>
          <a:bodyPr/>
          <a:lstStyle/>
          <a:p>
            <a:endParaRPr lang="en-US"/>
          </a:p>
        </p:txBody>
      </p:sp>
      <p:sp>
        <p:nvSpPr>
          <p:cNvPr id="4" name="Text 2"/>
          <p:cNvSpPr/>
          <p:nvPr/>
        </p:nvSpPr>
        <p:spPr>
          <a:xfrm>
            <a:off x="256032" y="1078992"/>
            <a:ext cx="1828800" cy="347472"/>
          </a:xfrm>
          <a:prstGeom prst="rect">
            <a:avLst/>
          </a:prstGeom>
          <a:noFill/>
          <a:ln/>
        </p:spPr>
        <p:txBody>
          <a:bodyPr wrap="square" lIns="0" tIns="0" rIns="0" bIns="0" rtlCol="0" anchor="ctr"/>
          <a:lstStyle/>
          <a:p>
            <a:pPr marL="0" indent="0" algn="ctr">
              <a:buNone/>
            </a:pPr>
            <a:r>
              <a:rPr lang="en-US" sz="1100" b="1" dirty="0">
                <a:solidFill>
                  <a:srgbClr val="9CA3AF"/>
                </a:solidFill>
                <a:latin typeface="Consolas" pitchFamily="34" charset="0"/>
                <a:ea typeface="Consolas" pitchFamily="34" charset="-122"/>
                <a:cs typeface="Consolas" pitchFamily="34" charset="-120"/>
              </a:rPr>
              <a:t>instance.json</a:t>
            </a:r>
            <a:endParaRPr lang="en-US" sz="1100" dirty="0"/>
          </a:p>
        </p:txBody>
      </p:sp>
      <p:sp>
        <p:nvSpPr>
          <p:cNvPr id="5" name="Text 3"/>
          <p:cNvSpPr/>
          <p:nvPr/>
        </p:nvSpPr>
        <p:spPr>
          <a:xfrm>
            <a:off x="256032" y="1417320"/>
            <a:ext cx="1828800" cy="347472"/>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24-bus, 24h, 39 lines</a:t>
            </a:r>
            <a:endParaRPr lang="en-US" sz="900" dirty="0"/>
          </a:p>
        </p:txBody>
      </p:sp>
      <p:sp>
        <p:nvSpPr>
          <p:cNvPr id="6" name="Shape 4"/>
          <p:cNvSpPr/>
          <p:nvPr/>
        </p:nvSpPr>
        <p:spPr>
          <a:xfrm>
            <a:off x="2350008" y="1051560"/>
            <a:ext cx="1828800" cy="749808"/>
          </a:xfrm>
          <a:prstGeom prst="rect">
            <a:avLst/>
          </a:prstGeom>
          <a:solidFill>
            <a:srgbClr val="1A3168"/>
          </a:solidFill>
          <a:ln w="12700">
            <a:solidFill>
              <a:srgbClr val="4FA8D8"/>
            </a:solidFill>
            <a:prstDash val="solid"/>
          </a:ln>
        </p:spPr>
        <p:txBody>
          <a:bodyPr/>
          <a:lstStyle/>
          <a:p>
            <a:endParaRPr lang="en-US"/>
          </a:p>
        </p:txBody>
      </p:sp>
      <p:sp>
        <p:nvSpPr>
          <p:cNvPr id="7" name="Text 5"/>
          <p:cNvSpPr/>
          <p:nvPr/>
        </p:nvSpPr>
        <p:spPr>
          <a:xfrm>
            <a:off x="2350008" y="1078992"/>
            <a:ext cx="1828800" cy="347472"/>
          </a:xfrm>
          <a:prstGeom prst="rect">
            <a:avLst/>
          </a:prstGeom>
          <a:noFill/>
          <a:ln/>
        </p:spPr>
        <p:txBody>
          <a:bodyPr wrap="square" lIns="0" tIns="0" rIns="0" bIns="0" rtlCol="0" anchor="ctr"/>
          <a:lstStyle/>
          <a:p>
            <a:pPr marL="0" indent="0" algn="ctr">
              <a:buNone/>
            </a:pPr>
            <a:r>
              <a:rPr lang="en-US" sz="1100" b="1" dirty="0">
                <a:solidFill>
                  <a:srgbClr val="CADCFC"/>
                </a:solidFill>
                <a:latin typeface="Consolas" pitchFamily="34" charset="0"/>
                <a:ea typeface="Consolas" pitchFamily="34" charset="-122"/>
                <a:cs typeface="Consolas" pitchFamily="34" charset="-120"/>
              </a:rPr>
              <a:t>read.py</a:t>
            </a:r>
            <a:endParaRPr lang="en-US" sz="1100" dirty="0"/>
          </a:p>
        </p:txBody>
      </p:sp>
      <p:sp>
        <p:nvSpPr>
          <p:cNvPr id="8" name="Text 6"/>
          <p:cNvSpPr/>
          <p:nvPr/>
        </p:nvSpPr>
        <p:spPr>
          <a:xfrm>
            <a:off x="2350008" y="1417320"/>
            <a:ext cx="1828800" cy="347472"/>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ScucInstance</a:t>
            </a:r>
            <a:endParaRPr lang="en-US" sz="900" dirty="0"/>
          </a:p>
        </p:txBody>
      </p:sp>
      <p:sp>
        <p:nvSpPr>
          <p:cNvPr id="9" name="Shape 7"/>
          <p:cNvSpPr/>
          <p:nvPr/>
        </p:nvSpPr>
        <p:spPr>
          <a:xfrm>
            <a:off x="4453128" y="1051560"/>
            <a:ext cx="1828800" cy="749808"/>
          </a:xfrm>
          <a:prstGeom prst="rect">
            <a:avLst/>
          </a:prstGeom>
          <a:solidFill>
            <a:srgbClr val="1A3168"/>
          </a:solidFill>
          <a:ln w="12700">
            <a:solidFill>
              <a:srgbClr val="4FA8D8"/>
            </a:solidFill>
            <a:prstDash val="solid"/>
          </a:ln>
        </p:spPr>
        <p:txBody>
          <a:bodyPr/>
          <a:lstStyle/>
          <a:p>
            <a:endParaRPr lang="en-US"/>
          </a:p>
        </p:txBody>
      </p:sp>
      <p:sp>
        <p:nvSpPr>
          <p:cNvPr id="10" name="Text 8"/>
          <p:cNvSpPr/>
          <p:nvPr/>
        </p:nvSpPr>
        <p:spPr>
          <a:xfrm>
            <a:off x="4453128" y="1078992"/>
            <a:ext cx="1828800" cy="347472"/>
          </a:xfrm>
          <a:prstGeom prst="rect">
            <a:avLst/>
          </a:prstGeom>
          <a:noFill/>
          <a:ln/>
        </p:spPr>
        <p:txBody>
          <a:bodyPr wrap="square" lIns="0" tIns="0" rIns="0" bIns="0" rtlCol="0" anchor="ctr"/>
          <a:lstStyle/>
          <a:p>
            <a:pPr marL="0" indent="0" algn="ctr">
              <a:buNone/>
            </a:pPr>
            <a:r>
              <a:rPr lang="en-US" sz="1100" b="1" dirty="0">
                <a:solidFill>
                  <a:srgbClr val="CADCFC"/>
                </a:solidFill>
                <a:latin typeface="Consolas" pitchFamily="34" charset="0"/>
                <a:ea typeface="Consolas" pitchFamily="34" charset="-122"/>
                <a:cs typeface="Consolas" pitchFamily="34" charset="-120"/>
              </a:rPr>
              <a:t>build.py</a:t>
            </a:r>
            <a:endParaRPr lang="en-US" sz="1100" dirty="0"/>
          </a:p>
        </p:txBody>
      </p:sp>
      <p:sp>
        <p:nvSpPr>
          <p:cNvPr id="11" name="Text 9"/>
          <p:cNvSpPr/>
          <p:nvPr/>
        </p:nvSpPr>
        <p:spPr>
          <a:xfrm>
            <a:off x="4453128" y="1417320"/>
            <a:ext cx="1828800" cy="347472"/>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Pyomo model</a:t>
            </a:r>
            <a:endParaRPr lang="en-US" sz="900" dirty="0"/>
          </a:p>
        </p:txBody>
      </p:sp>
      <p:sp>
        <p:nvSpPr>
          <p:cNvPr id="12" name="Shape 10"/>
          <p:cNvSpPr/>
          <p:nvPr/>
        </p:nvSpPr>
        <p:spPr>
          <a:xfrm>
            <a:off x="6556248" y="1051560"/>
            <a:ext cx="1828800" cy="749808"/>
          </a:xfrm>
          <a:prstGeom prst="rect">
            <a:avLst/>
          </a:prstGeom>
          <a:solidFill>
            <a:srgbClr val="1A3168"/>
          </a:solidFill>
          <a:ln w="12700">
            <a:solidFill>
              <a:srgbClr val="4FA8D8"/>
            </a:solidFill>
            <a:prstDash val="solid"/>
          </a:ln>
        </p:spPr>
        <p:txBody>
          <a:bodyPr/>
          <a:lstStyle/>
          <a:p>
            <a:endParaRPr lang="en-US"/>
          </a:p>
        </p:txBody>
      </p:sp>
      <p:sp>
        <p:nvSpPr>
          <p:cNvPr id="13" name="Text 11"/>
          <p:cNvSpPr/>
          <p:nvPr/>
        </p:nvSpPr>
        <p:spPr>
          <a:xfrm>
            <a:off x="6556248" y="1078992"/>
            <a:ext cx="1828800" cy="347472"/>
          </a:xfrm>
          <a:prstGeom prst="rect">
            <a:avLst/>
          </a:prstGeom>
          <a:noFill/>
          <a:ln/>
        </p:spPr>
        <p:txBody>
          <a:bodyPr wrap="square" lIns="0" tIns="0" rIns="0" bIns="0" rtlCol="0" anchor="ctr"/>
          <a:lstStyle/>
          <a:p>
            <a:pPr marL="0" indent="0" algn="ctr">
              <a:buNone/>
            </a:pPr>
            <a:r>
              <a:rPr lang="en-US" sz="1100" b="1" dirty="0">
                <a:solidFill>
                  <a:srgbClr val="CADCFC"/>
                </a:solidFill>
                <a:latin typeface="Consolas" pitchFamily="34" charset="0"/>
                <a:ea typeface="Consolas" pitchFamily="34" charset="-122"/>
                <a:cs typeface="Consolas" pitchFamily="34" charset="-120"/>
              </a:rPr>
              <a:t>solution.py</a:t>
            </a:r>
            <a:endParaRPr lang="en-US" sz="1100" dirty="0"/>
          </a:p>
        </p:txBody>
      </p:sp>
      <p:sp>
        <p:nvSpPr>
          <p:cNvPr id="14" name="Text 12"/>
          <p:cNvSpPr/>
          <p:nvPr/>
        </p:nvSpPr>
        <p:spPr>
          <a:xfrm>
            <a:off x="6556248" y="1417320"/>
            <a:ext cx="1828800" cy="347472"/>
          </a:xfrm>
          <a:prstGeom prst="rect">
            <a:avLst/>
          </a:prstGeom>
          <a:noFill/>
          <a:ln/>
        </p:spPr>
        <p:txBody>
          <a:bodyPr wrap="square" lIns="0" tIns="0" rIns="0" bIns="0" rtlCol="0" anchor="ctr"/>
          <a:lstStyle/>
          <a:p>
            <a:pPr marL="0" indent="0" algn="ctr">
              <a:buNone/>
            </a:pPr>
            <a:r>
              <a:rPr lang="en-US" sz="900" dirty="0">
                <a:solidFill>
                  <a:srgbClr val="6B7280"/>
                </a:solidFill>
                <a:latin typeface="Calibri" pitchFamily="34" charset="0"/>
                <a:ea typeface="Calibri" pitchFamily="34" charset="-122"/>
                <a:cs typeface="Calibri" pitchFamily="34" charset="-120"/>
              </a:rPr>
              <a:t>solution.json</a:t>
            </a:r>
            <a:endParaRPr lang="en-US" sz="900" dirty="0"/>
          </a:p>
        </p:txBody>
      </p:sp>
      <p:sp>
        <p:nvSpPr>
          <p:cNvPr id="15" name="Shape 13"/>
          <p:cNvSpPr/>
          <p:nvPr/>
        </p:nvSpPr>
        <p:spPr>
          <a:xfrm>
            <a:off x="2103120" y="1389888"/>
            <a:ext cx="228600" cy="64008"/>
          </a:xfrm>
          <a:prstGeom prst="rect">
            <a:avLst/>
          </a:prstGeom>
          <a:solidFill>
            <a:srgbClr val="4FA8D8"/>
          </a:solidFill>
          <a:ln w="12700">
            <a:solidFill>
              <a:srgbClr val="4FA8D8"/>
            </a:solidFill>
            <a:prstDash val="solid"/>
          </a:ln>
        </p:spPr>
        <p:txBody>
          <a:bodyPr/>
          <a:lstStyle/>
          <a:p>
            <a:endParaRPr lang="en-US"/>
          </a:p>
        </p:txBody>
      </p:sp>
      <p:sp>
        <p:nvSpPr>
          <p:cNvPr id="16" name="Shape 14"/>
          <p:cNvSpPr/>
          <p:nvPr/>
        </p:nvSpPr>
        <p:spPr>
          <a:xfrm>
            <a:off x="4206240" y="1389888"/>
            <a:ext cx="228600" cy="64008"/>
          </a:xfrm>
          <a:prstGeom prst="rect">
            <a:avLst/>
          </a:prstGeom>
          <a:solidFill>
            <a:srgbClr val="4FA8D8"/>
          </a:solidFill>
          <a:ln w="12700">
            <a:solidFill>
              <a:srgbClr val="4FA8D8"/>
            </a:solidFill>
            <a:prstDash val="solid"/>
          </a:ln>
        </p:spPr>
        <p:txBody>
          <a:bodyPr/>
          <a:lstStyle/>
          <a:p>
            <a:endParaRPr lang="en-US"/>
          </a:p>
        </p:txBody>
      </p:sp>
      <p:sp>
        <p:nvSpPr>
          <p:cNvPr id="17" name="Shape 15"/>
          <p:cNvSpPr/>
          <p:nvPr/>
        </p:nvSpPr>
        <p:spPr>
          <a:xfrm>
            <a:off x="6309360" y="1389888"/>
            <a:ext cx="228600" cy="64008"/>
          </a:xfrm>
          <a:prstGeom prst="rect">
            <a:avLst/>
          </a:prstGeom>
          <a:solidFill>
            <a:srgbClr val="4FA8D8"/>
          </a:solidFill>
          <a:ln w="12700">
            <a:solidFill>
              <a:srgbClr val="4FA8D8"/>
            </a:solidFill>
            <a:prstDash val="solid"/>
          </a:ln>
        </p:spPr>
        <p:txBody>
          <a:bodyPr/>
          <a:lstStyle/>
          <a:p>
            <a:endParaRPr lang="en-US"/>
          </a:p>
        </p:txBody>
      </p:sp>
      <p:sp>
        <p:nvSpPr>
          <p:cNvPr id="19" name="Text 17"/>
          <p:cNvSpPr/>
          <p:nvPr/>
        </p:nvSpPr>
        <p:spPr>
          <a:xfrm>
            <a:off x="4526280" y="1993392"/>
            <a:ext cx="1719072" cy="566928"/>
          </a:xfrm>
          <a:prstGeom prst="rect">
            <a:avLst/>
          </a:prstGeom>
          <a:noFill/>
          <a:ln/>
        </p:spPr>
        <p:txBody>
          <a:bodyPr wrap="square" lIns="0" tIns="0" rIns="0" bIns="0" rtlCol="0" anchor="ctr"/>
          <a:lstStyle/>
          <a:p>
            <a:pPr marL="0" indent="0" algn="l">
              <a:buNone/>
            </a:pPr>
            <a:r>
              <a:rPr lang="en-US" sz="950" dirty="0">
                <a:solidFill>
                  <a:srgbClr val="CADCFC"/>
                </a:solidFill>
                <a:latin typeface="Calibri" pitchFamily="34" charset="0"/>
                <a:ea typeface="Calibri" pitchFamily="34" charset="-122"/>
                <a:cs typeface="Calibri" pitchFamily="34" charset="-120"/>
              </a:rPr>
              <a:t>_add_startup_tier_costs()</a:t>
            </a:r>
            <a:endParaRPr lang="en-US" sz="950" dirty="0"/>
          </a:p>
          <a:p>
            <a:pPr marL="0" indent="0" algn="l">
              <a:buNone/>
            </a:pPr>
            <a:r>
              <a:rPr lang="en-US" sz="950" dirty="0">
                <a:solidFill>
                  <a:srgbClr val="CADCFC"/>
                </a:solidFill>
                <a:latin typeface="Calibri" pitchFamily="34" charset="0"/>
                <a:ea typeface="Calibri" pitchFamily="34" charset="-122"/>
                <a:cs typeface="Calibri" pitchFamily="34" charset="-120"/>
              </a:rPr>
              <a:t>← NEW: Part 1</a:t>
            </a:r>
            <a:endParaRPr lang="en-US" sz="950" dirty="0"/>
          </a:p>
        </p:txBody>
      </p:sp>
      <p:sp>
        <p:nvSpPr>
          <p:cNvPr id="20" name="Shape 18"/>
          <p:cNvSpPr/>
          <p:nvPr/>
        </p:nvSpPr>
        <p:spPr>
          <a:xfrm>
            <a:off x="4453128" y="2679192"/>
            <a:ext cx="1828800" cy="621792"/>
          </a:xfrm>
          <a:prstGeom prst="rect">
            <a:avLst/>
          </a:prstGeom>
          <a:solidFill>
            <a:srgbClr val="1A3168"/>
          </a:solidFill>
          <a:ln w="12700">
            <a:solidFill>
              <a:srgbClr val="10B981"/>
            </a:solidFill>
            <a:prstDash val="solid"/>
          </a:ln>
        </p:spPr>
        <p:txBody>
          <a:bodyPr/>
          <a:lstStyle/>
          <a:p>
            <a:endParaRPr lang="en-US"/>
          </a:p>
        </p:txBody>
      </p:sp>
      <p:sp>
        <p:nvSpPr>
          <p:cNvPr id="21" name="Text 19"/>
          <p:cNvSpPr/>
          <p:nvPr/>
        </p:nvSpPr>
        <p:spPr>
          <a:xfrm>
            <a:off x="4526280" y="2706624"/>
            <a:ext cx="1719072" cy="566928"/>
          </a:xfrm>
          <a:prstGeom prst="rect">
            <a:avLst/>
          </a:prstGeom>
          <a:noFill/>
          <a:ln/>
        </p:spPr>
        <p:txBody>
          <a:bodyPr wrap="square" lIns="0" tIns="0" rIns="0" bIns="0" rtlCol="0" anchor="ctr"/>
          <a:lstStyle/>
          <a:p>
            <a:pPr marL="0" indent="0" algn="l">
              <a:buNone/>
            </a:pPr>
            <a:r>
              <a:rPr lang="en-US" sz="950" dirty="0">
                <a:solidFill>
                  <a:srgbClr val="6EE7B7"/>
                </a:solidFill>
                <a:latin typeface="Calibri" pitchFamily="34" charset="0"/>
                <a:ea typeface="Calibri" pitchFamily="34" charset="-122"/>
                <a:cs typeface="Calibri" pitchFamily="34" charset="-120"/>
              </a:rPr>
              <a:t>solve_with_n1_cuts()</a:t>
            </a:r>
            <a:endParaRPr lang="en-US" sz="950" dirty="0"/>
          </a:p>
          <a:p>
            <a:pPr marL="0" indent="0" algn="l">
              <a:buNone/>
            </a:pPr>
            <a:r>
              <a:rPr lang="en-US" sz="950" dirty="0">
                <a:solidFill>
                  <a:srgbClr val="6EE7B7"/>
                </a:solidFill>
                <a:latin typeface="Calibri" pitchFamily="34" charset="0"/>
                <a:ea typeface="Calibri" pitchFamily="34" charset="-122"/>
                <a:cs typeface="Calibri" pitchFamily="34" charset="-120"/>
              </a:rPr>
              <a:t>← NEW: Part 2</a:t>
            </a:r>
            <a:endParaRPr lang="en-US" sz="950" dirty="0"/>
          </a:p>
        </p:txBody>
      </p:sp>
      <p:sp>
        <p:nvSpPr>
          <p:cNvPr id="23" name="Shape 21"/>
          <p:cNvSpPr/>
          <p:nvPr/>
        </p:nvSpPr>
        <p:spPr>
          <a:xfrm>
            <a:off x="6556248" y="1965960"/>
            <a:ext cx="1828800" cy="621792"/>
          </a:xfrm>
          <a:prstGeom prst="rect">
            <a:avLst/>
          </a:prstGeom>
          <a:solidFill>
            <a:srgbClr val="1A3168"/>
          </a:solidFill>
          <a:ln w="12700">
            <a:solidFill>
              <a:srgbClr val="F59E0B"/>
            </a:solidFill>
            <a:prstDash val="solid"/>
          </a:ln>
        </p:spPr>
        <p:txBody>
          <a:bodyPr/>
          <a:lstStyle/>
          <a:p>
            <a:endParaRPr lang="en-US"/>
          </a:p>
        </p:txBody>
      </p:sp>
      <p:sp>
        <p:nvSpPr>
          <p:cNvPr id="24" name="Text 22"/>
          <p:cNvSpPr/>
          <p:nvPr/>
        </p:nvSpPr>
        <p:spPr>
          <a:xfrm>
            <a:off x="6629400" y="1993392"/>
            <a:ext cx="1719072" cy="566928"/>
          </a:xfrm>
          <a:prstGeom prst="rect">
            <a:avLst/>
          </a:prstGeom>
          <a:noFill/>
          <a:ln/>
        </p:spPr>
        <p:txBody>
          <a:bodyPr wrap="square" lIns="0" tIns="0" rIns="0" bIns="0" rtlCol="0" anchor="ctr"/>
          <a:lstStyle/>
          <a:p>
            <a:pPr marL="0" indent="0" algn="l">
              <a:buNone/>
            </a:pPr>
            <a:r>
              <a:rPr lang="en-US" sz="950" dirty="0">
                <a:solidFill>
                  <a:srgbClr val="F59E0B"/>
                </a:solidFill>
                <a:latin typeface="Calibri" pitchFamily="34" charset="0"/>
                <a:ea typeface="Calibri" pitchFamily="34" charset="-122"/>
                <a:cs typeface="Calibri" pitchFamily="34" charset="-120"/>
              </a:rPr>
              <a:t>market_analysis.py</a:t>
            </a:r>
            <a:endParaRPr lang="en-US" sz="950" dirty="0"/>
          </a:p>
          <a:p>
            <a:pPr marL="0" indent="0" algn="l">
              <a:buNone/>
            </a:pPr>
            <a:r>
              <a:rPr lang="en-US" sz="950" dirty="0">
                <a:solidFill>
                  <a:srgbClr val="F59E0B"/>
                </a:solidFill>
                <a:latin typeface="Calibri" pitchFamily="34" charset="0"/>
                <a:ea typeface="Calibri" pitchFamily="34" charset="-122"/>
                <a:cs typeface="Calibri" pitchFamily="34" charset="-120"/>
              </a:rPr>
              <a:t>← NEW: Part 3</a:t>
            </a:r>
            <a:endParaRPr lang="en-US" sz="950" dirty="0"/>
          </a:p>
        </p:txBody>
      </p:sp>
      <p:sp>
        <p:nvSpPr>
          <p:cNvPr id="26" name="Shape 24"/>
          <p:cNvSpPr/>
          <p:nvPr/>
        </p:nvSpPr>
        <p:spPr>
          <a:xfrm>
            <a:off x="256032" y="4069080"/>
            <a:ext cx="201168" cy="201168"/>
          </a:xfrm>
          <a:prstGeom prst="rect">
            <a:avLst/>
          </a:prstGeom>
          <a:solidFill>
            <a:srgbClr val="3B82F6"/>
          </a:solidFill>
          <a:ln w="12700">
            <a:solidFill>
              <a:srgbClr val="3B82F6"/>
            </a:solidFill>
            <a:prstDash val="solid"/>
          </a:ln>
        </p:spPr>
        <p:txBody>
          <a:bodyPr/>
          <a:lstStyle/>
          <a:p>
            <a:endParaRPr lang="en-US"/>
          </a:p>
        </p:txBody>
      </p:sp>
      <p:sp>
        <p:nvSpPr>
          <p:cNvPr id="27" name="Text 25"/>
          <p:cNvSpPr/>
          <p:nvPr/>
        </p:nvSpPr>
        <p:spPr>
          <a:xfrm>
            <a:off x="512064" y="4059936"/>
            <a:ext cx="2468880" cy="219456"/>
          </a:xfrm>
          <a:prstGeom prst="rect">
            <a:avLst/>
          </a:prstGeom>
          <a:noFill/>
          <a:ln/>
        </p:spPr>
        <p:txBody>
          <a:bodyPr wrap="square" lIns="0" tIns="0" rIns="0" bIns="0" rtlCol="0" anchor="ctr"/>
          <a:lstStyle/>
          <a:p>
            <a:pPr marL="0" indent="0" algn="l">
              <a:buNone/>
            </a:pPr>
            <a:r>
              <a:rPr lang="en-US" sz="1000" dirty="0">
                <a:solidFill>
                  <a:srgbClr val="3B82F6"/>
                </a:solidFill>
                <a:latin typeface="Calibri" pitchFamily="34" charset="0"/>
                <a:ea typeface="Calibri" pitchFamily="34" charset="-122"/>
                <a:cs typeface="Calibri" pitchFamily="34" charset="-120"/>
              </a:rPr>
              <a:t>Part 1 — Startup tiers</a:t>
            </a:r>
            <a:endParaRPr lang="en-US" sz="1000" dirty="0"/>
          </a:p>
        </p:txBody>
      </p:sp>
      <p:sp>
        <p:nvSpPr>
          <p:cNvPr id="28" name="Shape 26"/>
          <p:cNvSpPr/>
          <p:nvPr/>
        </p:nvSpPr>
        <p:spPr>
          <a:xfrm>
            <a:off x="3182112" y="4069080"/>
            <a:ext cx="201168" cy="201168"/>
          </a:xfrm>
          <a:prstGeom prst="rect">
            <a:avLst/>
          </a:prstGeom>
          <a:solidFill>
            <a:srgbClr val="10B981"/>
          </a:solidFill>
          <a:ln w="12700">
            <a:solidFill>
              <a:srgbClr val="10B981"/>
            </a:solidFill>
            <a:prstDash val="solid"/>
          </a:ln>
        </p:spPr>
        <p:txBody>
          <a:bodyPr/>
          <a:lstStyle/>
          <a:p>
            <a:endParaRPr lang="en-US"/>
          </a:p>
        </p:txBody>
      </p:sp>
      <p:sp>
        <p:nvSpPr>
          <p:cNvPr id="29" name="Text 27"/>
          <p:cNvSpPr/>
          <p:nvPr/>
        </p:nvSpPr>
        <p:spPr>
          <a:xfrm>
            <a:off x="3438144" y="4059936"/>
            <a:ext cx="2468880" cy="219456"/>
          </a:xfrm>
          <a:prstGeom prst="rect">
            <a:avLst/>
          </a:prstGeom>
          <a:noFill/>
          <a:ln/>
        </p:spPr>
        <p:txBody>
          <a:bodyPr wrap="square" lIns="0" tIns="0" rIns="0" bIns="0" rtlCol="0" anchor="ctr"/>
          <a:lstStyle/>
          <a:p>
            <a:pPr marL="0" indent="0" algn="l">
              <a:buNone/>
            </a:pPr>
            <a:r>
              <a:rPr lang="en-US" sz="1000" dirty="0">
                <a:solidFill>
                  <a:srgbClr val="10B981"/>
                </a:solidFill>
                <a:latin typeface="Calibri" pitchFamily="34" charset="0"/>
                <a:ea typeface="Calibri" pitchFamily="34" charset="-122"/>
                <a:cs typeface="Calibri" pitchFamily="34" charset="-120"/>
              </a:rPr>
              <a:t>Part 2 — N-1 cuts loop</a:t>
            </a:r>
            <a:endParaRPr lang="en-US" sz="1000" dirty="0"/>
          </a:p>
        </p:txBody>
      </p:sp>
      <p:sp>
        <p:nvSpPr>
          <p:cNvPr id="30" name="Shape 28"/>
          <p:cNvSpPr/>
          <p:nvPr/>
        </p:nvSpPr>
        <p:spPr>
          <a:xfrm>
            <a:off x="6108192" y="4069080"/>
            <a:ext cx="201168" cy="201168"/>
          </a:xfrm>
          <a:prstGeom prst="rect">
            <a:avLst/>
          </a:prstGeom>
          <a:solidFill>
            <a:srgbClr val="F59E0B"/>
          </a:solidFill>
          <a:ln w="12700">
            <a:solidFill>
              <a:srgbClr val="F59E0B"/>
            </a:solidFill>
            <a:prstDash val="solid"/>
          </a:ln>
        </p:spPr>
        <p:txBody>
          <a:bodyPr/>
          <a:lstStyle/>
          <a:p>
            <a:endParaRPr lang="en-US"/>
          </a:p>
        </p:txBody>
      </p:sp>
      <p:sp>
        <p:nvSpPr>
          <p:cNvPr id="31" name="Text 29"/>
          <p:cNvSpPr/>
          <p:nvPr/>
        </p:nvSpPr>
        <p:spPr>
          <a:xfrm>
            <a:off x="6364224" y="4059936"/>
            <a:ext cx="2468880" cy="219456"/>
          </a:xfrm>
          <a:prstGeom prst="rect">
            <a:avLst/>
          </a:prstGeom>
          <a:noFill/>
          <a:ln/>
        </p:spPr>
        <p:txBody>
          <a:bodyPr wrap="square" lIns="0" tIns="0" rIns="0" bIns="0" rtlCol="0" anchor="ctr"/>
          <a:lstStyle/>
          <a:p>
            <a:pPr marL="0" indent="0" algn="l">
              <a:buNone/>
            </a:pPr>
            <a:r>
              <a:rPr lang="en-US" sz="1000" dirty="0">
                <a:solidFill>
                  <a:srgbClr val="F59E0B"/>
                </a:solidFill>
                <a:latin typeface="Calibri" pitchFamily="34" charset="0"/>
                <a:ea typeface="Calibri" pitchFamily="34" charset="-122"/>
                <a:cs typeface="Calibri" pitchFamily="34" charset="-120"/>
              </a:rPr>
              <a:t>Part 3 — Market analysis</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8B5CF6"/>
          </a:solidFill>
          <a:ln w="12700">
            <a:solidFill>
              <a:srgbClr val="8B5CF6"/>
            </a:solidFill>
            <a:prstDash val="solid"/>
          </a:ln>
        </p:spPr>
        <p:txBody>
          <a:bodyPr/>
          <a:lstStyle/>
          <a:p>
            <a:endParaRPr lang="en-US"/>
          </a:p>
        </p:txBody>
      </p:sp>
      <p:sp>
        <p:nvSpPr>
          <p:cNvPr id="3" name="Text 1"/>
          <p:cNvSpPr/>
          <p:nvPr/>
        </p:nvSpPr>
        <p:spPr>
          <a:xfrm>
            <a:off x="457200" y="292608"/>
            <a:ext cx="8229600" cy="566928"/>
          </a:xfrm>
          <a:prstGeom prst="rect">
            <a:avLst/>
          </a:prstGeom>
          <a:noFill/>
          <a:ln/>
        </p:spPr>
        <p:txBody>
          <a:bodyPr wrap="square" lIns="0" tIns="0" rIns="0" bIns="0" rtlCol="0" anchor="ctr"/>
          <a:lstStyle/>
          <a:p>
            <a:pPr marL="0" indent="0" algn="l">
              <a:buNone/>
            </a:pPr>
            <a:r>
              <a:rPr lang="en-US" sz="2800" b="1" dirty="0">
                <a:solidFill>
                  <a:srgbClr val="1E2761"/>
                </a:solidFill>
                <a:latin typeface="Cambria" pitchFamily="34" charset="0"/>
                <a:ea typeface="Cambria" pitchFamily="34" charset="-122"/>
                <a:cs typeface="Cambria" pitchFamily="34" charset="-120"/>
              </a:rPr>
              <a:t>Rigorous Test Coverage — 22 Tests, All Passing</a:t>
            </a:r>
            <a:endParaRPr lang="en-US" sz="2800" dirty="0"/>
          </a:p>
        </p:txBody>
      </p:sp>
      <p:sp>
        <p:nvSpPr>
          <p:cNvPr id="4" name="Shape 2"/>
          <p:cNvSpPr/>
          <p:nvPr/>
        </p:nvSpPr>
        <p:spPr>
          <a:xfrm>
            <a:off x="457200" y="932688"/>
            <a:ext cx="8229600" cy="20117"/>
          </a:xfrm>
          <a:prstGeom prst="rect">
            <a:avLst/>
          </a:prstGeom>
          <a:solidFill>
            <a:srgbClr val="E2E8F0"/>
          </a:solidFill>
          <a:ln w="12700">
            <a:solidFill>
              <a:srgbClr val="E2E8F0"/>
            </a:solidFill>
            <a:prstDash val="solid"/>
          </a:ln>
        </p:spPr>
        <p:txBody>
          <a:bodyPr/>
          <a:lstStyle/>
          <a:p>
            <a:endParaRPr lang="en-US"/>
          </a:p>
        </p:txBody>
      </p:sp>
      <p:sp>
        <p:nvSpPr>
          <p:cNvPr id="5" name="Text 3"/>
          <p:cNvSpPr/>
          <p:nvPr/>
        </p:nvSpPr>
        <p:spPr>
          <a:xfrm>
            <a:off x="457200" y="1005840"/>
            <a:ext cx="3977640" cy="347472"/>
          </a:xfrm>
          <a:prstGeom prst="rect">
            <a:avLst/>
          </a:prstGeom>
          <a:noFill/>
          <a:ln/>
        </p:spPr>
        <p:txBody>
          <a:bodyPr wrap="square" lIns="0" tIns="0" rIns="0" bIns="0" rtlCol="0" anchor="ctr"/>
          <a:lstStyle/>
          <a:p>
            <a:pPr marL="0" indent="0" algn="l">
              <a:buNone/>
            </a:pPr>
            <a:r>
              <a:rPr lang="en-US" sz="1250" b="1" dirty="0">
                <a:solidFill>
                  <a:srgbClr val="3B82F6"/>
                </a:solidFill>
                <a:latin typeface="Cambria" pitchFamily="34" charset="0"/>
                <a:ea typeface="Cambria" pitchFamily="34" charset="-122"/>
                <a:cs typeface="Cambria" pitchFamily="34" charset="-120"/>
              </a:rPr>
              <a:t>Part 1  ·  test_startup_tiers.py  (13 tests)</a:t>
            </a:r>
            <a:endParaRPr lang="en-US" sz="1250" dirty="0"/>
          </a:p>
        </p:txBody>
      </p:sp>
      <p:sp>
        <p:nvSpPr>
          <p:cNvPr id="6" name="Text 4"/>
          <p:cNvSpPr/>
          <p:nvPr/>
        </p:nvSpPr>
        <p:spPr>
          <a:xfrm>
            <a:off x="457200" y="1389888"/>
            <a:ext cx="3977640" cy="3291840"/>
          </a:xfrm>
          <a:prstGeom prst="rect">
            <a:avLst/>
          </a:prstGeom>
          <a:noFill/>
          <a:ln/>
        </p:spPr>
        <p:txBody>
          <a:bodyPr wrap="square" rtlCol="0" anchor="t"/>
          <a:lstStyle/>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No δ variable for single-tier model (structural)</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Correct variable count for multi-tier</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Σ δ[g,s,t] = v[g,t] at optimality (algebraic)</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Pre-horizon hot / warm / cold tier selection</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Boundary: exactly Tᵊs hours offline → correct tier</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In-horizon hot start (switch-off within window)</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Equal delays → that tier is always zero</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Economic: warm = hot + $300 exactly</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Economic: cold = warm + $500 exactly</a:t>
            </a:r>
            <a:endParaRPr lang="en-US" sz="1100" dirty="0"/>
          </a:p>
        </p:txBody>
      </p:sp>
      <p:sp>
        <p:nvSpPr>
          <p:cNvPr id="7" name="Shape 5"/>
          <p:cNvSpPr/>
          <p:nvPr/>
        </p:nvSpPr>
        <p:spPr>
          <a:xfrm>
            <a:off x="4572000" y="978408"/>
            <a:ext cx="20117" cy="3840480"/>
          </a:xfrm>
          <a:prstGeom prst="rect">
            <a:avLst/>
          </a:prstGeom>
          <a:solidFill>
            <a:srgbClr val="E2E8F0"/>
          </a:solidFill>
          <a:ln w="12700">
            <a:solidFill>
              <a:srgbClr val="E2E8F0"/>
            </a:solidFill>
            <a:prstDash val="solid"/>
          </a:ln>
        </p:spPr>
        <p:txBody>
          <a:bodyPr/>
          <a:lstStyle/>
          <a:p>
            <a:endParaRPr lang="en-US"/>
          </a:p>
        </p:txBody>
      </p:sp>
      <p:sp>
        <p:nvSpPr>
          <p:cNvPr id="8" name="Text 6"/>
          <p:cNvSpPr/>
          <p:nvPr/>
        </p:nvSpPr>
        <p:spPr>
          <a:xfrm>
            <a:off x="4754880" y="1005840"/>
            <a:ext cx="3977640" cy="347472"/>
          </a:xfrm>
          <a:prstGeom prst="rect">
            <a:avLst/>
          </a:prstGeom>
          <a:noFill/>
          <a:ln/>
        </p:spPr>
        <p:txBody>
          <a:bodyPr wrap="square" lIns="0" tIns="0" rIns="0" bIns="0" rtlCol="0" anchor="ctr"/>
          <a:lstStyle/>
          <a:p>
            <a:pPr marL="0" indent="0" algn="l">
              <a:buNone/>
            </a:pPr>
            <a:r>
              <a:rPr lang="en-US" sz="1250" b="1" dirty="0">
                <a:solidFill>
                  <a:srgbClr val="10B981"/>
                </a:solidFill>
                <a:latin typeface="Cambria" pitchFamily="34" charset="0"/>
                <a:ea typeface="Cambria" pitchFamily="34" charset="-122"/>
                <a:cs typeface="Cambria" pitchFamily="34" charset="-120"/>
              </a:rPr>
              <a:t>Part 2  ·  test_n1_security.py  (9 tests)</a:t>
            </a:r>
            <a:endParaRPr lang="en-US" sz="1250" dirty="0"/>
          </a:p>
        </p:txBody>
      </p:sp>
      <p:sp>
        <p:nvSpPr>
          <p:cNvPr id="9" name="Text 7"/>
          <p:cNvSpPr/>
          <p:nvPr/>
        </p:nvSpPr>
        <p:spPr>
          <a:xfrm>
            <a:off x="4754880" y="1389888"/>
            <a:ext cx="3977640" cy="3291840"/>
          </a:xfrm>
          <a:prstGeom prst="rect">
            <a:avLst/>
          </a:prstGeom>
          <a:noFill/>
          <a:ln/>
        </p:spPr>
        <p:txBody>
          <a:bodyPr wrap="square" rtlCol="0" anchor="t"/>
          <a:lstStyle/>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n1_overflow keyset matches expected shape</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Cut list empty before first solve</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LODF matrix shape: (n_branches × n_branches)</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Convergence within max_iter</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Stats dict fully populated; last iter = 0 violations</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Constraints added ≤ max possible</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Post-solve N-1 feasibility verified numerically</a:t>
            </a:r>
            <a:endParaRPr lang="en-US" sz="1100" dirty="0"/>
          </a:p>
          <a:p>
            <a:pPr marL="342900" indent="-342900">
              <a:spcAft>
                <a:spcPts val="400"/>
              </a:spcAft>
              <a:buSzPct val="100000"/>
              <a:buChar char="•"/>
            </a:pPr>
            <a:r>
              <a:rPr lang="en-US" sz="1100" dirty="0">
                <a:solidFill>
                  <a:srgbClr val="475569"/>
                </a:solidFill>
                <a:latin typeface="Calibri" pitchFamily="34" charset="0"/>
                <a:ea typeface="Calibri" pitchFamily="34" charset="-122"/>
                <a:cs typeface="Calibri" pitchFamily="34" charset="-120"/>
              </a:rPr>
              <a:t>Cutting-plane cost = full model cost (±$1)</a:t>
            </a:r>
            <a:endParaRPr lang="en-US" sz="1100" dirty="0"/>
          </a:p>
          <a:p>
            <a:pPr marL="342900" indent="-342900">
              <a:buSzPct val="100000"/>
              <a:buChar char="•"/>
            </a:pPr>
            <a:r>
              <a:rPr lang="en-US" sz="1100" dirty="0">
                <a:solidFill>
                  <a:srgbClr val="475569"/>
                </a:solidFill>
                <a:latin typeface="Calibri" pitchFamily="34" charset="0"/>
                <a:ea typeface="Calibri" pitchFamily="34" charset="-122"/>
                <a:cs typeface="Calibri" pitchFamily="34" charset="-120"/>
              </a:rPr>
              <a:t>Cutting-plane adds strictly fewer constraints than full model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Conclusion">
    <p:bg>
      <p:bgPr>
        <a:solidFill>
          <a:srgbClr val="1E2761"/>
        </a:solidFill>
        <a:effectLst/>
      </p:bgPr>
    </p:bg>
    <p:spTree>
      <p:nvGrpSpPr>
        <p:cNvPr id="1" name=""/>
        <p:cNvGrpSpPr/>
        <p:nvPr/>
      </p:nvGrpSpPr>
      <p:grpSpPr>
        <a:xfrm>
          <a:off x="0" y="0"/>
          <a:ext cx="0" cy="0"/>
          <a:chOff x="0" y="0"/>
          <a:chExt cx="0" cy="0"/>
        </a:xfrm>
      </p:grpSpPr>
      <p:sp>
        <p:nvSpPr>
          <p:cNvPr id="2" name="LeftBar"/>
          <p:cNvSpPr/>
          <p:nvPr/>
        </p:nvSpPr>
        <p:spPr>
          <a:xfrm>
            <a:off x="0" y="0"/>
            <a:ext cx="64008" cy="5143500"/>
          </a:xfrm>
          <a:prstGeom prst="rect">
            <a:avLst/>
          </a:prstGeom>
          <a:solidFill>
            <a:srgbClr val="4FA8D8"/>
          </a:solidFill>
          <a:ln w="12700">
            <a:solidFill>
              <a:srgbClr val="4FA8D8"/>
            </a:solidFill>
            <a:prstDash val="solid"/>
          </a:ln>
        </p:spPr>
        <p:txBody>
          <a:bodyPr/>
          <a:lstStyle/>
          <a:p>
            <a:endParaRPr lang="en-US"/>
          </a:p>
        </p:txBody>
      </p:sp>
      <p:sp>
        <p:nvSpPr>
          <p:cNvPr id="3" name="Footer"/>
          <p:cNvSpPr/>
          <p:nvPr/>
        </p:nvSpPr>
        <p:spPr>
          <a:xfrm>
            <a:off x="0" y="4434840"/>
            <a:ext cx="9144000" cy="708660"/>
          </a:xfrm>
          <a:prstGeom prst="rect">
            <a:avLst/>
          </a:prstGeom>
          <a:solidFill>
            <a:srgbClr val="2D4A8A"/>
          </a:solidFill>
          <a:ln w="12700">
            <a:solidFill>
              <a:srgbClr val="2D4A8A"/>
            </a:solidFill>
            <a:prstDash val="solid"/>
          </a:ln>
        </p:spPr>
        <p:txBody>
          <a:bodyPr/>
          <a:lstStyle/>
          <a:p>
            <a:endParaRPr lang="en-US"/>
          </a:p>
        </p:txBody>
      </p:sp>
      <p:sp>
        <p:nvSpPr>
          <p:cNvPr id="4" name="Title"/>
          <p:cNvSpPr/>
          <p:nvPr/>
        </p:nvSpPr>
        <p:spPr>
          <a:xfrm>
            <a:off x="457200" y="256032"/>
            <a:ext cx="8229600" cy="566928"/>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Conclusion</a:t>
            </a:r>
            <a:endParaRPr lang="en-US" sz="2800" dirty="0"/>
          </a:p>
        </p:txBody>
      </p:sp>
      <p:sp>
        <p:nvSpPr>
          <p:cNvPr id="5" name="Body"/>
          <p:cNvSpPr/>
          <p:nvPr/>
        </p:nvSpPr>
        <p:spPr>
          <a:xfrm>
            <a:off x="457200" y="880000"/>
            <a:ext cx="8229600" cy="3510000"/>
          </a:xfrm>
          <a:prstGeom prst="rect">
            <a:avLst/>
          </a:prstGeom>
          <a:noFill/>
          <a:ln/>
        </p:spPr>
        <p:txBody>
          <a:bodyPr wrap="square" lIns="0" tIns="0" rIns="0" bIns="0" rtlCol="0" anchor="t"/>
          <a:lstStyle/>
          <a:p>
            <a:pPr marL="0" indent="0" algn="l">
              <a:spcAft>
                <a:spcPts val="500"/>
              </a:spcAft>
              <a:buNone/>
            </a:pPr>
            <a:r>
              <a:rPr lang="en-US" sz="1150" i="1" dirty="0">
                <a:solidFill>
                  <a:srgbClr val="CADCFC"/>
                </a:solidFill>
                <a:latin typeface="Calibri" pitchFamily="34" charset="0"/>
                <a:ea typeface="Calibri" pitchFamily="34" charset="-122"/>
                <a:cs typeface="Calibri" pitchFamily="34" charset="-120"/>
              </a:rPr>
              <a:t>Three simulator upgrades — each targeting a specific pricing distortion.</a:t>
            </a:r>
            <a:endParaRPr lang="en-US" sz="1150" dirty="0"/>
          </a:p>
          <a:p>
            <a:pPr marL="0" indent="0" algn="l">
              <a:spcAft>
                <a:spcPts val="200"/>
              </a:spcAft>
              <a:buNone/>
            </a:pPr>
            <a:r>
              <a:rPr lang="en-US" sz="1250" b="1" dirty="0">
                <a:solidFill>
                  <a:srgbClr val="3B82F6"/>
                </a:solidFill>
                <a:latin typeface="Calibri" pitchFamily="34" charset="0"/>
                <a:ea typeface="Calibri" pitchFamily="34" charset="-122"/>
                <a:cs typeface="Calibri" pitchFamily="34" charset="-120"/>
              </a:rPr>
              <a:t>Part 1 — Startup costs corrected.  </a:t>
            </a:r>
            <a:r>
              <a:rPr lang="en-US" sz="1200" dirty="0">
                <a:solidFill>
                  <a:srgbClr val="FFFFFF"/>
                </a:solidFill>
                <a:latin typeface="Calibri" pitchFamily="34" charset="0"/>
                <a:ea typeface="Calibri" pitchFamily="34" charset="-122"/>
                <a:cs typeface="Calibri" pitchFamily="34" charset="-120"/>
              </a:rPr>
              <a:t>Cold restart were under priced by the flat model. Corrected cost: $649,871 total, 10/24 units committed.</a:t>
            </a:r>
            <a:endParaRPr lang="en-US" sz="1200" dirty="0"/>
          </a:p>
          <a:p>
            <a:pPr marL="0" indent="0" algn="l">
              <a:spcAft>
                <a:spcPts val="500"/>
              </a:spcAft>
              <a:buNone/>
            </a:pPr>
            <a:endParaRPr lang="en-US" sz="700" dirty="0"/>
          </a:p>
          <a:p>
            <a:pPr marL="0" indent="0" algn="l">
              <a:spcAft>
                <a:spcPts val="200"/>
              </a:spcAft>
              <a:buNone/>
            </a:pPr>
            <a:r>
              <a:rPr lang="en-US" sz="1250" b="1" dirty="0">
                <a:solidFill>
                  <a:srgbClr val="10B981"/>
                </a:solidFill>
                <a:latin typeface="Calibri" pitchFamily="34" charset="0"/>
                <a:ea typeface="Calibri" pitchFamily="34" charset="-122"/>
                <a:cs typeface="Calibri" pitchFamily="34" charset="-120"/>
              </a:rPr>
              <a:t>Part 2 — N-1 security, efficiently.  </a:t>
            </a:r>
            <a:r>
              <a:rPr lang="en-US" sz="1200" dirty="0">
                <a:solidFill>
                  <a:srgbClr val="FFFFFF"/>
                </a:solidFill>
                <a:latin typeface="Calibri" pitchFamily="34" charset="0"/>
                <a:ea typeface="Calibri" pitchFamily="34" charset="-122"/>
                <a:cs typeface="Calibri" pitchFamily="34" charset="-120"/>
              </a:rPr>
              <a:t>14,592 possible constraints → 32 added in 2 iterations (0.22%). Full N-1 feasibility at $657,811 — a $7,941 security premium.</a:t>
            </a:r>
            <a:endParaRPr lang="en-US" sz="1200" dirty="0"/>
          </a:p>
          <a:p>
            <a:pPr marL="0" indent="0" algn="l">
              <a:spcAft>
                <a:spcPts val="500"/>
              </a:spcAft>
              <a:buNone/>
            </a:pPr>
            <a:endParaRPr lang="en-US" sz="700" dirty="0"/>
          </a:p>
          <a:p>
            <a:pPr marL="0" indent="0" algn="l">
              <a:spcAft>
                <a:spcPts val="200"/>
              </a:spcAft>
              <a:buNone/>
            </a:pPr>
            <a:r>
              <a:rPr lang="en-US" sz="1250" b="1" dirty="0">
                <a:solidFill>
                  <a:srgbClr val="F59E0B"/>
                </a:solidFill>
                <a:latin typeface="Calibri" pitchFamily="34" charset="0"/>
                <a:ea typeface="Calibri" pitchFamily="34" charset="-122"/>
                <a:cs typeface="Calibri" pitchFamily="34" charset="-120"/>
              </a:rPr>
              <a:t>Part 3 — Correct LMPs extracted.  </a:t>
            </a:r>
            <a:r>
              <a:rPr lang="en-US" sz="1200" dirty="0">
                <a:solidFill>
                  <a:srgbClr val="FFFFFF"/>
                </a:solidFill>
                <a:latin typeface="Calibri" pitchFamily="34" charset="0"/>
                <a:ea typeface="Calibri" pitchFamily="34" charset="-122"/>
                <a:cs typeface="Calibri" pitchFamily="34" charset="-120"/>
              </a:rPr>
              <a:t>Fix-and-re-solve restores LP duality: $18.24 avg LMP, 13.64× peak/off-peak ratio, $17.25/MWh north–south spread — six actionable trading signals.</a:t>
            </a:r>
            <a:endParaRPr lang="en-US" sz="1200" dirty="0"/>
          </a:p>
          <a:p>
            <a:pPr marL="0" indent="0" algn="l">
              <a:spcAft>
                <a:spcPts val="600"/>
              </a:spcAft>
              <a:buNone/>
            </a:pPr>
            <a:endParaRPr lang="en-US" sz="700" dirty="0"/>
          </a:p>
          <a:p>
            <a:pPr marL="0" indent="0" algn="l">
              <a:buNone/>
            </a:pPr>
            <a:r>
              <a:rPr lang="en-US" sz="1150" i="1" dirty="0">
                <a:solidFill>
                  <a:srgbClr val="CADCFC"/>
                </a:solidFill>
                <a:latin typeface="Calibri" pitchFamily="34" charset="0"/>
                <a:ea typeface="Calibri" pitchFamily="34" charset="-122"/>
                <a:cs typeface="Calibri" pitchFamily="34" charset="-120"/>
              </a:rPr>
              <a:t>The simulator now produces prices grounded in real grid economics — a credible foundation for LMP forecasting and trading alpha.</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4FA8D8"/>
          </a:solidFill>
          <a:ln w="12700">
            <a:solidFill>
              <a:srgbClr val="4FA8D8"/>
            </a:solidFill>
            <a:prstDash val="solid"/>
          </a:ln>
        </p:spPr>
        <p:txBody>
          <a:bodyPr/>
          <a:lstStyle/>
          <a:p>
            <a:endParaRPr lang="en-US"/>
          </a:p>
        </p:txBody>
      </p:sp>
      <p:sp>
        <p:nvSpPr>
          <p:cNvPr id="3" name="Shape 1"/>
          <p:cNvSpPr/>
          <p:nvPr/>
        </p:nvSpPr>
        <p:spPr>
          <a:xfrm>
            <a:off x="0" y="4434840"/>
            <a:ext cx="9144000" cy="708660"/>
          </a:xfrm>
          <a:prstGeom prst="rect">
            <a:avLst/>
          </a:prstGeom>
          <a:solidFill>
            <a:srgbClr val="2D4A8A"/>
          </a:solidFill>
          <a:ln w="12700">
            <a:solidFill>
              <a:srgbClr val="2D4A8A"/>
            </a:solidFill>
            <a:prstDash val="solid"/>
          </a:ln>
        </p:spPr>
        <p:txBody>
          <a:bodyPr/>
          <a:lstStyle/>
          <a:p>
            <a:endParaRPr lang="en-US"/>
          </a:p>
        </p:txBody>
      </p:sp>
      <p:sp>
        <p:nvSpPr>
          <p:cNvPr id="4" name="Text 2"/>
          <p:cNvSpPr/>
          <p:nvPr/>
        </p:nvSpPr>
        <p:spPr>
          <a:xfrm>
            <a:off x="457200" y="256032"/>
            <a:ext cx="8229600" cy="566928"/>
          </a:xfrm>
          <a:prstGeom prst="rect">
            <a:avLst/>
          </a:prstGeom>
          <a:noFill/>
          <a:ln/>
        </p:spPr>
        <p:txBody>
          <a:bodyPr wrap="square" lIns="0" tIns="0" rIns="0" bIns="0" rtlCol="0" anchor="ctr"/>
          <a:lstStyle/>
          <a:p>
            <a:pPr marL="0" indent="0" algn="l">
              <a:buNone/>
            </a:pPr>
            <a:r>
              <a:rPr lang="en-US" sz="2800" b="1" dirty="0">
                <a:solidFill>
                  <a:srgbClr val="FFFFFF"/>
                </a:solidFill>
                <a:latin typeface="Cambria" pitchFamily="34" charset="0"/>
                <a:ea typeface="Cambria" pitchFamily="34" charset="-122"/>
                <a:cs typeface="Cambria" pitchFamily="34" charset="-120"/>
              </a:rPr>
              <a:t>Delivered</a:t>
            </a:r>
            <a:endParaRPr lang="en-US" sz="2800" dirty="0"/>
          </a:p>
        </p:txBody>
      </p:sp>
      <p:sp>
        <p:nvSpPr>
          <p:cNvPr id="5" name="Shape 3"/>
          <p:cNvSpPr/>
          <p:nvPr/>
        </p:nvSpPr>
        <p:spPr>
          <a:xfrm>
            <a:off x="502920" y="987552"/>
            <a:ext cx="329184" cy="329184"/>
          </a:xfrm>
          <a:prstGeom prst="ellipse">
            <a:avLst/>
          </a:prstGeom>
          <a:solidFill>
            <a:srgbClr val="3B82F6"/>
          </a:solidFill>
          <a:ln w="12700">
            <a:solidFill>
              <a:srgbClr val="3B82F6"/>
            </a:solidFill>
            <a:prstDash val="solid"/>
          </a:ln>
        </p:spPr>
        <p:txBody>
          <a:bodyPr/>
          <a:lstStyle/>
          <a:p>
            <a:endParaRPr lang="en-US"/>
          </a:p>
        </p:txBody>
      </p:sp>
      <p:sp>
        <p:nvSpPr>
          <p:cNvPr id="6" name="Text 4"/>
          <p:cNvSpPr/>
          <p:nvPr/>
        </p:nvSpPr>
        <p:spPr>
          <a:xfrm>
            <a:off x="502920" y="987552"/>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p:nvPr/>
        </p:nvSpPr>
        <p:spPr>
          <a:xfrm>
            <a:off x="978408" y="987552"/>
            <a:ext cx="7772400" cy="329184"/>
          </a:xfrm>
          <a:prstGeom prst="rect">
            <a:avLst/>
          </a:prstGeom>
          <a:noFill/>
          <a:ln/>
        </p:spPr>
        <p:txBody>
          <a:bodyPr wrap="square" lIns="0" tIns="0" rIns="0" bIns="0" rtlCol="0" anchor="ctr"/>
          <a:lstStyle/>
          <a:p>
            <a:pPr marL="0" indent="0" algn="l">
              <a:buNone/>
            </a:pPr>
            <a:r>
              <a:rPr lang="en-US" sz="1350" dirty="0">
                <a:solidFill>
                  <a:srgbClr val="FFFFFF"/>
                </a:solidFill>
                <a:latin typeface="Calibri" pitchFamily="34" charset="0"/>
                <a:ea typeface="Calibri" pitchFamily="34" charset="-122"/>
                <a:cs typeface="Calibri" pitchFamily="34" charset="-120"/>
              </a:rPr>
              <a:t>Part 1: Tiered startup costs — $649,871 total cost, 10/24 units, ISO-standard formulation</a:t>
            </a:r>
            <a:endParaRPr lang="en-US" sz="1350" dirty="0"/>
          </a:p>
        </p:txBody>
      </p:sp>
      <p:sp>
        <p:nvSpPr>
          <p:cNvPr id="8" name="Shape 6"/>
          <p:cNvSpPr/>
          <p:nvPr/>
        </p:nvSpPr>
        <p:spPr>
          <a:xfrm>
            <a:off x="502920" y="1645920"/>
            <a:ext cx="329184" cy="329184"/>
          </a:xfrm>
          <a:prstGeom prst="ellipse">
            <a:avLst/>
          </a:prstGeom>
          <a:solidFill>
            <a:srgbClr val="10B981"/>
          </a:solidFill>
          <a:ln w="12700">
            <a:solidFill>
              <a:srgbClr val="10B981"/>
            </a:solidFill>
            <a:prstDash val="solid"/>
          </a:ln>
        </p:spPr>
        <p:txBody>
          <a:bodyPr/>
          <a:lstStyle/>
          <a:p>
            <a:endParaRPr lang="en-US"/>
          </a:p>
        </p:txBody>
      </p:sp>
      <p:sp>
        <p:nvSpPr>
          <p:cNvPr id="9" name="Text 7"/>
          <p:cNvSpPr/>
          <p:nvPr/>
        </p:nvSpPr>
        <p:spPr>
          <a:xfrm>
            <a:off x="502920" y="1645920"/>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0" name="Text 8"/>
          <p:cNvSpPr/>
          <p:nvPr/>
        </p:nvSpPr>
        <p:spPr>
          <a:xfrm>
            <a:off x="978408" y="1645920"/>
            <a:ext cx="7772400" cy="329184"/>
          </a:xfrm>
          <a:prstGeom prst="rect">
            <a:avLst/>
          </a:prstGeom>
          <a:noFill/>
          <a:ln/>
        </p:spPr>
        <p:txBody>
          <a:bodyPr wrap="square" lIns="0" tIns="0" rIns="0" bIns="0" rtlCol="0" anchor="ctr"/>
          <a:lstStyle/>
          <a:p>
            <a:pPr marL="0" indent="0" algn="l">
              <a:buNone/>
            </a:pPr>
            <a:r>
              <a:rPr lang="en-US" sz="1350" dirty="0">
                <a:solidFill>
                  <a:srgbClr val="FFFFFF"/>
                </a:solidFill>
                <a:latin typeface="Calibri" pitchFamily="34" charset="0"/>
                <a:ea typeface="Calibri" pitchFamily="34" charset="-122"/>
                <a:cs typeface="Calibri" pitchFamily="34" charset="-120"/>
              </a:rPr>
              <a:t>Part 2: N-1 security — $657,811 (+$7,941), 2 iterations, 32 cuts of 14,592 (0.22%)</a:t>
            </a:r>
            <a:endParaRPr lang="en-US" sz="1350" dirty="0"/>
          </a:p>
        </p:txBody>
      </p:sp>
      <p:sp>
        <p:nvSpPr>
          <p:cNvPr id="11" name="Shape 9"/>
          <p:cNvSpPr/>
          <p:nvPr/>
        </p:nvSpPr>
        <p:spPr>
          <a:xfrm>
            <a:off x="502920" y="2304288"/>
            <a:ext cx="329184" cy="329184"/>
          </a:xfrm>
          <a:prstGeom prst="ellipse">
            <a:avLst/>
          </a:prstGeom>
          <a:solidFill>
            <a:srgbClr val="F59E0B"/>
          </a:solidFill>
          <a:ln w="12700">
            <a:solidFill>
              <a:srgbClr val="F59E0B"/>
            </a:solidFill>
            <a:prstDash val="solid"/>
          </a:ln>
        </p:spPr>
        <p:txBody>
          <a:bodyPr/>
          <a:lstStyle/>
          <a:p>
            <a:endParaRPr lang="en-US"/>
          </a:p>
        </p:txBody>
      </p:sp>
      <p:sp>
        <p:nvSpPr>
          <p:cNvPr id="12" name="Text 10"/>
          <p:cNvSpPr/>
          <p:nvPr/>
        </p:nvSpPr>
        <p:spPr>
          <a:xfrm>
            <a:off x="502920" y="2304288"/>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1"/>
          <p:cNvSpPr/>
          <p:nvPr/>
        </p:nvSpPr>
        <p:spPr>
          <a:xfrm>
            <a:off x="978408" y="2304288"/>
            <a:ext cx="7772400" cy="329184"/>
          </a:xfrm>
          <a:prstGeom prst="rect">
            <a:avLst/>
          </a:prstGeom>
          <a:noFill/>
          <a:ln/>
        </p:spPr>
        <p:txBody>
          <a:bodyPr wrap="square" lIns="0" tIns="0" rIns="0" bIns="0" rtlCol="0" anchor="ctr"/>
          <a:lstStyle/>
          <a:p>
            <a:pPr marL="0" indent="0" algn="l">
              <a:buNone/>
            </a:pPr>
            <a:r>
              <a:rPr lang="en-US" sz="1350" dirty="0">
                <a:solidFill>
                  <a:srgbClr val="FFFFFF"/>
                </a:solidFill>
                <a:latin typeface="Calibri" pitchFamily="34" charset="0"/>
                <a:ea typeface="Calibri" pitchFamily="34" charset="-122"/>
                <a:cs typeface="Calibri" pitchFamily="34" charset="-120"/>
              </a:rPr>
              <a:t>Part 3: Market analysis — $18.24 avg LMP, 13.64× peak/off-peak, $17.25 spatial spread (B22→B3)</a:t>
            </a:r>
            <a:endParaRPr lang="en-US" sz="1350" dirty="0"/>
          </a:p>
        </p:txBody>
      </p:sp>
      <p:sp>
        <p:nvSpPr>
          <p:cNvPr id="14" name="Shape 12"/>
          <p:cNvSpPr/>
          <p:nvPr/>
        </p:nvSpPr>
        <p:spPr>
          <a:xfrm>
            <a:off x="502920" y="2962656"/>
            <a:ext cx="329184" cy="329184"/>
          </a:xfrm>
          <a:prstGeom prst="ellipse">
            <a:avLst/>
          </a:prstGeom>
          <a:solidFill>
            <a:srgbClr val="8B5CF6"/>
          </a:solidFill>
          <a:ln w="12700">
            <a:solidFill>
              <a:srgbClr val="8B5CF6"/>
            </a:solidFill>
            <a:prstDash val="solid"/>
          </a:ln>
        </p:spPr>
        <p:txBody>
          <a:bodyPr/>
          <a:lstStyle/>
          <a:p>
            <a:endParaRPr lang="en-US"/>
          </a:p>
        </p:txBody>
      </p:sp>
      <p:sp>
        <p:nvSpPr>
          <p:cNvPr id="15" name="Text 13"/>
          <p:cNvSpPr/>
          <p:nvPr/>
        </p:nvSpPr>
        <p:spPr>
          <a:xfrm>
            <a:off x="502920" y="2962656"/>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978408" y="2962656"/>
            <a:ext cx="7772400" cy="329184"/>
          </a:xfrm>
          <a:prstGeom prst="rect">
            <a:avLst/>
          </a:prstGeom>
          <a:noFill/>
          <a:ln/>
        </p:spPr>
        <p:txBody>
          <a:bodyPr wrap="square" lIns="0" tIns="0" rIns="0" bIns="0" rtlCol="0" anchor="ctr"/>
          <a:lstStyle/>
          <a:p>
            <a:pPr marL="0" indent="0" algn="l">
              <a:buNone/>
            </a:pPr>
            <a:r>
              <a:rPr lang="en-US" sz="1350" dirty="0">
                <a:solidFill>
                  <a:srgbClr val="FFFFFF"/>
                </a:solidFill>
                <a:latin typeface="Calibri" pitchFamily="34" charset="0"/>
                <a:ea typeface="Calibri" pitchFamily="34" charset="-122"/>
                <a:cs typeface="Calibri" pitchFamily="34" charset="-120"/>
              </a:rPr>
              <a:t>22 unit tests — all passing: structural, algebraic, economic, N-1 feasibility</a:t>
            </a:r>
            <a:endParaRPr lang="en-US" sz="1350" dirty="0"/>
          </a:p>
        </p:txBody>
      </p:sp>
      <p:sp>
        <p:nvSpPr>
          <p:cNvPr id="17" name="Shape 15"/>
          <p:cNvSpPr/>
          <p:nvPr/>
        </p:nvSpPr>
        <p:spPr>
          <a:xfrm>
            <a:off x="502920" y="3621024"/>
            <a:ext cx="329184" cy="329184"/>
          </a:xfrm>
          <a:prstGeom prst="ellipse">
            <a:avLst/>
          </a:prstGeom>
          <a:solidFill>
            <a:srgbClr val="0EA5E9"/>
          </a:solidFill>
          <a:ln w="12700">
            <a:solidFill>
              <a:srgbClr val="0EA5E9"/>
            </a:solidFill>
            <a:prstDash val="solid"/>
          </a:ln>
        </p:spPr>
        <p:txBody>
          <a:bodyPr/>
          <a:lstStyle/>
          <a:p>
            <a:endParaRPr lang="en-US"/>
          </a:p>
        </p:txBody>
      </p:sp>
      <p:sp>
        <p:nvSpPr>
          <p:cNvPr id="18" name="Text 16"/>
          <p:cNvSpPr/>
          <p:nvPr/>
        </p:nvSpPr>
        <p:spPr>
          <a:xfrm>
            <a:off x="502920" y="3621024"/>
            <a:ext cx="329184" cy="329184"/>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9" name="Text 17"/>
          <p:cNvSpPr/>
          <p:nvPr/>
        </p:nvSpPr>
        <p:spPr>
          <a:xfrm>
            <a:off x="978408" y="3621024"/>
            <a:ext cx="7772400" cy="329184"/>
          </a:xfrm>
          <a:prstGeom prst="rect">
            <a:avLst/>
          </a:prstGeom>
          <a:noFill/>
          <a:ln/>
        </p:spPr>
        <p:txBody>
          <a:bodyPr wrap="square" lIns="0" tIns="0" rIns="0" bIns="0" rtlCol="0" anchor="ctr"/>
          <a:lstStyle/>
          <a:p>
            <a:pPr marL="0" indent="0" algn="l">
              <a:buNone/>
            </a:pPr>
            <a:r>
              <a:rPr lang="en-US" sz="1350" dirty="0">
                <a:solidFill>
                  <a:srgbClr val="FFFFFF"/>
                </a:solidFill>
                <a:latin typeface="Calibri" pitchFamily="34" charset="0"/>
                <a:ea typeface="Calibri" pitchFamily="34" charset="-122"/>
                <a:cs typeface="Calibri" pitchFamily="34" charset="-120"/>
              </a:rPr>
              <a:t>Clean pipeline: read → build → solve → analyze → trade</a:t>
            </a:r>
            <a:endParaRPr lang="en-US" sz="1350" dirty="0"/>
          </a:p>
        </p:txBody>
      </p:sp>
      <p:sp>
        <p:nvSpPr>
          <p:cNvPr id="20" name="Text 18"/>
          <p:cNvSpPr/>
          <p:nvPr/>
        </p:nvSpPr>
        <p:spPr>
          <a:xfrm>
            <a:off x="502920" y="4471416"/>
            <a:ext cx="8138160" cy="530352"/>
          </a:xfrm>
          <a:prstGeom prst="rect">
            <a:avLst/>
          </a:prstGeom>
          <a:noFill/>
          <a:ln/>
        </p:spPr>
        <p:txBody>
          <a:bodyPr wrap="square" lIns="0" tIns="0" rIns="0" bIns="0" rtlCol="0" anchor="ctr"/>
          <a:lstStyle/>
          <a:p>
            <a:pPr marL="0" indent="0" algn="ctr">
              <a:buNone/>
            </a:pPr>
            <a:r>
              <a:rPr lang="en-US" sz="1900" dirty="0">
                <a:solidFill>
                  <a:srgbClr val="CADCFC"/>
                </a:solidFill>
                <a:latin typeface="Cambria" pitchFamily="34" charset="0"/>
                <a:ea typeface="Cambria" pitchFamily="34" charset="-122"/>
                <a:cs typeface="Cambria" pitchFamily="34" charset="-120"/>
              </a:rPr>
              <a:t>Questions?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1438</TotalTime>
  <Words>2580</Words>
  <Application>Microsoft Office PowerPoint</Application>
  <PresentationFormat>On-screen Show (16:9)</PresentationFormat>
  <Paragraphs>232</Paragraphs>
  <Slides>14</Slides>
  <Notes>14</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Cambria</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SCUC Technical Test — MAG Energy Solutions</dc:title>
  <dc:subject>PptxGenJS Presentation</dc:subject>
  <dc:creator>Candidate</dc:creator>
  <cp:lastModifiedBy>Salomon Bendayan</cp:lastModifiedBy>
  <cp:revision>6</cp:revision>
  <dcterms:created xsi:type="dcterms:W3CDTF">2026-06-03T15:08:29Z</dcterms:created>
  <dcterms:modified xsi:type="dcterms:W3CDTF">2026-06-04T15:37:48Z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63535f3-a261-44fa-a080-b5a7b0a48f70_Enabled">
    <vt:lpwstr>true</vt:lpwstr>
  </property>
  <property fmtid="{D5CDD505-2E9C-101B-9397-08002B2CF9AE}" pid="3" name="MSIP_Label_163535f3-a261-44fa-a080-b5a7b0a48f70_SetDate">
    <vt:lpwstr>2026-06-03T15:23:40Z</vt:lpwstr>
  </property>
  <property fmtid="{D5CDD505-2E9C-101B-9397-08002B2CF9AE}" pid="4" name="MSIP_Label_163535f3-a261-44fa-a080-b5a7b0a48f70_Method">
    <vt:lpwstr>Standard</vt:lpwstr>
  </property>
  <property fmtid="{D5CDD505-2E9C-101B-9397-08002B2CF9AE}" pid="5" name="MSIP_Label_163535f3-a261-44fa-a080-b5a7b0a48f70_Name">
    <vt:lpwstr>UKG DLP Protected</vt:lpwstr>
  </property>
  <property fmtid="{D5CDD505-2E9C-101B-9397-08002B2CF9AE}" pid="6" name="MSIP_Label_163535f3-a261-44fa-a080-b5a7b0a48f70_SiteId">
    <vt:lpwstr>7b6f35d2-1f98-4e5e-82eb-e78f6ea5a1de</vt:lpwstr>
  </property>
  <property fmtid="{D5CDD505-2E9C-101B-9397-08002B2CF9AE}" pid="7" name="MSIP_Label_163535f3-a261-44fa-a080-b5a7b0a48f70_ActionId">
    <vt:lpwstr>0c175439-62a0-4482-997a-16a4fa7fb18d</vt:lpwstr>
  </property>
  <property fmtid="{D5CDD505-2E9C-101B-9397-08002B2CF9AE}" pid="8" name="MSIP_Label_163535f3-a261-44fa-a080-b5a7b0a48f70_ContentBits">
    <vt:lpwstr>0</vt:lpwstr>
  </property>
  <property fmtid="{D5CDD505-2E9C-101B-9397-08002B2CF9AE}" pid="9" name="MSIP_Label_163535f3-a261-44fa-a080-b5a7b0a48f70_Tag">
    <vt:lpwstr>10, 3, 0, 1</vt:lpwstr>
  </property>
</Properties>
</file>
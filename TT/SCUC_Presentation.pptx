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I'll walk through my solution to the three-part SCUC technical test. I'll cover what I built, the key formulation decisions, and why each choice matters for accurate LMP forecasting. Total time: about 12 minutes, leaving 3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SCUC is what ISO operators run every day to schedule generators. Its outputs — the LMPs — are the prices that electricity traders trade against. If our simulator gets startup costs wrong, or ignores what happens when a line trips, our LMP forecasts will be systematically biased. That bias costs money. These three blind spots are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build on each other. Part 1 fixes the economics of the MILP — wrong startup costs lead to wrong unit cycling patterns. Part 2 adds the network security layer that ISOs require. Part 3 extracts market intelligence from the solution. Each part addresses a real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effect is key. The optimizer thinks cycling is cheap, so it cycles more than it should. That produces commitment decisions that real ISOs wouldn't make. And those wrong decisions flow through to wrong LMPs — which is exactly what we're trying to forecast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LP relaxation quality is the single most important factor in MILP solve time. Big-M formulations weaken it because the solver can't tell whether the integer constraint is nearly tight or very loose. In the window formulation, the RHS is a sum of binary variables — always between 0 and 1 — so the relaxation is as tight as possible without explicit branching. This is why ISO implementations use exactly this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N-1 security is non-negotiable — it's a regulatory requirement in every major North American market. But the scale is the challenge: 39 total branches, 8 contingencies, 38 monitored per contingency, 24 periods, 2 directions — equals 14,592 inequalities before we even start branching. The question is how to handle that efficiently.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measured numbers from our 24-bus run. Only 32 of 14,592 possible N-1 constraints were violated by the base solution — that's 0.22%. We converged in exactly 2 iterations. The N-1 security premium is $7,941, or 1.2% above the base cost. The algorithm is provably correct: at convergence, every post-contingency flow has been checked numerically against its emergency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fix-and-re-solve approach for LMPs is important to explain clearly. We take the optimal binary commitment pattern, fix those variables, and solve the resulting LP. The dual variables of that LP are the LMPs. This is exactly what ISOs do when they compute prices — they fix the commitment schedule and solve a pricing LP. So our approach is methodologically consistent with how real LMPs are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layered — read, build, solve, extract, analyze. Each layer has one job and is independently testable. The three new components drop cleanly into the existing pipeline without changing any interfaces. Part 1 lives inside the thermal block builder. Part 2 wraps the solve call. Part 3 is a pure post-processing step on the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highlight the last N-1 test — the equivalence check between cutting-plane and full model. This is more than a unit test: it's a correctness proof. If they produce the same objective, we know the cutting-plane hasn't approximated anything. That's an important property to be able to demonstrate to a quant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through-line in all four decisions is the same principle: choose the formulation that keeps the LP relaxation tight, because LP relaxation quality determines MILP solve time. Everything else — the cutting-plane, the fix-and-re-solve, the layering — is an application of 'do exactly as much work as necessary, and verify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all three parts are implemented, tested, and the numbers are in. Part 1: $649,871, no unnecessary cycling. Part 2: N-1 secure for $7,941 more, achieved in 2 iterations adding only 32 constraints — 0.22% of what the full model would require. Part 3: $18.24 average LMP, 13.64× temporal spread, $17.25 spatial spread — clear storage and FTR signals. I'm happy to go deep on any of this — the formulation math, the convergence proof, the test design, or the market analysis interpretation. What questions do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4FA8D8"/>
          </a:solidFill>
          <a:ln w="12700">
            <a:solidFill>
              <a:srgbClr val="4FA8D8"/>
            </a:solidFill>
            <a:prstDash val="solid"/>
          </a:ln>
        </p:spPr>
      </p:sp>
      <p:sp>
        <p:nvSpPr>
          <p:cNvPr id="3" name="Shape 1"/>
          <p:cNvSpPr/>
          <p:nvPr/>
        </p:nvSpPr>
        <p:spPr>
          <a:xfrm>
            <a:off x="0" y="4434840"/>
            <a:ext cx="9144000" cy="708660"/>
          </a:xfrm>
          <a:prstGeom prst="rect">
            <a:avLst/>
          </a:prstGeom>
          <a:solidFill>
            <a:srgbClr val="2D4A8A"/>
          </a:solidFill>
          <a:ln w="12700">
            <a:solidFill>
              <a:srgbClr val="2D4A8A"/>
            </a:solidFill>
            <a:prstDash val="solid"/>
          </a:ln>
        </p:spPr>
      </p:sp>
      <p:sp>
        <p:nvSpPr>
          <p:cNvPr id="4" name="Shape 2"/>
          <p:cNvSpPr/>
          <p:nvPr/>
        </p:nvSpPr>
        <p:spPr>
          <a:xfrm>
            <a:off x="7589520" y="0"/>
            <a:ext cx="1554480" cy="4434840"/>
          </a:xfrm>
          <a:prstGeom prst="rect">
            <a:avLst/>
          </a:prstGeom>
          <a:solidFill>
            <a:srgbClr val="1A3168"/>
          </a:solidFill>
          <a:ln w="12700">
            <a:solidFill>
              <a:srgbClr val="1A3168"/>
            </a:solidFill>
            <a:prstDash val="solid"/>
          </a:ln>
        </p:spPr>
      </p:sp>
      <p:sp>
        <p:nvSpPr>
          <p:cNvPr id="5" name="Shape 3"/>
          <p:cNvSpPr/>
          <p:nvPr/>
        </p:nvSpPr>
        <p:spPr>
          <a:xfrm>
            <a:off x="7589520" y="0"/>
            <a:ext cx="45720" cy="4434840"/>
          </a:xfrm>
          <a:prstGeom prst="rect">
            <a:avLst/>
          </a:prstGeom>
          <a:solidFill>
            <a:srgbClr val="4FA8D8"/>
          </a:solidFill>
          <a:ln w="12700">
            <a:solidFill>
              <a:srgbClr val="4FA8D8"/>
            </a:solidFill>
            <a:prstDash val="solid"/>
          </a:ln>
        </p:spPr>
      </p:sp>
      <p:sp>
        <p:nvSpPr>
          <p:cNvPr id="6" name="Text 4"/>
          <p:cNvSpPr/>
          <p:nvPr/>
        </p:nvSpPr>
        <p:spPr>
          <a:xfrm>
            <a:off x="502920" y="594360"/>
            <a:ext cx="6903720" cy="2011680"/>
          </a:xfrm>
          <a:prstGeom prst="rect">
            <a:avLst/>
          </a:prstGeom>
          <a:noFill/>
          <a:ln/>
        </p:spPr>
        <p:txBody>
          <a:bodyPr wrap="square" lIns="0" tIns="0" rIns="0" bIns="0" rtlCol="0" anchor="t"/>
          <a:lstStyle/>
          <a:p>
            <a:pPr algn="l" indent="0" marL="0">
              <a:buNone/>
            </a:pPr>
            <a:r>
              <a:rPr lang="en-US" sz="4200" b="1" dirty="0">
                <a:solidFill>
                  <a:srgbClr val="FFFFFF"/>
                </a:solidFill>
                <a:latin typeface="Cambria" pitchFamily="34" charset="0"/>
                <a:ea typeface="Cambria" pitchFamily="34" charset="-122"/>
                <a:cs typeface="Cambria" pitchFamily="34" charset="-120"/>
              </a:rPr>
              <a:t>Security-Constrained</a:t>
            </a:r>
            <a:endParaRPr lang="en-US" sz="4200" dirty="0"/>
          </a:p>
          <a:p>
            <a:pPr algn="l" indent="0" marL="0">
              <a:buNone/>
            </a:pPr>
            <a:r>
              <a:rPr lang="en-US" sz="4200" b="1" dirty="0">
                <a:solidFill>
                  <a:srgbClr val="FFFFFF"/>
                </a:solidFill>
                <a:latin typeface="Cambria" pitchFamily="34" charset="0"/>
                <a:ea typeface="Cambria" pitchFamily="34" charset="-122"/>
                <a:cs typeface="Cambria" pitchFamily="34" charset="-120"/>
              </a:rPr>
              <a:t>Unit Commitment</a:t>
            </a:r>
            <a:endParaRPr lang="en-US" sz="4200" dirty="0"/>
          </a:p>
        </p:txBody>
      </p:sp>
      <p:sp>
        <p:nvSpPr>
          <p:cNvPr id="7" name="Text 5"/>
          <p:cNvSpPr/>
          <p:nvPr/>
        </p:nvSpPr>
        <p:spPr>
          <a:xfrm>
            <a:off x="502920" y="2697480"/>
            <a:ext cx="6903720" cy="475488"/>
          </a:xfrm>
          <a:prstGeom prst="rect">
            <a:avLst/>
          </a:prstGeom>
          <a:noFill/>
          <a:ln/>
        </p:spPr>
        <p:txBody>
          <a:bodyPr wrap="square" lIns="0" tIns="0" rIns="0" bIns="0" rtlCol="0" anchor="ctr"/>
          <a:lstStyle/>
          <a:p>
            <a:pPr algn="l" indent="0" marL="0">
              <a:buNone/>
            </a:pPr>
            <a:r>
              <a:rPr lang="en-US" sz="1600" dirty="0">
                <a:solidFill>
                  <a:srgbClr val="CADCFC"/>
                </a:solidFill>
                <a:latin typeface="Calibri" pitchFamily="34" charset="0"/>
                <a:ea typeface="Calibri" pitchFamily="34" charset="-122"/>
                <a:cs typeface="Calibri" pitchFamily="34" charset="-120"/>
              </a:rPr>
              <a:t>Technical Test Response  ·  MAG Energy Solutions</a:t>
            </a:r>
            <a:endParaRPr lang="en-US" sz="1600" dirty="0"/>
          </a:p>
        </p:txBody>
      </p:sp>
      <p:sp>
        <p:nvSpPr>
          <p:cNvPr id="8" name="Text 6"/>
          <p:cNvSpPr/>
          <p:nvPr/>
        </p:nvSpPr>
        <p:spPr>
          <a:xfrm>
            <a:off x="502920" y="3200400"/>
            <a:ext cx="6903720" cy="347472"/>
          </a:xfrm>
          <a:prstGeom prst="rect">
            <a:avLst/>
          </a:prstGeom>
          <a:noFill/>
          <a:ln/>
        </p:spPr>
        <p:txBody>
          <a:bodyPr wrap="square" lIns="0" tIns="0" rIns="0" bIns="0" rtlCol="0" anchor="ctr"/>
          <a:lstStyle/>
          <a:p>
            <a:pPr algn="l" indent="0" marL="0">
              <a:buNone/>
            </a:pPr>
            <a:r>
              <a:rPr lang="en-US" sz="1300" dirty="0">
                <a:solidFill>
                  <a:srgbClr val="7BA7C8"/>
                </a:solidFill>
                <a:latin typeface="Calibri" pitchFamily="34" charset="0"/>
                <a:ea typeface="Calibri" pitchFamily="34" charset="-122"/>
                <a:cs typeface="Calibri" pitchFamily="34" charset="-120"/>
              </a:rPr>
              <a:t>Python  ·  Pyomo  ·  HiGHS  ·  24-Bus IEEE Network</a:t>
            </a:r>
            <a:endParaRPr lang="en-US" sz="1300" dirty="0"/>
          </a:p>
        </p:txBody>
      </p:sp>
      <p:sp>
        <p:nvSpPr>
          <p:cNvPr id="9" name="Text 7"/>
          <p:cNvSpPr/>
          <p:nvPr/>
        </p:nvSpPr>
        <p:spPr>
          <a:xfrm>
            <a:off x="502920" y="4498848"/>
            <a:ext cx="8229600" cy="457200"/>
          </a:xfrm>
          <a:prstGeom prst="rect">
            <a:avLst/>
          </a:prstGeom>
          <a:noFill/>
          <a:ln/>
        </p:spPr>
        <p:txBody>
          <a:bodyPr wrap="square" lIns="0" tIns="0" rIns="0" bIns="0" rtlCol="0" anchor="ctr"/>
          <a:lstStyle/>
          <a:p>
            <a:pPr algn="l" indent="0" marL="0">
              <a:buNone/>
            </a:pPr>
            <a:r>
              <a:rPr lang="en-US" sz="1100" dirty="0">
                <a:solidFill>
                  <a:srgbClr val="CADCFC"/>
                </a:solidFill>
                <a:latin typeface="Calibri" pitchFamily="34" charset="0"/>
                <a:ea typeface="Calibri" pitchFamily="34" charset="-122"/>
                <a:cs typeface="Calibri" pitchFamily="34" charset="-120"/>
              </a:rPr>
              <a:t>May 2026  ·  Confidential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4FA8D8"/>
          </a:solidFill>
          <a:ln w="12700">
            <a:solidFill>
              <a:srgbClr val="4FA8D8"/>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Why SCUC Matters to a Trading Fund</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Text 3"/>
          <p:cNvSpPr/>
          <p:nvPr/>
        </p:nvSpPr>
        <p:spPr>
          <a:xfrm>
            <a:off x="457200" y="1024128"/>
            <a:ext cx="5029200" cy="2606040"/>
          </a:xfrm>
          <a:prstGeom prst="rect">
            <a:avLst/>
          </a:prstGeom>
          <a:noFill/>
          <a:ln/>
        </p:spPr>
        <p:txBody>
          <a:bodyPr wrap="square" rtlCol="0" anchor="t"/>
          <a:lstStyle/>
          <a:p>
            <a:pPr marL="342900" indent="-342900">
              <a:spcAft>
                <a:spcPts val="900"/>
              </a:spcAft>
              <a:buSzPct val="100000"/>
              <a:buChar char="•"/>
            </a:pPr>
            <a:r>
              <a:rPr lang="en-US" sz="1400" dirty="0">
                <a:solidFill>
                  <a:srgbClr val="475569"/>
                </a:solidFill>
                <a:latin typeface="Calibri" pitchFamily="34" charset="0"/>
                <a:ea typeface="Calibri" pitchFamily="34" charset="-122"/>
                <a:cs typeface="Calibri" pitchFamily="34" charset="-120"/>
              </a:rPr>
              <a:t>Day-ahead markets clear via SCUC — the ISO's price-setting engine</a:t>
            </a:r>
            <a:endParaRPr lang="en-US" sz="1400" dirty="0"/>
          </a:p>
          <a:p>
            <a:pPr marL="342900" indent="-342900">
              <a:spcAft>
                <a:spcPts val="900"/>
              </a:spcAft>
              <a:buSzPct val="100000"/>
              <a:buChar char="•"/>
            </a:pPr>
            <a:r>
              <a:rPr lang="en-US" sz="1400" dirty="0">
                <a:solidFill>
                  <a:srgbClr val="475569"/>
                </a:solidFill>
                <a:latin typeface="Calibri" pitchFamily="34" charset="0"/>
                <a:ea typeface="Calibri" pitchFamily="34" charset="-122"/>
                <a:cs typeface="Calibri" pitchFamily="34" charset="-120"/>
              </a:rPr>
              <a:t>LMPs (Locational Marginal Prices) = dual variables of nodal power balance</a:t>
            </a:r>
            <a:endParaRPr lang="en-US" sz="1400" dirty="0"/>
          </a:p>
          <a:p>
            <a:pPr marL="342900" indent="-342900">
              <a:spcAft>
                <a:spcPts val="900"/>
              </a:spcAft>
              <a:buSzPct val="100000"/>
              <a:buChar char="•"/>
            </a:pPr>
            <a:r>
              <a:rPr lang="en-US" sz="1400" dirty="0">
                <a:solidFill>
                  <a:srgbClr val="475569"/>
                </a:solidFill>
                <a:latin typeface="Calibri" pitchFamily="34" charset="0"/>
                <a:ea typeface="Calibri" pitchFamily="34" charset="-122"/>
                <a:cs typeface="Calibri" pitchFamily="34" charset="-120"/>
              </a:rPr>
              <a:t>A more accurate simulator → better LMP forecasts → trading alpha</a:t>
            </a:r>
            <a:endParaRPr lang="en-US" sz="1400" dirty="0"/>
          </a:p>
          <a:p>
            <a:pPr marL="342900" indent="-342900">
              <a:buSzPct val="100000"/>
              <a:buChar char="•"/>
            </a:pPr>
            <a:r>
              <a:rPr lang="en-US" sz="1400" dirty="0">
                <a:solidFill>
                  <a:srgbClr val="475569"/>
                </a:solidFill>
                <a:latin typeface="Calibri" pitchFamily="34" charset="0"/>
                <a:ea typeface="Calibri" pitchFamily="34" charset="-122"/>
                <a:cs typeface="Calibri" pitchFamily="34" charset="-120"/>
              </a:rPr>
              <a:t>Three blind spots in the existing simulator needed fixing</a:t>
            </a:r>
            <a:endParaRPr lang="en-US" sz="1400" dirty="0"/>
          </a:p>
        </p:txBody>
      </p:sp>
      <p:sp>
        <p:nvSpPr>
          <p:cNvPr id="6" name="Shape 4"/>
          <p:cNvSpPr/>
          <p:nvPr/>
        </p:nvSpPr>
        <p:spPr>
          <a:xfrm>
            <a:off x="5715000" y="1097280"/>
            <a:ext cx="2971800" cy="1828800"/>
          </a:xfrm>
          <a:prstGeom prst="rect">
            <a:avLst/>
          </a:prstGeom>
          <a:solidFill>
            <a:srgbClr val="1E2761"/>
          </a:solidFill>
          <a:ln w="12700">
            <a:solidFill>
              <a:srgbClr val="1E2761"/>
            </a:solidFill>
            <a:prstDash val="solid"/>
          </a:ln>
          <a:effectLst>
            <a:outerShdw sx="100000" sy="100000" kx="0" ky="0" algn="bl" rotWithShape="0" blurRad="127000" dist="38100" dir="8100000">
              <a:srgbClr val="000000">
                <a:alpha val="20000"/>
              </a:srgbClr>
            </a:outerShdw>
          </a:effectLst>
        </p:spPr>
      </p:sp>
      <p:sp>
        <p:nvSpPr>
          <p:cNvPr id="7" name="Text 5"/>
          <p:cNvSpPr/>
          <p:nvPr/>
        </p:nvSpPr>
        <p:spPr>
          <a:xfrm>
            <a:off x="5760720" y="1143000"/>
            <a:ext cx="2880360" cy="1737360"/>
          </a:xfrm>
          <a:prstGeom prst="rect">
            <a:avLst/>
          </a:prstGeom>
          <a:noFill/>
          <a:ln/>
        </p:spPr>
        <p:txBody>
          <a:bodyPr wrap="square" lIns="0" tIns="0" rIns="0" bIns="0" rtlCol="0" anchor="ctr"/>
          <a:lstStyle/>
          <a:p>
            <a:pPr algn="ctr" indent="0" marL="0">
              <a:buNone/>
            </a:pPr>
            <a:r>
              <a:rPr lang="en-US" sz="1350" i="1" dirty="0">
                <a:solidFill>
                  <a:srgbClr val="CADCFC"/>
                </a:solidFill>
                <a:latin typeface="Cambria" pitchFamily="34" charset="0"/>
                <a:ea typeface="Cambria" pitchFamily="34" charset="-122"/>
                <a:cs typeface="Cambria" pitchFamily="34" charset="-120"/>
              </a:rPr>
              <a:t>“Fixing these blind spots</a:t>
            </a:r>
            <a:endParaRPr lang="en-US" sz="1350" dirty="0"/>
          </a:p>
          <a:p>
            <a:pPr algn="ctr" indent="0" marL="0">
              <a:buNone/>
            </a:pPr>
            <a:r>
              <a:rPr lang="en-US" sz="1350" i="1" dirty="0">
                <a:solidFill>
                  <a:srgbClr val="CADCFC"/>
                </a:solidFill>
                <a:latin typeface="Cambria" pitchFamily="34" charset="0"/>
                <a:ea typeface="Cambria" pitchFamily="34" charset="-122"/>
                <a:cs typeface="Cambria" pitchFamily="34" charset="-120"/>
              </a:rPr>
              <a:t>is directly linked to</a:t>
            </a:r>
            <a:endParaRPr lang="en-US" sz="1350" dirty="0"/>
          </a:p>
          <a:p>
            <a:pPr algn="ctr" indent="0" marL="0">
              <a:buNone/>
            </a:pPr>
            <a:r>
              <a:rPr lang="en-US" sz="1350" i="1" dirty="0">
                <a:solidFill>
                  <a:srgbClr val="CADCFC"/>
                </a:solidFill>
                <a:latin typeface="Cambria" pitchFamily="34" charset="0"/>
                <a:ea typeface="Cambria" pitchFamily="34" charset="-122"/>
                <a:cs typeface="Cambria" pitchFamily="34" charset="-120"/>
              </a:rPr>
              <a:t>forecast accuracy</a:t>
            </a:r>
            <a:endParaRPr lang="en-US" sz="1350" dirty="0"/>
          </a:p>
          <a:p>
            <a:pPr algn="ctr" indent="0" marL="0">
              <a:buNone/>
            </a:pPr>
            <a:r>
              <a:rPr lang="en-US" sz="1350" i="1" dirty="0">
                <a:solidFill>
                  <a:srgbClr val="CADCFC"/>
                </a:solidFill>
                <a:latin typeface="Cambria" pitchFamily="34" charset="0"/>
                <a:ea typeface="Cambria" pitchFamily="34" charset="-122"/>
                <a:cs typeface="Cambria" pitchFamily="34" charset="-120"/>
              </a:rPr>
              <a:t>and P&amp;L.”</a:t>
            </a:r>
            <a:endParaRPr lang="en-US" sz="1350" dirty="0"/>
          </a:p>
        </p:txBody>
      </p:sp>
      <p:sp>
        <p:nvSpPr>
          <p:cNvPr id="8" name="Shape 6"/>
          <p:cNvSpPr/>
          <p:nvPr/>
        </p:nvSpPr>
        <p:spPr>
          <a:xfrm>
            <a:off x="457200" y="3931920"/>
            <a:ext cx="2194560" cy="749808"/>
          </a:xfrm>
          <a:prstGeom prst="roundRect">
            <a:avLst>
              <a:gd name="adj" fmla="val 9756"/>
            </a:avLst>
          </a:prstGeom>
          <a:solidFill>
            <a:srgbClr val="FEF2F2"/>
          </a:solidFill>
          <a:ln w="12700">
            <a:solidFill>
              <a:srgbClr val="DC2626"/>
            </a:solidFill>
            <a:prstDash val="solid"/>
          </a:ln>
        </p:spPr>
      </p:sp>
      <p:sp>
        <p:nvSpPr>
          <p:cNvPr id="9" name="Text 7"/>
          <p:cNvSpPr/>
          <p:nvPr/>
        </p:nvSpPr>
        <p:spPr>
          <a:xfrm>
            <a:off x="457200" y="3931920"/>
            <a:ext cx="2194560" cy="749808"/>
          </a:xfrm>
          <a:prstGeom prst="rect">
            <a:avLst/>
          </a:prstGeom>
          <a:noFill/>
          <a:ln/>
        </p:spPr>
        <p:txBody>
          <a:bodyPr wrap="square" rtlCol="0" anchor="ctr"/>
          <a:lstStyle/>
          <a:p>
            <a:pPr algn="ctr" indent="0" marL="0">
              <a:buNone/>
            </a:pPr>
            <a:r>
              <a:rPr lang="en-US" sz="1150" b="1" dirty="0">
                <a:solidFill>
                  <a:srgbClr val="B91C1C"/>
                </a:solidFill>
                <a:latin typeface="Calibri" pitchFamily="34" charset="0"/>
                <a:ea typeface="Calibri" pitchFamily="34" charset="-122"/>
                <a:cs typeface="Calibri" pitchFamily="34" charset="-120"/>
              </a:rPr>
              <a:t>Wrong</a:t>
            </a:r>
            <a:endParaRPr lang="en-US" sz="1150" dirty="0"/>
          </a:p>
          <a:p>
            <a:pPr algn="ctr" indent="0" marL="0">
              <a:buNone/>
            </a:pPr>
            <a:r>
              <a:rPr lang="en-US" sz="1150" b="1" dirty="0">
                <a:solidFill>
                  <a:srgbClr val="B91C1C"/>
                </a:solidFill>
                <a:latin typeface="Calibri" pitchFamily="34" charset="0"/>
                <a:ea typeface="Calibri" pitchFamily="34" charset="-122"/>
                <a:cs typeface="Calibri" pitchFamily="34" charset="-120"/>
              </a:rPr>
              <a:t>Startup Costs</a:t>
            </a:r>
            <a:endParaRPr lang="en-US" sz="1150" dirty="0"/>
          </a:p>
        </p:txBody>
      </p:sp>
      <p:sp>
        <p:nvSpPr>
          <p:cNvPr id="10" name="Shape 8"/>
          <p:cNvSpPr/>
          <p:nvPr/>
        </p:nvSpPr>
        <p:spPr>
          <a:xfrm>
            <a:off x="3017520" y="3931920"/>
            <a:ext cx="2194560" cy="749808"/>
          </a:xfrm>
          <a:prstGeom prst="roundRect">
            <a:avLst>
              <a:gd name="adj" fmla="val 9756"/>
            </a:avLst>
          </a:prstGeom>
          <a:solidFill>
            <a:srgbClr val="FEF2F2"/>
          </a:solidFill>
          <a:ln w="12700">
            <a:solidFill>
              <a:srgbClr val="DC2626"/>
            </a:solidFill>
            <a:prstDash val="solid"/>
          </a:ln>
        </p:spPr>
      </p:sp>
      <p:sp>
        <p:nvSpPr>
          <p:cNvPr id="11" name="Text 9"/>
          <p:cNvSpPr/>
          <p:nvPr/>
        </p:nvSpPr>
        <p:spPr>
          <a:xfrm>
            <a:off x="3017520" y="3931920"/>
            <a:ext cx="2194560" cy="749808"/>
          </a:xfrm>
          <a:prstGeom prst="rect">
            <a:avLst/>
          </a:prstGeom>
          <a:noFill/>
          <a:ln/>
        </p:spPr>
        <p:txBody>
          <a:bodyPr wrap="square" rtlCol="0" anchor="ctr"/>
          <a:lstStyle/>
          <a:p>
            <a:pPr algn="ctr" indent="0" marL="0">
              <a:buNone/>
            </a:pPr>
            <a:r>
              <a:rPr lang="en-US" sz="1150" b="1" dirty="0">
                <a:solidFill>
                  <a:srgbClr val="B91C1C"/>
                </a:solidFill>
                <a:latin typeface="Calibri" pitchFamily="34" charset="0"/>
                <a:ea typeface="Calibri" pitchFamily="34" charset="-122"/>
                <a:cs typeface="Calibri" pitchFamily="34" charset="-120"/>
              </a:rPr>
              <a:t>No Security</a:t>
            </a:r>
            <a:endParaRPr lang="en-US" sz="1150" dirty="0"/>
          </a:p>
          <a:p>
            <a:pPr algn="ctr" indent="0" marL="0">
              <a:buNone/>
            </a:pPr>
            <a:r>
              <a:rPr lang="en-US" sz="1150" b="1" dirty="0">
                <a:solidFill>
                  <a:srgbClr val="B91C1C"/>
                </a:solidFill>
                <a:latin typeface="Calibri" pitchFamily="34" charset="0"/>
                <a:ea typeface="Calibri" pitchFamily="34" charset="-122"/>
                <a:cs typeface="Calibri" pitchFamily="34" charset="-120"/>
              </a:rPr>
              <a:t>Constraints</a:t>
            </a:r>
            <a:endParaRPr lang="en-US" sz="1150" dirty="0"/>
          </a:p>
        </p:txBody>
      </p:sp>
      <p:sp>
        <p:nvSpPr>
          <p:cNvPr id="12" name="Shape 10"/>
          <p:cNvSpPr/>
          <p:nvPr/>
        </p:nvSpPr>
        <p:spPr>
          <a:xfrm>
            <a:off x="5577840" y="3931920"/>
            <a:ext cx="2194560" cy="749808"/>
          </a:xfrm>
          <a:prstGeom prst="roundRect">
            <a:avLst>
              <a:gd name="adj" fmla="val 9756"/>
            </a:avLst>
          </a:prstGeom>
          <a:solidFill>
            <a:srgbClr val="FEF2F2"/>
          </a:solidFill>
          <a:ln w="12700">
            <a:solidFill>
              <a:srgbClr val="DC2626"/>
            </a:solidFill>
            <a:prstDash val="solid"/>
          </a:ln>
        </p:spPr>
      </p:sp>
      <p:sp>
        <p:nvSpPr>
          <p:cNvPr id="13" name="Text 11"/>
          <p:cNvSpPr/>
          <p:nvPr/>
        </p:nvSpPr>
        <p:spPr>
          <a:xfrm>
            <a:off x="5577840" y="3931920"/>
            <a:ext cx="2194560" cy="749808"/>
          </a:xfrm>
          <a:prstGeom prst="rect">
            <a:avLst/>
          </a:prstGeom>
          <a:noFill/>
          <a:ln/>
        </p:spPr>
        <p:txBody>
          <a:bodyPr wrap="square" rtlCol="0" anchor="ctr"/>
          <a:lstStyle/>
          <a:p>
            <a:pPr algn="ctr" indent="0" marL="0">
              <a:buNone/>
            </a:pPr>
            <a:r>
              <a:rPr lang="en-US" sz="1150" b="1" dirty="0">
                <a:solidFill>
                  <a:srgbClr val="B91C1C"/>
                </a:solidFill>
                <a:latin typeface="Calibri" pitchFamily="34" charset="0"/>
                <a:ea typeface="Calibri" pitchFamily="34" charset="-122"/>
                <a:cs typeface="Calibri" pitchFamily="34" charset="-120"/>
              </a:rPr>
              <a:t>No Market</a:t>
            </a:r>
            <a:endParaRPr lang="en-US" sz="1150" dirty="0"/>
          </a:p>
          <a:p>
            <a:pPr algn="ctr" indent="0" marL="0">
              <a:buNone/>
            </a:pPr>
            <a:r>
              <a:rPr lang="en-US" sz="1150" b="1" dirty="0">
                <a:solidFill>
                  <a:srgbClr val="B91C1C"/>
                </a:solidFill>
                <a:latin typeface="Calibri" pitchFamily="34" charset="0"/>
                <a:ea typeface="Calibri" pitchFamily="34" charset="-122"/>
                <a:cs typeface="Calibri" pitchFamily="34" charset="-120"/>
              </a:rPr>
              <a:t>Analysis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Three-Part Test</a:t>
            </a:r>
            <a:endParaRPr lang="en-US" sz="2800" dirty="0"/>
          </a:p>
        </p:txBody>
      </p:sp>
      <p:sp>
        <p:nvSpPr>
          <p:cNvPr id="3" name="Shape 1"/>
          <p:cNvSpPr/>
          <p:nvPr/>
        </p:nvSpPr>
        <p:spPr>
          <a:xfrm>
            <a:off x="274320" y="987552"/>
            <a:ext cx="2743200" cy="3794760"/>
          </a:xfrm>
          <a:prstGeom prst="rect">
            <a:avLst/>
          </a:prstGeom>
          <a:solidFill>
            <a:srgbClr val="1A3168"/>
          </a:solidFill>
          <a:ln w="12700">
            <a:solidFill>
              <a:srgbClr val="3B82F6"/>
            </a:solidFill>
            <a:prstDash val="solid"/>
          </a:ln>
        </p:spPr>
      </p:sp>
      <p:sp>
        <p:nvSpPr>
          <p:cNvPr id="4" name="Text 2"/>
          <p:cNvSpPr/>
          <p:nvPr/>
        </p:nvSpPr>
        <p:spPr>
          <a:xfrm>
            <a:off x="411480" y="1097280"/>
            <a:ext cx="2514600" cy="594360"/>
          </a:xfrm>
          <a:prstGeom prst="rect">
            <a:avLst/>
          </a:prstGeom>
          <a:noFill/>
          <a:ln/>
        </p:spPr>
        <p:txBody>
          <a:bodyPr wrap="square" lIns="0" tIns="0" rIns="0" bIns="0" rtlCol="0" anchor="ctr"/>
          <a:lstStyle/>
          <a:p>
            <a:pPr algn="l" indent="0" marL="0">
              <a:buNone/>
            </a:pPr>
            <a:r>
              <a:rPr lang="en-US" sz="3200" b="1" dirty="0">
                <a:solidFill>
                  <a:srgbClr val="3B82F6"/>
                </a:solidFill>
                <a:latin typeface="Cambria" pitchFamily="34" charset="0"/>
                <a:ea typeface="Cambria" pitchFamily="34" charset="-122"/>
                <a:cs typeface="Cambria" pitchFamily="34" charset="-120"/>
              </a:rPr>
              <a:t>01</a:t>
            </a:r>
            <a:endParaRPr lang="en-US" sz="3200" dirty="0"/>
          </a:p>
        </p:txBody>
      </p:sp>
      <p:sp>
        <p:nvSpPr>
          <p:cNvPr id="5" name="Text 3"/>
          <p:cNvSpPr/>
          <p:nvPr/>
        </p:nvSpPr>
        <p:spPr>
          <a:xfrm>
            <a:off x="411480" y="1664208"/>
            <a:ext cx="2514600" cy="457200"/>
          </a:xfrm>
          <a:prstGeom prst="rect">
            <a:avLst/>
          </a:prstGeom>
          <a:noFill/>
          <a:ln/>
        </p:spPr>
        <p:txBody>
          <a:bodyPr wrap="square" lIns="0" tIns="0" rIns="0" bIns="0" rtlCol="0" anchor="ctr"/>
          <a:lstStyle/>
          <a:p>
            <a:pPr algn="l" indent="0" marL="0">
              <a:buNone/>
            </a:pPr>
            <a:r>
              <a:rPr lang="en-US" sz="1350" b="1" dirty="0">
                <a:solidFill>
                  <a:srgbClr val="FFFFFF"/>
                </a:solidFill>
                <a:latin typeface="Cambria" pitchFamily="34" charset="0"/>
                <a:ea typeface="Cambria" pitchFamily="34" charset="-122"/>
                <a:cs typeface="Cambria" pitchFamily="34" charset="-120"/>
              </a:rPr>
              <a:t>Tiered Startup Costs</a:t>
            </a:r>
            <a:endParaRPr lang="en-US" sz="1350" dirty="0"/>
          </a:p>
        </p:txBody>
      </p:sp>
      <p:sp>
        <p:nvSpPr>
          <p:cNvPr id="6" name="Shape 4"/>
          <p:cNvSpPr/>
          <p:nvPr/>
        </p:nvSpPr>
        <p:spPr>
          <a:xfrm>
            <a:off x="411480" y="2148840"/>
            <a:ext cx="2423160" cy="20117"/>
          </a:xfrm>
          <a:prstGeom prst="rect">
            <a:avLst/>
          </a:prstGeom>
          <a:solidFill>
            <a:srgbClr val="3B82F6"/>
          </a:solidFill>
          <a:ln w="12700">
            <a:solidFill>
              <a:srgbClr val="3B82F6"/>
            </a:solidFill>
            <a:prstDash val="solid"/>
          </a:ln>
        </p:spPr>
      </p:sp>
      <p:sp>
        <p:nvSpPr>
          <p:cNvPr id="7" name="Text 5"/>
          <p:cNvSpPr/>
          <p:nvPr/>
        </p:nvSpPr>
        <p:spPr>
          <a:xfrm>
            <a:off x="411480" y="2212848"/>
            <a:ext cx="2514600" cy="2377440"/>
          </a:xfrm>
          <a:prstGeom prst="rect">
            <a:avLst/>
          </a:prstGeom>
          <a:noFill/>
          <a:ln/>
        </p:spPr>
        <p:txBody>
          <a:bodyPr wrap="square" rtlCol="0" anchor="t"/>
          <a:lstStyle/>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Current model: every restart costs the same</a:t>
            </a:r>
            <a:endParaRPr lang="en-US" sz="1100" dirty="0"/>
          </a:p>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Cold boiler costs 9× more than hot</a:t>
            </a:r>
            <a:endParaRPr lang="en-US" sz="1100" dirty="0"/>
          </a:p>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Model hot / warm / cold regimes + pre-horizon state</a:t>
            </a:r>
            <a:endParaRPr lang="en-US" sz="1100" dirty="0"/>
          </a:p>
        </p:txBody>
      </p:sp>
      <p:sp>
        <p:nvSpPr>
          <p:cNvPr id="8" name="Shape 6"/>
          <p:cNvSpPr/>
          <p:nvPr/>
        </p:nvSpPr>
        <p:spPr>
          <a:xfrm>
            <a:off x="3172968" y="987552"/>
            <a:ext cx="2743200" cy="3794760"/>
          </a:xfrm>
          <a:prstGeom prst="rect">
            <a:avLst/>
          </a:prstGeom>
          <a:solidFill>
            <a:srgbClr val="1A3168"/>
          </a:solidFill>
          <a:ln w="12700">
            <a:solidFill>
              <a:srgbClr val="10B981"/>
            </a:solidFill>
            <a:prstDash val="solid"/>
          </a:ln>
        </p:spPr>
      </p:sp>
      <p:sp>
        <p:nvSpPr>
          <p:cNvPr id="9" name="Text 7"/>
          <p:cNvSpPr/>
          <p:nvPr/>
        </p:nvSpPr>
        <p:spPr>
          <a:xfrm>
            <a:off x="3310128" y="1097280"/>
            <a:ext cx="2514600" cy="594360"/>
          </a:xfrm>
          <a:prstGeom prst="rect">
            <a:avLst/>
          </a:prstGeom>
          <a:noFill/>
          <a:ln/>
        </p:spPr>
        <p:txBody>
          <a:bodyPr wrap="square" lIns="0" tIns="0" rIns="0" bIns="0" rtlCol="0" anchor="ctr"/>
          <a:lstStyle/>
          <a:p>
            <a:pPr algn="l" indent="0" marL="0">
              <a:buNone/>
            </a:pPr>
            <a:r>
              <a:rPr lang="en-US" sz="3200" b="1" dirty="0">
                <a:solidFill>
                  <a:srgbClr val="10B981"/>
                </a:solidFill>
                <a:latin typeface="Cambria" pitchFamily="34" charset="0"/>
                <a:ea typeface="Cambria" pitchFamily="34" charset="-122"/>
                <a:cs typeface="Cambria" pitchFamily="34" charset="-120"/>
              </a:rPr>
              <a:t>02</a:t>
            </a:r>
            <a:endParaRPr lang="en-US" sz="3200" dirty="0"/>
          </a:p>
        </p:txBody>
      </p:sp>
      <p:sp>
        <p:nvSpPr>
          <p:cNvPr id="10" name="Text 8"/>
          <p:cNvSpPr/>
          <p:nvPr/>
        </p:nvSpPr>
        <p:spPr>
          <a:xfrm>
            <a:off x="3310128" y="1664208"/>
            <a:ext cx="2514600" cy="457200"/>
          </a:xfrm>
          <a:prstGeom prst="rect">
            <a:avLst/>
          </a:prstGeom>
          <a:noFill/>
          <a:ln/>
        </p:spPr>
        <p:txBody>
          <a:bodyPr wrap="square" lIns="0" tIns="0" rIns="0" bIns="0" rtlCol="0" anchor="ctr"/>
          <a:lstStyle/>
          <a:p>
            <a:pPr algn="l" indent="0" marL="0">
              <a:buNone/>
            </a:pPr>
            <a:r>
              <a:rPr lang="en-US" sz="1350" b="1" dirty="0">
                <a:solidFill>
                  <a:srgbClr val="FFFFFF"/>
                </a:solidFill>
                <a:latin typeface="Cambria" pitchFamily="34" charset="0"/>
                <a:ea typeface="Cambria" pitchFamily="34" charset="-122"/>
                <a:cs typeface="Cambria" pitchFamily="34" charset="-120"/>
              </a:rPr>
              <a:t>N-1 Security Constraints</a:t>
            </a:r>
            <a:endParaRPr lang="en-US" sz="1350" dirty="0"/>
          </a:p>
        </p:txBody>
      </p:sp>
      <p:sp>
        <p:nvSpPr>
          <p:cNvPr id="11" name="Shape 9"/>
          <p:cNvSpPr/>
          <p:nvPr/>
        </p:nvSpPr>
        <p:spPr>
          <a:xfrm>
            <a:off x="3310128" y="2148840"/>
            <a:ext cx="2423160" cy="20117"/>
          </a:xfrm>
          <a:prstGeom prst="rect">
            <a:avLst/>
          </a:prstGeom>
          <a:solidFill>
            <a:srgbClr val="10B981"/>
          </a:solidFill>
          <a:ln w="12700">
            <a:solidFill>
              <a:srgbClr val="10B981"/>
            </a:solidFill>
            <a:prstDash val="solid"/>
          </a:ln>
        </p:spPr>
      </p:sp>
      <p:sp>
        <p:nvSpPr>
          <p:cNvPr id="12" name="Text 10"/>
          <p:cNvSpPr/>
          <p:nvPr/>
        </p:nvSpPr>
        <p:spPr>
          <a:xfrm>
            <a:off x="3310128" y="2212848"/>
            <a:ext cx="2514600" cy="2377440"/>
          </a:xfrm>
          <a:prstGeom prst="rect">
            <a:avLst/>
          </a:prstGeom>
          <a:noFill/>
          <a:ln/>
        </p:spPr>
        <p:txBody>
          <a:bodyPr wrap="square" rtlCol="0" anchor="t"/>
          <a:lstStyle/>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Current: base-case flows only</a:t>
            </a:r>
            <a:endParaRPr lang="en-US" sz="1100" dirty="0"/>
          </a:p>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Grid must survive any single line outage</a:t>
            </a:r>
            <a:endParaRPr lang="en-US" sz="1100" dirty="0"/>
          </a:p>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LODF-based constraints + efficient method</a:t>
            </a:r>
            <a:endParaRPr lang="en-US" sz="1100" dirty="0"/>
          </a:p>
        </p:txBody>
      </p:sp>
      <p:sp>
        <p:nvSpPr>
          <p:cNvPr id="13" name="Shape 11"/>
          <p:cNvSpPr/>
          <p:nvPr/>
        </p:nvSpPr>
        <p:spPr>
          <a:xfrm>
            <a:off x="6062472" y="987552"/>
            <a:ext cx="2743200" cy="3794760"/>
          </a:xfrm>
          <a:prstGeom prst="rect">
            <a:avLst/>
          </a:prstGeom>
          <a:solidFill>
            <a:srgbClr val="1A3168"/>
          </a:solidFill>
          <a:ln w="12700">
            <a:solidFill>
              <a:srgbClr val="F59E0B"/>
            </a:solidFill>
            <a:prstDash val="solid"/>
          </a:ln>
        </p:spPr>
      </p:sp>
      <p:sp>
        <p:nvSpPr>
          <p:cNvPr id="14" name="Text 12"/>
          <p:cNvSpPr/>
          <p:nvPr/>
        </p:nvSpPr>
        <p:spPr>
          <a:xfrm>
            <a:off x="6199632" y="1097280"/>
            <a:ext cx="2514600" cy="594360"/>
          </a:xfrm>
          <a:prstGeom prst="rect">
            <a:avLst/>
          </a:prstGeom>
          <a:noFill/>
          <a:ln/>
        </p:spPr>
        <p:txBody>
          <a:bodyPr wrap="square" lIns="0" tIns="0" rIns="0" bIns="0" rtlCol="0" anchor="ctr"/>
          <a:lstStyle/>
          <a:p>
            <a:pPr algn="l" indent="0" marL="0">
              <a:buNone/>
            </a:pPr>
            <a:r>
              <a:rPr lang="en-US" sz="3200" b="1" dirty="0">
                <a:solidFill>
                  <a:srgbClr val="F59E0B"/>
                </a:solidFill>
                <a:latin typeface="Cambria" pitchFamily="34" charset="0"/>
                <a:ea typeface="Cambria" pitchFamily="34" charset="-122"/>
                <a:cs typeface="Cambria" pitchFamily="34" charset="-120"/>
              </a:rPr>
              <a:t>03</a:t>
            </a:r>
            <a:endParaRPr lang="en-US" sz="3200" dirty="0"/>
          </a:p>
        </p:txBody>
      </p:sp>
      <p:sp>
        <p:nvSpPr>
          <p:cNvPr id="15" name="Text 13"/>
          <p:cNvSpPr/>
          <p:nvPr/>
        </p:nvSpPr>
        <p:spPr>
          <a:xfrm>
            <a:off x="6199632" y="1664208"/>
            <a:ext cx="2514600" cy="457200"/>
          </a:xfrm>
          <a:prstGeom prst="rect">
            <a:avLst/>
          </a:prstGeom>
          <a:noFill/>
          <a:ln/>
        </p:spPr>
        <p:txBody>
          <a:bodyPr wrap="square" lIns="0" tIns="0" rIns="0" bIns="0" rtlCol="0" anchor="ctr"/>
          <a:lstStyle/>
          <a:p>
            <a:pPr algn="l" indent="0" marL="0">
              <a:buNone/>
            </a:pPr>
            <a:r>
              <a:rPr lang="en-US" sz="1350" b="1" dirty="0">
                <a:solidFill>
                  <a:srgbClr val="FFFFFF"/>
                </a:solidFill>
                <a:latin typeface="Cambria" pitchFamily="34" charset="0"/>
                <a:ea typeface="Cambria" pitchFamily="34" charset="-122"/>
                <a:cs typeface="Cambria" pitchFamily="34" charset="-120"/>
              </a:rPr>
              <a:t>Market Analysis</a:t>
            </a:r>
            <a:endParaRPr lang="en-US" sz="1350" dirty="0"/>
          </a:p>
        </p:txBody>
      </p:sp>
      <p:sp>
        <p:nvSpPr>
          <p:cNvPr id="16" name="Shape 14"/>
          <p:cNvSpPr/>
          <p:nvPr/>
        </p:nvSpPr>
        <p:spPr>
          <a:xfrm>
            <a:off x="6199632" y="2148840"/>
            <a:ext cx="2423160" cy="20117"/>
          </a:xfrm>
          <a:prstGeom prst="rect">
            <a:avLst/>
          </a:prstGeom>
          <a:solidFill>
            <a:srgbClr val="F59E0B"/>
          </a:solidFill>
          <a:ln w="12700">
            <a:solidFill>
              <a:srgbClr val="F59E0B"/>
            </a:solidFill>
            <a:prstDash val="solid"/>
          </a:ln>
        </p:spPr>
      </p:sp>
      <p:sp>
        <p:nvSpPr>
          <p:cNvPr id="17" name="Text 15"/>
          <p:cNvSpPr/>
          <p:nvPr/>
        </p:nvSpPr>
        <p:spPr>
          <a:xfrm>
            <a:off x="6199632" y="2212848"/>
            <a:ext cx="2514600" cy="2377440"/>
          </a:xfrm>
          <a:prstGeom prst="rect">
            <a:avLst/>
          </a:prstGeom>
          <a:noFill/>
          <a:ln/>
        </p:spPr>
        <p:txBody>
          <a:bodyPr wrap="square" rtlCol="0" anchor="t"/>
          <a:lstStyle/>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Extract LMPs from dual variables</a:t>
            </a:r>
            <a:endParaRPr lang="en-US" sz="1100" dirty="0"/>
          </a:p>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Merit order, congestion, peak/off-peak</a:t>
            </a:r>
            <a:endParaRPr lang="en-US" sz="1100" dirty="0"/>
          </a:p>
          <a:p>
            <a:pPr marL="342900" indent="-342900">
              <a:spcAft>
                <a:spcPts val="700"/>
              </a:spcAft>
              <a:buSzPct val="100000"/>
              <a:buChar char="•"/>
            </a:pPr>
            <a:r>
              <a:rPr lang="en-US" sz="1100" dirty="0">
                <a:solidFill>
                  <a:srgbClr val="CADCFC"/>
                </a:solidFill>
                <a:latin typeface="Calibri" pitchFamily="34" charset="0"/>
                <a:ea typeface="Calibri" pitchFamily="34" charset="-122"/>
                <a:cs typeface="Calibri" pitchFamily="34" charset="-120"/>
              </a:rPr>
              <a:t>Trader-facing briefing with actionable signals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3B82F6"/>
          </a:solidFill>
          <a:ln w="12700">
            <a:solidFill>
              <a:srgbClr val="3B82F6"/>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Part 1 — The Cold-Start Problem</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Text 3"/>
          <p:cNvSpPr/>
          <p:nvPr/>
        </p:nvSpPr>
        <p:spPr>
          <a:xfrm>
            <a:off x="457200" y="1024128"/>
            <a:ext cx="4114800" cy="1600200"/>
          </a:xfrm>
          <a:prstGeom prst="rect">
            <a:avLst/>
          </a:prstGeom>
          <a:noFill/>
          <a:ln/>
        </p:spPr>
        <p:txBody>
          <a:bodyPr wrap="square" rtlCol="0" anchor="t"/>
          <a:lstStyle/>
          <a:p>
            <a:pPr marL="342900" indent="-342900">
              <a:spcAft>
                <a:spcPts val="900"/>
              </a:spcAft>
              <a:buSzPct val="100000"/>
              <a:buChar char="•"/>
            </a:pPr>
            <a:r>
              <a:rPr lang="en-US" sz="1300" dirty="0">
                <a:solidFill>
                  <a:srgbClr val="475569"/>
                </a:solidFill>
                <a:latin typeface="Calibri" pitchFamily="34" charset="0"/>
                <a:ea typeface="Calibri" pitchFamily="34" charset="-122"/>
                <a:cs typeface="Calibri" pitchFamily="34" charset="-120"/>
              </a:rPr>
              <a:t>Unit commitment cycles generators on/off to minimize total cost</a:t>
            </a:r>
            <a:endParaRPr lang="en-US" sz="1300" dirty="0"/>
          </a:p>
          <a:p>
            <a:pPr marL="342900" indent="-342900">
              <a:spcAft>
                <a:spcPts val="900"/>
              </a:spcAft>
              <a:buSzPct val="100000"/>
              <a:buChar char="•"/>
            </a:pPr>
            <a:r>
              <a:rPr lang="en-US" sz="1300" dirty="0">
                <a:solidFill>
                  <a:srgbClr val="475569"/>
                </a:solidFill>
                <a:latin typeface="Calibri" pitchFamily="34" charset="0"/>
                <a:ea typeface="Calibri" pitchFamily="34" charset="-122"/>
                <a:cs typeface="Calibri" pitchFamily="34" charset="-120"/>
              </a:rPr>
              <a:t>Restart cost depends on boiler temperature — which depends on time offline</a:t>
            </a:r>
            <a:endParaRPr lang="en-US" sz="1300" dirty="0"/>
          </a:p>
          <a:p>
            <a:pPr marL="342900" indent="-342900">
              <a:buSzPct val="100000"/>
              <a:buChar char="•"/>
            </a:pPr>
            <a:r>
              <a:rPr lang="en-US" sz="1300" dirty="0">
                <a:solidFill>
                  <a:srgbClr val="475569"/>
                </a:solidFill>
                <a:latin typeface="Calibri" pitchFamily="34" charset="0"/>
                <a:ea typeface="Calibri" pitchFamily="34" charset="-122"/>
                <a:cs typeface="Calibri" pitchFamily="34" charset="-120"/>
              </a:rPr>
              <a:t>Flat-cost model underpays for cold restarts → units cycle too much → wrong LMPs</a:t>
            </a:r>
            <a:endParaRPr lang="en-US" sz="1300" dirty="0"/>
          </a:p>
        </p:txBody>
      </p:sp>
      <p:sp>
        <p:nvSpPr>
          <p:cNvPr id="6" name="Shape 4"/>
          <p:cNvSpPr/>
          <p:nvPr/>
        </p:nvSpPr>
        <p:spPr>
          <a:xfrm>
            <a:off x="4754880" y="1024128"/>
            <a:ext cx="4069080" cy="347472"/>
          </a:xfrm>
          <a:prstGeom prst="rect">
            <a:avLst/>
          </a:prstGeom>
          <a:solidFill>
            <a:srgbClr val="1E2761"/>
          </a:solidFill>
          <a:ln w="12700">
            <a:solidFill>
              <a:srgbClr val="1E2761"/>
            </a:solidFill>
            <a:prstDash val="solid"/>
          </a:ln>
        </p:spPr>
      </p:sp>
      <p:sp>
        <p:nvSpPr>
          <p:cNvPr id="7" name="Text 5"/>
          <p:cNvSpPr/>
          <p:nvPr/>
        </p:nvSpPr>
        <p:spPr>
          <a:xfrm>
            <a:off x="4754880" y="1024128"/>
            <a:ext cx="134416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State</a:t>
            </a:r>
            <a:endParaRPr lang="en-US" sz="1100" dirty="0"/>
          </a:p>
        </p:txBody>
      </p:sp>
      <p:sp>
        <p:nvSpPr>
          <p:cNvPr id="8" name="Text 6"/>
          <p:cNvSpPr/>
          <p:nvPr/>
        </p:nvSpPr>
        <p:spPr>
          <a:xfrm>
            <a:off x="6144768" y="1024128"/>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Offline</a:t>
            </a:r>
            <a:endParaRPr lang="en-US" sz="1100" dirty="0"/>
          </a:p>
        </p:txBody>
      </p:sp>
      <p:sp>
        <p:nvSpPr>
          <p:cNvPr id="9" name="Text 7"/>
          <p:cNvSpPr/>
          <p:nvPr/>
        </p:nvSpPr>
        <p:spPr>
          <a:xfrm>
            <a:off x="7379208" y="1024128"/>
            <a:ext cx="107899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Cost</a:t>
            </a:r>
            <a:endParaRPr lang="en-US" sz="1100" dirty="0"/>
          </a:p>
        </p:txBody>
      </p:sp>
      <p:sp>
        <p:nvSpPr>
          <p:cNvPr id="10" name="Shape 8"/>
          <p:cNvSpPr/>
          <p:nvPr/>
        </p:nvSpPr>
        <p:spPr>
          <a:xfrm>
            <a:off x="4754880" y="1371600"/>
            <a:ext cx="4069080" cy="438912"/>
          </a:xfrm>
          <a:prstGeom prst="rect">
            <a:avLst/>
          </a:prstGeom>
          <a:solidFill>
            <a:srgbClr val="DCFCE7"/>
          </a:solidFill>
          <a:ln w="12700">
            <a:solidFill>
              <a:srgbClr val="16A34A"/>
            </a:solidFill>
            <a:prstDash val="solid"/>
          </a:ln>
        </p:spPr>
      </p:sp>
      <p:sp>
        <p:nvSpPr>
          <p:cNvPr id="11" name="Text 9"/>
          <p:cNvSpPr/>
          <p:nvPr/>
        </p:nvSpPr>
        <p:spPr>
          <a:xfrm>
            <a:off x="4754880" y="1371600"/>
            <a:ext cx="1344168" cy="438912"/>
          </a:xfrm>
          <a:prstGeom prst="rect">
            <a:avLst/>
          </a:prstGeom>
          <a:noFill/>
          <a:ln/>
        </p:spPr>
        <p:txBody>
          <a:bodyPr wrap="square" lIns="0" tIns="0" rIns="0" bIns="0" rtlCol="0" anchor="ctr"/>
          <a:lstStyle/>
          <a:p>
            <a:pPr algn="ctr" indent="0" marL="0">
              <a:buNone/>
            </a:pPr>
            <a:r>
              <a:rPr lang="en-US" sz="1200" b="1" dirty="0">
                <a:solidFill>
                  <a:srgbClr val="166534"/>
                </a:solidFill>
                <a:latin typeface="Calibri" pitchFamily="34" charset="0"/>
                <a:ea typeface="Calibri" pitchFamily="34" charset="-122"/>
                <a:cs typeface="Calibri" pitchFamily="34" charset="-120"/>
              </a:rPr>
              <a:t>Hot Start</a:t>
            </a:r>
            <a:endParaRPr lang="en-US" sz="1200" dirty="0"/>
          </a:p>
        </p:txBody>
      </p:sp>
      <p:sp>
        <p:nvSpPr>
          <p:cNvPr id="12" name="Text 10"/>
          <p:cNvSpPr/>
          <p:nvPr/>
        </p:nvSpPr>
        <p:spPr>
          <a:xfrm>
            <a:off x="6144768" y="1371600"/>
            <a:ext cx="1188720" cy="438912"/>
          </a:xfrm>
          <a:prstGeom prst="rect">
            <a:avLst/>
          </a:prstGeom>
          <a:noFill/>
          <a:ln/>
        </p:spPr>
        <p:txBody>
          <a:bodyPr wrap="square" lIns="0" tIns="0" rIns="0" bIns="0" rtlCol="0" anchor="ctr"/>
          <a:lstStyle/>
          <a:p>
            <a:pPr algn="ctr" indent="0" marL="0">
              <a:buNone/>
            </a:pPr>
            <a:r>
              <a:rPr lang="en-US" sz="1200" dirty="0">
                <a:solidFill>
                  <a:srgbClr val="166534"/>
                </a:solidFill>
                <a:latin typeface="Calibri" pitchFamily="34" charset="0"/>
                <a:ea typeface="Calibri" pitchFamily="34" charset="-122"/>
                <a:cs typeface="Calibri" pitchFamily="34" charset="-120"/>
              </a:rPr>
              <a:t>&lt; 4h offline</a:t>
            </a:r>
            <a:endParaRPr lang="en-US" sz="1200" dirty="0"/>
          </a:p>
        </p:txBody>
      </p:sp>
      <p:sp>
        <p:nvSpPr>
          <p:cNvPr id="13" name="Text 11"/>
          <p:cNvSpPr/>
          <p:nvPr/>
        </p:nvSpPr>
        <p:spPr>
          <a:xfrm>
            <a:off x="7379208" y="1371600"/>
            <a:ext cx="1078992" cy="438912"/>
          </a:xfrm>
          <a:prstGeom prst="rect">
            <a:avLst/>
          </a:prstGeom>
          <a:noFill/>
          <a:ln/>
        </p:spPr>
        <p:txBody>
          <a:bodyPr wrap="square" lIns="0" tIns="0" rIns="0" bIns="0" rtlCol="0" anchor="ctr"/>
          <a:lstStyle/>
          <a:p>
            <a:pPr algn="ctr" indent="0" marL="0">
              <a:buNone/>
            </a:pPr>
            <a:r>
              <a:rPr lang="en-US" sz="1200" dirty="0">
                <a:solidFill>
                  <a:srgbClr val="166534"/>
                </a:solidFill>
                <a:latin typeface="Calibri" pitchFamily="34" charset="0"/>
                <a:ea typeface="Calibri" pitchFamily="34" charset="-122"/>
                <a:cs typeface="Calibri" pitchFamily="34" charset="-120"/>
              </a:rPr>
              <a:t>$100</a:t>
            </a:r>
            <a:endParaRPr lang="en-US" sz="1200" dirty="0"/>
          </a:p>
        </p:txBody>
      </p:sp>
      <p:sp>
        <p:nvSpPr>
          <p:cNvPr id="14" name="Shape 12"/>
          <p:cNvSpPr/>
          <p:nvPr/>
        </p:nvSpPr>
        <p:spPr>
          <a:xfrm>
            <a:off x="4754880" y="1828800"/>
            <a:ext cx="4069080" cy="438912"/>
          </a:xfrm>
          <a:prstGeom prst="rect">
            <a:avLst/>
          </a:prstGeom>
          <a:solidFill>
            <a:srgbClr val="FEF9C3"/>
          </a:solidFill>
          <a:ln w="12700">
            <a:solidFill>
              <a:srgbClr val="CA8A04"/>
            </a:solidFill>
            <a:prstDash val="solid"/>
          </a:ln>
        </p:spPr>
      </p:sp>
      <p:sp>
        <p:nvSpPr>
          <p:cNvPr id="15" name="Text 13"/>
          <p:cNvSpPr/>
          <p:nvPr/>
        </p:nvSpPr>
        <p:spPr>
          <a:xfrm>
            <a:off x="4754880" y="1828800"/>
            <a:ext cx="1344168" cy="438912"/>
          </a:xfrm>
          <a:prstGeom prst="rect">
            <a:avLst/>
          </a:prstGeom>
          <a:noFill/>
          <a:ln/>
        </p:spPr>
        <p:txBody>
          <a:bodyPr wrap="square" lIns="0" tIns="0" rIns="0" bIns="0" rtlCol="0" anchor="ctr"/>
          <a:lstStyle/>
          <a:p>
            <a:pPr algn="ctr" indent="0" marL="0">
              <a:buNone/>
            </a:pPr>
            <a:r>
              <a:rPr lang="en-US" sz="1200" b="1" dirty="0">
                <a:solidFill>
                  <a:srgbClr val="713F12"/>
                </a:solidFill>
                <a:latin typeface="Calibri" pitchFamily="34" charset="0"/>
                <a:ea typeface="Calibri" pitchFamily="34" charset="-122"/>
                <a:cs typeface="Calibri" pitchFamily="34" charset="-120"/>
              </a:rPr>
              <a:t>Warm Start</a:t>
            </a:r>
            <a:endParaRPr lang="en-US" sz="1200" dirty="0"/>
          </a:p>
        </p:txBody>
      </p:sp>
      <p:sp>
        <p:nvSpPr>
          <p:cNvPr id="16" name="Text 14"/>
          <p:cNvSpPr/>
          <p:nvPr/>
        </p:nvSpPr>
        <p:spPr>
          <a:xfrm>
            <a:off x="6144768" y="1828800"/>
            <a:ext cx="1188720" cy="438912"/>
          </a:xfrm>
          <a:prstGeom prst="rect">
            <a:avLst/>
          </a:prstGeom>
          <a:noFill/>
          <a:ln/>
        </p:spPr>
        <p:txBody>
          <a:bodyPr wrap="square" lIns="0" tIns="0" rIns="0" bIns="0" rtlCol="0" anchor="ctr"/>
          <a:lstStyle/>
          <a:p>
            <a:pPr algn="ctr" indent="0" marL="0">
              <a:buNone/>
            </a:pPr>
            <a:r>
              <a:rPr lang="en-US" sz="1200" dirty="0">
                <a:solidFill>
                  <a:srgbClr val="713F12"/>
                </a:solidFill>
                <a:latin typeface="Calibri" pitchFamily="34" charset="0"/>
                <a:ea typeface="Calibri" pitchFamily="34" charset="-122"/>
                <a:cs typeface="Calibri" pitchFamily="34" charset="-120"/>
              </a:rPr>
              <a:t>4–8h offline</a:t>
            </a:r>
            <a:endParaRPr lang="en-US" sz="1200" dirty="0"/>
          </a:p>
        </p:txBody>
      </p:sp>
      <p:sp>
        <p:nvSpPr>
          <p:cNvPr id="17" name="Text 15"/>
          <p:cNvSpPr/>
          <p:nvPr/>
        </p:nvSpPr>
        <p:spPr>
          <a:xfrm>
            <a:off x="7379208" y="1828800"/>
            <a:ext cx="1078992" cy="438912"/>
          </a:xfrm>
          <a:prstGeom prst="rect">
            <a:avLst/>
          </a:prstGeom>
          <a:noFill/>
          <a:ln/>
        </p:spPr>
        <p:txBody>
          <a:bodyPr wrap="square" lIns="0" tIns="0" rIns="0" bIns="0" rtlCol="0" anchor="ctr"/>
          <a:lstStyle/>
          <a:p>
            <a:pPr algn="ctr" indent="0" marL="0">
              <a:buNone/>
            </a:pPr>
            <a:r>
              <a:rPr lang="en-US" sz="1200" dirty="0">
                <a:solidFill>
                  <a:srgbClr val="713F12"/>
                </a:solidFill>
                <a:latin typeface="Calibri" pitchFamily="34" charset="0"/>
                <a:ea typeface="Calibri" pitchFamily="34" charset="-122"/>
                <a:cs typeface="Calibri" pitchFamily="34" charset="-120"/>
              </a:rPr>
              <a:t>$400</a:t>
            </a:r>
            <a:endParaRPr lang="en-US" sz="1200" dirty="0"/>
          </a:p>
        </p:txBody>
      </p:sp>
      <p:sp>
        <p:nvSpPr>
          <p:cNvPr id="18" name="Shape 16"/>
          <p:cNvSpPr/>
          <p:nvPr/>
        </p:nvSpPr>
        <p:spPr>
          <a:xfrm>
            <a:off x="4754880" y="2286000"/>
            <a:ext cx="4069080" cy="438912"/>
          </a:xfrm>
          <a:prstGeom prst="rect">
            <a:avLst/>
          </a:prstGeom>
          <a:solidFill>
            <a:srgbClr val="FEE2E2"/>
          </a:solidFill>
          <a:ln w="12700">
            <a:solidFill>
              <a:srgbClr val="DC2626"/>
            </a:solidFill>
            <a:prstDash val="solid"/>
          </a:ln>
        </p:spPr>
      </p:sp>
      <p:sp>
        <p:nvSpPr>
          <p:cNvPr id="19" name="Text 17"/>
          <p:cNvSpPr/>
          <p:nvPr/>
        </p:nvSpPr>
        <p:spPr>
          <a:xfrm>
            <a:off x="4754880" y="2286000"/>
            <a:ext cx="1344168" cy="438912"/>
          </a:xfrm>
          <a:prstGeom prst="rect">
            <a:avLst/>
          </a:prstGeom>
          <a:noFill/>
          <a:ln/>
        </p:spPr>
        <p:txBody>
          <a:bodyPr wrap="square" lIns="0" tIns="0" rIns="0" bIns="0" rtlCol="0" anchor="ctr"/>
          <a:lstStyle/>
          <a:p>
            <a:pPr algn="ctr" indent="0" marL="0">
              <a:buNone/>
            </a:pPr>
            <a:r>
              <a:rPr lang="en-US" sz="1200" b="1" dirty="0">
                <a:solidFill>
                  <a:srgbClr val="7F1D1D"/>
                </a:solidFill>
                <a:latin typeface="Calibri" pitchFamily="34" charset="0"/>
                <a:ea typeface="Calibri" pitchFamily="34" charset="-122"/>
                <a:cs typeface="Calibri" pitchFamily="34" charset="-120"/>
              </a:rPr>
              <a:t>Cold Start</a:t>
            </a:r>
            <a:endParaRPr lang="en-US" sz="1200" dirty="0"/>
          </a:p>
        </p:txBody>
      </p:sp>
      <p:sp>
        <p:nvSpPr>
          <p:cNvPr id="20" name="Text 18"/>
          <p:cNvSpPr/>
          <p:nvPr/>
        </p:nvSpPr>
        <p:spPr>
          <a:xfrm>
            <a:off x="6144768" y="2286000"/>
            <a:ext cx="1188720" cy="438912"/>
          </a:xfrm>
          <a:prstGeom prst="rect">
            <a:avLst/>
          </a:prstGeom>
          <a:noFill/>
          <a:ln/>
        </p:spPr>
        <p:txBody>
          <a:bodyPr wrap="square" lIns="0" tIns="0" rIns="0" bIns="0" rtlCol="0" anchor="ctr"/>
          <a:lstStyle/>
          <a:p>
            <a:pPr algn="ctr" indent="0" marL="0">
              <a:buNone/>
            </a:pPr>
            <a:r>
              <a:rPr lang="en-US" sz="1200" dirty="0">
                <a:solidFill>
                  <a:srgbClr val="7F1D1D"/>
                </a:solidFill>
                <a:latin typeface="Calibri" pitchFamily="34" charset="0"/>
                <a:ea typeface="Calibri" pitchFamily="34" charset="-122"/>
                <a:cs typeface="Calibri" pitchFamily="34" charset="-120"/>
              </a:rPr>
              <a:t>≥8h offline</a:t>
            </a:r>
            <a:endParaRPr lang="en-US" sz="1200" dirty="0"/>
          </a:p>
        </p:txBody>
      </p:sp>
      <p:sp>
        <p:nvSpPr>
          <p:cNvPr id="21" name="Text 19"/>
          <p:cNvSpPr/>
          <p:nvPr/>
        </p:nvSpPr>
        <p:spPr>
          <a:xfrm>
            <a:off x="7379208" y="2286000"/>
            <a:ext cx="1078992" cy="438912"/>
          </a:xfrm>
          <a:prstGeom prst="rect">
            <a:avLst/>
          </a:prstGeom>
          <a:noFill/>
          <a:ln/>
        </p:spPr>
        <p:txBody>
          <a:bodyPr wrap="square" lIns="0" tIns="0" rIns="0" bIns="0" rtlCol="0" anchor="ctr"/>
          <a:lstStyle/>
          <a:p>
            <a:pPr algn="ctr" indent="0" marL="0">
              <a:buNone/>
            </a:pPr>
            <a:r>
              <a:rPr lang="en-US" sz="1200" dirty="0">
                <a:solidFill>
                  <a:srgbClr val="7F1D1D"/>
                </a:solidFill>
                <a:latin typeface="Calibri" pitchFamily="34" charset="0"/>
                <a:ea typeface="Calibri" pitchFamily="34" charset="-122"/>
                <a:cs typeface="Calibri" pitchFamily="34" charset="-120"/>
              </a:rPr>
              <a:t>$900</a:t>
            </a:r>
            <a:endParaRPr lang="en-US" sz="1200" dirty="0"/>
          </a:p>
        </p:txBody>
      </p:sp>
      <p:sp>
        <p:nvSpPr>
          <p:cNvPr id="22" name="Shape 20"/>
          <p:cNvSpPr/>
          <p:nvPr/>
        </p:nvSpPr>
        <p:spPr>
          <a:xfrm>
            <a:off x="4754880" y="2761488"/>
            <a:ext cx="4069080" cy="566928"/>
          </a:xfrm>
          <a:prstGeom prst="rect">
            <a:avLst/>
          </a:prstGeom>
          <a:solidFill>
            <a:srgbClr val="FFF7ED"/>
          </a:solidFill>
          <a:ln w="12700">
            <a:solidFill>
              <a:srgbClr val="F59E0B"/>
            </a:solidFill>
            <a:prstDash val="solid"/>
          </a:ln>
        </p:spPr>
      </p:sp>
      <p:sp>
        <p:nvSpPr>
          <p:cNvPr id="23" name="Text 21"/>
          <p:cNvSpPr/>
          <p:nvPr/>
        </p:nvSpPr>
        <p:spPr>
          <a:xfrm>
            <a:off x="4800600" y="2779776"/>
            <a:ext cx="3977640" cy="530352"/>
          </a:xfrm>
          <a:prstGeom prst="rect">
            <a:avLst/>
          </a:prstGeom>
          <a:noFill/>
          <a:ln/>
        </p:spPr>
        <p:txBody>
          <a:bodyPr wrap="square" rtlCol="0" anchor="ctr"/>
          <a:lstStyle/>
          <a:p>
            <a:pPr algn="ctr" indent="0" marL="0">
              <a:buNone/>
            </a:pPr>
            <a:r>
              <a:rPr lang="en-US" sz="1100" dirty="0">
                <a:solidFill>
                  <a:srgbClr val="92400E"/>
                </a:solidFill>
                <a:latin typeface="Calibri" pitchFamily="34" charset="0"/>
                <a:ea typeface="Calibri" pitchFamily="34" charset="-122"/>
                <a:cs typeface="Calibri" pitchFamily="34" charset="-120"/>
              </a:rPr>
              <a:t>Flat model charges $100 for everything</a:t>
            </a:r>
            <a:endParaRPr lang="en-US" sz="1100" dirty="0"/>
          </a:p>
          <a:p>
            <a:pPr algn="ctr" indent="0" marL="0">
              <a:buNone/>
            </a:pPr>
            <a:r>
              <a:rPr lang="en-US" sz="1100" dirty="0">
                <a:solidFill>
                  <a:srgbClr val="92400E"/>
                </a:solidFill>
                <a:latin typeface="Calibri" pitchFamily="34" charset="0"/>
                <a:ea typeface="Calibri" pitchFamily="34" charset="-122"/>
                <a:cs typeface="Calibri" pitchFamily="34" charset="-120"/>
              </a:rPr>
              <a:t>→ underprices cold starts by 9×</a:t>
            </a:r>
            <a:endParaRPr lang="en-US" sz="1100" dirty="0"/>
          </a:p>
        </p:txBody>
      </p:sp>
      <p:sp>
        <p:nvSpPr>
          <p:cNvPr id="24" name="Shape 22"/>
          <p:cNvSpPr/>
          <p:nvPr/>
        </p:nvSpPr>
        <p:spPr>
          <a:xfrm>
            <a:off x="457200" y="4005072"/>
            <a:ext cx="8229600" cy="502920"/>
          </a:xfrm>
          <a:prstGeom prst="rect">
            <a:avLst/>
          </a:prstGeom>
          <a:solidFill>
            <a:srgbClr val="FEF2F2"/>
          </a:solidFill>
          <a:ln w="12700">
            <a:solidFill>
              <a:srgbClr val="DC2626"/>
            </a:solidFill>
            <a:prstDash val="solid"/>
          </a:ln>
        </p:spPr>
      </p:sp>
      <p:sp>
        <p:nvSpPr>
          <p:cNvPr id="25" name="Text 23"/>
          <p:cNvSpPr/>
          <p:nvPr/>
        </p:nvSpPr>
        <p:spPr>
          <a:xfrm>
            <a:off x="502920" y="4005072"/>
            <a:ext cx="8138160" cy="502920"/>
          </a:xfrm>
          <a:prstGeom prst="rect">
            <a:avLst/>
          </a:prstGeom>
          <a:noFill/>
          <a:ln/>
        </p:spPr>
        <p:txBody>
          <a:bodyPr wrap="square" lIns="0" tIns="0" rIns="0" bIns="0" rtlCol="0" anchor="ctr"/>
          <a:lstStyle/>
          <a:p>
            <a:pPr algn="ctr" indent="0" marL="0">
              <a:buNone/>
            </a:pPr>
            <a:r>
              <a:rPr lang="en-US" sz="1200" b="1" dirty="0">
                <a:solidFill>
                  <a:srgbClr val="B91C1C"/>
                </a:solidFill>
                <a:latin typeface="Calibri" pitchFamily="34" charset="0"/>
                <a:ea typeface="Calibri" pitchFamily="34" charset="-122"/>
                <a:cs typeface="Calibri" pitchFamily="34" charset="-120"/>
              </a:rPr>
              <a:t>Wrong startup cost  →  wrong cycling decisions  →  wrong commitment  →  wrong LMPs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3B82F6"/>
          </a:solidFill>
          <a:ln w="12700">
            <a:solidFill>
              <a:srgbClr val="3B82F6"/>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Part 1 — Window-Based Binary Formulation</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Shape 3"/>
          <p:cNvSpPr/>
          <p:nvPr/>
        </p:nvSpPr>
        <p:spPr>
          <a:xfrm>
            <a:off x="457200" y="1024128"/>
            <a:ext cx="3840480" cy="1261872"/>
          </a:xfrm>
          <a:prstGeom prst="rect">
            <a:avLst/>
          </a:prstGeom>
          <a:solidFill>
            <a:srgbClr val="FEF2F2"/>
          </a:solidFill>
          <a:ln w="12700">
            <a:solidFill>
              <a:srgbClr val="DC2626"/>
            </a:solidFill>
            <a:prstDash val="solid"/>
          </a:ln>
        </p:spPr>
      </p:sp>
      <p:sp>
        <p:nvSpPr>
          <p:cNvPr id="6" name="Text 4"/>
          <p:cNvSpPr/>
          <p:nvPr/>
        </p:nvSpPr>
        <p:spPr>
          <a:xfrm>
            <a:off x="548640" y="1069848"/>
            <a:ext cx="3657600" cy="365760"/>
          </a:xfrm>
          <a:prstGeom prst="rect">
            <a:avLst/>
          </a:prstGeom>
          <a:noFill/>
          <a:ln/>
        </p:spPr>
        <p:txBody>
          <a:bodyPr wrap="square" lIns="0" tIns="0" rIns="0" bIns="0" rtlCol="0" anchor="ctr"/>
          <a:lstStyle/>
          <a:p>
            <a:pPr algn="l" indent="0" marL="0">
              <a:buNone/>
            </a:pPr>
            <a:r>
              <a:rPr lang="en-US" sz="1250" b="1" dirty="0">
                <a:solidFill>
                  <a:srgbClr val="DC2626"/>
                </a:solidFill>
                <a:latin typeface="Calibri" pitchFamily="34" charset="0"/>
                <a:ea typeface="Calibri" pitchFamily="34" charset="-122"/>
                <a:cs typeface="Calibri" pitchFamily="34" charset="-120"/>
              </a:rPr>
              <a:t>✗  Big-M Countdown Timer</a:t>
            </a:r>
            <a:endParaRPr lang="en-US" sz="1250" dirty="0"/>
          </a:p>
        </p:txBody>
      </p:sp>
      <p:sp>
        <p:nvSpPr>
          <p:cNvPr id="7" name="Text 5"/>
          <p:cNvSpPr/>
          <p:nvPr/>
        </p:nvSpPr>
        <p:spPr>
          <a:xfrm>
            <a:off x="548640" y="1444752"/>
            <a:ext cx="3657600" cy="777240"/>
          </a:xfrm>
          <a:prstGeom prst="rect">
            <a:avLst/>
          </a:prstGeom>
          <a:noFill/>
          <a:ln/>
        </p:spPr>
        <p:txBody>
          <a:bodyPr wrap="square" lIns="0" tIns="0" rIns="0" bIns="0" rtlCol="0" anchor="ctr"/>
          <a:lstStyle/>
          <a:p>
            <a:pPr algn="l" indent="0" marL="0">
              <a:buNone/>
            </a:pPr>
            <a:r>
              <a:rPr lang="en-US" sz="1100" dirty="0">
                <a:solidFill>
                  <a:srgbClr val="475569"/>
                </a:solidFill>
                <a:latin typeface="Calibri" pitchFamily="34" charset="0"/>
                <a:ea typeface="Calibri" pitchFamily="34" charset="-122"/>
                <a:cs typeface="Calibri" pitchFamily="34" charset="-120"/>
              </a:rPr>
              <a:t>Requires large constant M to encode</a:t>
            </a:r>
            <a:endParaRPr lang="en-US" sz="1100" dirty="0"/>
          </a:p>
          <a:p>
            <a:pPr algn="l" indent="0" marL="0">
              <a:buNone/>
            </a:pPr>
            <a:r>
              <a:rPr lang="en-US" sz="1100" dirty="0">
                <a:solidFill>
                  <a:srgbClr val="475569"/>
                </a:solidFill>
                <a:latin typeface="Calibri" pitchFamily="34" charset="0"/>
                <a:ea typeface="Calibri" pitchFamily="34" charset="-122"/>
                <a:cs typeface="Calibri" pitchFamily="34" charset="-120"/>
              </a:rPr>
              <a:t>“if offline ≥ T hours”</a:t>
            </a:r>
            <a:endParaRPr lang="en-US" sz="1100" dirty="0"/>
          </a:p>
          <a:p>
            <a:pPr algn="l" indent="0" marL="0">
              <a:buNone/>
            </a:pPr>
            <a:r>
              <a:rPr lang="en-US" sz="1100" dirty="0">
                <a:solidFill>
                  <a:srgbClr val="475569"/>
                </a:solidFill>
                <a:latin typeface="Calibri" pitchFamily="34" charset="0"/>
                <a:ea typeface="Calibri" pitchFamily="34" charset="-122"/>
                <a:cs typeface="Calibri" pitchFamily="34" charset="-120"/>
              </a:rPr>
              <a:t>Weakens LP relaxation → 3–10× more B&amp;B nodes</a:t>
            </a:r>
            <a:endParaRPr lang="en-US" sz="1100" dirty="0"/>
          </a:p>
        </p:txBody>
      </p:sp>
      <p:sp>
        <p:nvSpPr>
          <p:cNvPr id="8" name="Text 6"/>
          <p:cNvSpPr/>
          <p:nvPr/>
        </p:nvSpPr>
        <p:spPr>
          <a:xfrm>
            <a:off x="4325112" y="1325880"/>
            <a:ext cx="493776" cy="502920"/>
          </a:xfrm>
          <a:prstGeom prst="rect">
            <a:avLst/>
          </a:prstGeom>
          <a:noFill/>
          <a:ln/>
        </p:spPr>
        <p:txBody>
          <a:bodyPr wrap="square" lIns="0" tIns="0" rIns="0" bIns="0" rtlCol="0" anchor="ctr"/>
          <a:lstStyle/>
          <a:p>
            <a:pPr algn="ctr" indent="0" marL="0">
              <a:buNone/>
            </a:pPr>
            <a:r>
              <a:rPr lang="en-US" sz="1800" b="1" dirty="0">
                <a:solidFill>
                  <a:srgbClr val="475569"/>
                </a:solidFill>
                <a:latin typeface="Cambria" pitchFamily="34" charset="0"/>
                <a:ea typeface="Cambria" pitchFamily="34" charset="-122"/>
                <a:cs typeface="Cambria" pitchFamily="34" charset="-120"/>
              </a:rPr>
              <a:t>vs.</a:t>
            </a:r>
            <a:endParaRPr lang="en-US" sz="1800" dirty="0"/>
          </a:p>
        </p:txBody>
      </p:sp>
      <p:sp>
        <p:nvSpPr>
          <p:cNvPr id="9" name="Shape 7"/>
          <p:cNvSpPr/>
          <p:nvPr/>
        </p:nvSpPr>
        <p:spPr>
          <a:xfrm>
            <a:off x="4846320" y="1024128"/>
            <a:ext cx="3840480" cy="1261872"/>
          </a:xfrm>
          <a:prstGeom prst="rect">
            <a:avLst/>
          </a:prstGeom>
          <a:solidFill>
            <a:srgbClr val="DCFCE7"/>
          </a:solidFill>
          <a:ln w="12700">
            <a:solidFill>
              <a:srgbClr val="16A34A"/>
            </a:solidFill>
            <a:prstDash val="solid"/>
          </a:ln>
        </p:spPr>
      </p:sp>
      <p:sp>
        <p:nvSpPr>
          <p:cNvPr id="10" name="Text 8"/>
          <p:cNvSpPr/>
          <p:nvPr/>
        </p:nvSpPr>
        <p:spPr>
          <a:xfrm>
            <a:off x="4937760" y="1069848"/>
            <a:ext cx="3657600" cy="365760"/>
          </a:xfrm>
          <a:prstGeom prst="rect">
            <a:avLst/>
          </a:prstGeom>
          <a:noFill/>
          <a:ln/>
        </p:spPr>
        <p:txBody>
          <a:bodyPr wrap="square" lIns="0" tIns="0" rIns="0" bIns="0" rtlCol="0" anchor="ctr"/>
          <a:lstStyle/>
          <a:p>
            <a:pPr algn="l" indent="0" marL="0">
              <a:buNone/>
            </a:pPr>
            <a:r>
              <a:rPr lang="en-US" sz="1250" b="1" dirty="0">
                <a:solidFill>
                  <a:srgbClr val="166534"/>
                </a:solidFill>
                <a:latin typeface="Calibri" pitchFamily="34" charset="0"/>
                <a:ea typeface="Calibri" pitchFamily="34" charset="-122"/>
                <a:cs typeface="Calibri" pitchFamily="34" charset="-120"/>
              </a:rPr>
              <a:t>✓  Window-Based Binary δ[g,s,t]</a:t>
            </a:r>
            <a:endParaRPr lang="en-US" sz="1250" dirty="0"/>
          </a:p>
        </p:txBody>
      </p:sp>
      <p:sp>
        <p:nvSpPr>
          <p:cNvPr id="11" name="Text 9"/>
          <p:cNvSpPr/>
          <p:nvPr/>
        </p:nvSpPr>
        <p:spPr>
          <a:xfrm>
            <a:off x="4937760" y="1444752"/>
            <a:ext cx="3657600" cy="777240"/>
          </a:xfrm>
          <a:prstGeom prst="rect">
            <a:avLst/>
          </a:prstGeom>
          <a:noFill/>
          <a:ln/>
        </p:spPr>
        <p:txBody>
          <a:bodyPr wrap="square" lIns="0" tIns="0" rIns="0" bIns="0" rtlCol="0" anchor="ctr"/>
          <a:lstStyle/>
          <a:p>
            <a:pPr algn="l" indent="0" marL="0">
              <a:buNone/>
            </a:pPr>
            <a:r>
              <a:rPr lang="en-US" sz="1100" dirty="0">
                <a:solidFill>
                  <a:srgbClr val="475569"/>
                </a:solidFill>
                <a:latin typeface="Calibri" pitchFamily="34" charset="0"/>
                <a:ea typeface="Calibri" pitchFamily="34" charset="-122"/>
                <a:cs typeface="Calibri" pitchFamily="34" charset="-120"/>
              </a:rPr>
              <a:t>RHS = sum of existing binary switch_off vars</a:t>
            </a:r>
            <a:endParaRPr lang="en-US" sz="1100" dirty="0"/>
          </a:p>
          <a:p>
            <a:pPr algn="l" indent="0" marL="0">
              <a:buNone/>
            </a:pPr>
            <a:r>
              <a:rPr lang="en-US" sz="1100" dirty="0">
                <a:solidFill>
                  <a:srgbClr val="475569"/>
                </a:solidFill>
                <a:latin typeface="Calibri" pitchFamily="34" charset="0"/>
                <a:ea typeface="Calibri" pitchFamily="34" charset="-122"/>
                <a:cs typeface="Calibri" pitchFamily="34" charset="-120"/>
              </a:rPr>
              <a:t>Always ≤ 1  →  no Big-M needed</a:t>
            </a:r>
            <a:endParaRPr lang="en-US" sz="1100" dirty="0"/>
          </a:p>
          <a:p>
            <a:pPr algn="l" indent="0" marL="0">
              <a:buNone/>
            </a:pPr>
            <a:r>
              <a:rPr lang="en-US" sz="1100" dirty="0">
                <a:solidFill>
                  <a:srgbClr val="475569"/>
                </a:solidFill>
                <a:latin typeface="Calibri" pitchFamily="34" charset="0"/>
                <a:ea typeface="Calibri" pitchFamily="34" charset="-122"/>
                <a:cs typeface="Calibri" pitchFamily="34" charset="-120"/>
              </a:rPr>
              <a:t>Tight LP bound  →  fast MILP solve</a:t>
            </a:r>
            <a:endParaRPr lang="en-US" sz="1100" dirty="0"/>
          </a:p>
        </p:txBody>
      </p:sp>
      <p:sp>
        <p:nvSpPr>
          <p:cNvPr id="12" name="Text 10"/>
          <p:cNvSpPr/>
          <p:nvPr/>
        </p:nvSpPr>
        <p:spPr>
          <a:xfrm>
            <a:off x="457200" y="2423160"/>
            <a:ext cx="8229600" cy="320040"/>
          </a:xfrm>
          <a:prstGeom prst="rect">
            <a:avLst/>
          </a:prstGeom>
          <a:noFill/>
          <a:ln/>
        </p:spPr>
        <p:txBody>
          <a:bodyPr wrap="square" lIns="0" tIns="0" rIns="0" bIns="0" rtlCol="0" anchor="ctr"/>
          <a:lstStyle/>
          <a:p>
            <a:pPr algn="l" indent="0" marL="0">
              <a:buNone/>
            </a:pPr>
            <a:r>
              <a:rPr lang="en-US" sz="1250" b="1" dirty="0">
                <a:solidFill>
                  <a:srgbClr val="1E2761"/>
                </a:solidFill>
                <a:latin typeface="Cambria" pitchFamily="34" charset="0"/>
                <a:ea typeface="Cambria" pitchFamily="34" charset="-122"/>
                <a:cs typeface="Cambria" pitchFamily="34" charset="-120"/>
              </a:rPr>
              <a:t>Two constraints per (generator, tier, period):</a:t>
            </a:r>
            <a:endParaRPr lang="en-US" sz="1250" dirty="0"/>
          </a:p>
        </p:txBody>
      </p:sp>
      <p:sp>
        <p:nvSpPr>
          <p:cNvPr id="13" name="Shape 11"/>
          <p:cNvSpPr/>
          <p:nvPr/>
        </p:nvSpPr>
        <p:spPr>
          <a:xfrm>
            <a:off x="457200" y="2770632"/>
            <a:ext cx="3840480" cy="658368"/>
          </a:xfrm>
          <a:prstGeom prst="rect">
            <a:avLst/>
          </a:prstGeom>
          <a:solidFill>
            <a:srgbClr val="EFF6FF"/>
          </a:solidFill>
          <a:ln w="12700">
            <a:solidFill>
              <a:srgbClr val="4FA8D8"/>
            </a:solidFill>
            <a:prstDash val="solid"/>
          </a:ln>
        </p:spPr>
      </p:sp>
      <p:sp>
        <p:nvSpPr>
          <p:cNvPr id="14" name="Text 12"/>
          <p:cNvSpPr/>
          <p:nvPr/>
        </p:nvSpPr>
        <p:spPr>
          <a:xfrm>
            <a:off x="530352" y="2788920"/>
            <a:ext cx="3694176" cy="310896"/>
          </a:xfrm>
          <a:prstGeom prst="rect">
            <a:avLst/>
          </a:prstGeom>
          <a:noFill/>
          <a:ln/>
        </p:spPr>
        <p:txBody>
          <a:bodyPr wrap="square" lIns="0" tIns="0" rIns="0" bIns="0" rtlCol="0" anchor="ctr"/>
          <a:lstStyle/>
          <a:p>
            <a:pPr algn="l" indent="0" marL="0">
              <a:buNone/>
            </a:pPr>
            <a:r>
              <a:rPr lang="en-US" sz="1200" b="1" dirty="0">
                <a:solidFill>
                  <a:srgbClr val="1E2761"/>
                </a:solidFill>
                <a:latin typeface="Consolas" pitchFamily="34" charset="0"/>
                <a:ea typeface="Consolas" pitchFamily="34" charset="-122"/>
                <a:cs typeface="Consolas" pitchFamily="34" charset="-120"/>
              </a:rPr>
              <a:t>Σₛ δ[g,s,t]  =  v[g,t]</a:t>
            </a:r>
            <a:endParaRPr lang="en-US" sz="1200" dirty="0"/>
          </a:p>
        </p:txBody>
      </p:sp>
      <p:sp>
        <p:nvSpPr>
          <p:cNvPr id="15" name="Text 13"/>
          <p:cNvSpPr/>
          <p:nvPr/>
        </p:nvSpPr>
        <p:spPr>
          <a:xfrm>
            <a:off x="530352" y="3090672"/>
            <a:ext cx="3694176" cy="310896"/>
          </a:xfrm>
          <a:prstGeom prst="rect">
            <a:avLst/>
          </a:prstGeom>
          <a:noFill/>
          <a:ln/>
        </p:spPr>
        <p:txBody>
          <a:bodyPr wrap="square" lIns="0" tIns="0" rIns="0" bIns="0" rtlCol="0" anchor="ctr"/>
          <a:lstStyle/>
          <a:p>
            <a:pPr algn="l" indent="0" marL="0">
              <a:buNone/>
            </a:pPr>
            <a:r>
              <a:rPr lang="en-US" sz="1000" i="1" dirty="0">
                <a:solidFill>
                  <a:srgbClr val="475569"/>
                </a:solidFill>
                <a:latin typeface="Calibri" pitchFamily="34" charset="0"/>
                <a:ea typeface="Calibri" pitchFamily="34" charset="-122"/>
                <a:cs typeface="Calibri" pitchFamily="34" charset="-120"/>
              </a:rPr>
              <a:t>Exactly one tier chosen per startup event</a:t>
            </a:r>
            <a:endParaRPr lang="en-US" sz="1000" dirty="0"/>
          </a:p>
        </p:txBody>
      </p:sp>
      <p:sp>
        <p:nvSpPr>
          <p:cNvPr id="16" name="Shape 14"/>
          <p:cNvSpPr/>
          <p:nvPr/>
        </p:nvSpPr>
        <p:spPr>
          <a:xfrm>
            <a:off x="4846320" y="2770632"/>
            <a:ext cx="3840480" cy="658368"/>
          </a:xfrm>
          <a:prstGeom prst="rect">
            <a:avLst/>
          </a:prstGeom>
          <a:solidFill>
            <a:srgbClr val="EFF6FF"/>
          </a:solidFill>
          <a:ln w="12700">
            <a:solidFill>
              <a:srgbClr val="4FA8D8"/>
            </a:solidFill>
            <a:prstDash val="solid"/>
          </a:ln>
        </p:spPr>
      </p:sp>
      <p:sp>
        <p:nvSpPr>
          <p:cNvPr id="17" name="Text 15"/>
          <p:cNvSpPr/>
          <p:nvPr/>
        </p:nvSpPr>
        <p:spPr>
          <a:xfrm>
            <a:off x="4919472" y="2788920"/>
            <a:ext cx="3694176" cy="310896"/>
          </a:xfrm>
          <a:prstGeom prst="rect">
            <a:avLst/>
          </a:prstGeom>
          <a:noFill/>
          <a:ln/>
        </p:spPr>
        <p:txBody>
          <a:bodyPr wrap="square" lIns="0" tIns="0" rIns="0" bIns="0" rtlCol="0" anchor="ctr"/>
          <a:lstStyle/>
          <a:p>
            <a:pPr algn="l" indent="0" marL="0">
              <a:buNone/>
            </a:pPr>
            <a:r>
              <a:rPr lang="en-US" sz="1200" b="1" dirty="0">
                <a:solidFill>
                  <a:srgbClr val="1E2761"/>
                </a:solidFill>
                <a:latin typeface="Consolas" pitchFamily="34" charset="0"/>
                <a:ea typeface="Consolas" pitchFamily="34" charset="-122"/>
                <a:cs typeface="Consolas" pitchFamily="34" charset="-120"/>
              </a:rPr>
              <a:t>δ[g,s,t]  ≤  Σᵢ w[g,i] + pre_horizon</a:t>
            </a:r>
            <a:endParaRPr lang="en-US" sz="1200" dirty="0"/>
          </a:p>
        </p:txBody>
      </p:sp>
      <p:sp>
        <p:nvSpPr>
          <p:cNvPr id="18" name="Text 16"/>
          <p:cNvSpPr/>
          <p:nvPr/>
        </p:nvSpPr>
        <p:spPr>
          <a:xfrm>
            <a:off x="4919472" y="3090672"/>
            <a:ext cx="3694176" cy="310896"/>
          </a:xfrm>
          <a:prstGeom prst="rect">
            <a:avLst/>
          </a:prstGeom>
          <a:noFill/>
          <a:ln/>
        </p:spPr>
        <p:txBody>
          <a:bodyPr wrap="square" lIns="0" tIns="0" rIns="0" bIns="0" rtlCol="0" anchor="ctr"/>
          <a:lstStyle/>
          <a:p>
            <a:pPr algn="l" indent="0" marL="0">
              <a:buNone/>
            </a:pPr>
            <a:r>
              <a:rPr lang="en-US" sz="1000" i="1" dirty="0">
                <a:solidFill>
                  <a:srgbClr val="475569"/>
                </a:solidFill>
                <a:latin typeface="Calibri" pitchFamily="34" charset="0"/>
                <a:ea typeface="Calibri" pitchFamily="34" charset="-122"/>
                <a:cs typeface="Calibri" pitchFamily="34" charset="-120"/>
              </a:rPr>
              <a:t>Unit was offline long enough to reach tier s</a:t>
            </a:r>
            <a:endParaRPr lang="en-US" sz="1000" dirty="0"/>
          </a:p>
        </p:txBody>
      </p:sp>
      <p:sp>
        <p:nvSpPr>
          <p:cNvPr id="19" name="Shape 17"/>
          <p:cNvSpPr/>
          <p:nvPr/>
        </p:nvSpPr>
        <p:spPr>
          <a:xfrm>
            <a:off x="457200" y="3566160"/>
            <a:ext cx="8229600" cy="566928"/>
          </a:xfrm>
          <a:prstGeom prst="rect">
            <a:avLst/>
          </a:prstGeom>
          <a:solidFill>
            <a:srgbClr val="1E2761"/>
          </a:solidFill>
          <a:ln w="12700">
            <a:solidFill>
              <a:srgbClr val="1E2761"/>
            </a:solidFill>
            <a:prstDash val="solid"/>
          </a:ln>
        </p:spPr>
      </p:sp>
      <p:sp>
        <p:nvSpPr>
          <p:cNvPr id="20" name="Text 18"/>
          <p:cNvSpPr/>
          <p:nvPr/>
        </p:nvSpPr>
        <p:spPr>
          <a:xfrm>
            <a:off x="530352" y="3566160"/>
            <a:ext cx="8083296" cy="566928"/>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Used in production by MISO, PJM, ERCOT  ·  Morales-España et al., IEEE Trans. Power Systems (2013)</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Part 2 — N-1 Security at Scale</a:t>
            </a:r>
            <a:endParaRPr lang="en-US" sz="2800" dirty="0"/>
          </a:p>
        </p:txBody>
      </p:sp>
      <p:sp>
        <p:nvSpPr>
          <p:cNvPr id="3" name="Text 1"/>
          <p:cNvSpPr/>
          <p:nvPr/>
        </p:nvSpPr>
        <p:spPr>
          <a:xfrm>
            <a:off x="320040" y="1051560"/>
            <a:ext cx="3749040" cy="1645920"/>
          </a:xfrm>
          <a:prstGeom prst="rect">
            <a:avLst/>
          </a:prstGeom>
          <a:noFill/>
          <a:ln/>
        </p:spPr>
        <p:txBody>
          <a:bodyPr wrap="square" lIns="0" tIns="0" rIns="0" bIns="0" rtlCol="0" anchor="ctr"/>
          <a:lstStyle/>
          <a:p>
            <a:pPr algn="ctr" indent="0" marL="0">
              <a:buNone/>
            </a:pPr>
            <a:r>
              <a:rPr lang="en-US" sz="7600" b="1" dirty="0">
                <a:solidFill>
                  <a:srgbClr val="4FA8D8"/>
                </a:solidFill>
                <a:latin typeface="Cambria" pitchFamily="34" charset="0"/>
                <a:ea typeface="Cambria" pitchFamily="34" charset="-122"/>
                <a:cs typeface="Cambria" pitchFamily="34" charset="-120"/>
              </a:rPr>
              <a:t>14,592</a:t>
            </a:r>
            <a:endParaRPr lang="en-US" sz="7600" dirty="0"/>
          </a:p>
        </p:txBody>
      </p:sp>
      <p:sp>
        <p:nvSpPr>
          <p:cNvPr id="4" name="Text 2"/>
          <p:cNvSpPr/>
          <p:nvPr/>
        </p:nvSpPr>
        <p:spPr>
          <a:xfrm>
            <a:off x="320040" y="2651760"/>
            <a:ext cx="3749040" cy="566928"/>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new inequalities if added upfront</a:t>
            </a:r>
            <a:endParaRPr lang="en-US" sz="1250" dirty="0"/>
          </a:p>
          <a:p>
            <a:pPr algn="ctr" indent="0" marL="0">
              <a:buNone/>
            </a:pPr>
            <a:r>
              <a:rPr lang="en-US" sz="1250" dirty="0">
                <a:solidFill>
                  <a:srgbClr val="CADCFC"/>
                </a:solidFill>
                <a:latin typeface="Calibri" pitchFamily="34" charset="0"/>
                <a:ea typeface="Calibri" pitchFamily="34" charset="-122"/>
                <a:cs typeface="Calibri" pitchFamily="34" charset="-120"/>
              </a:rPr>
              <a:t>(3× model size)</a:t>
            </a:r>
            <a:endParaRPr lang="en-US" sz="1250" dirty="0"/>
          </a:p>
        </p:txBody>
      </p:sp>
      <p:sp>
        <p:nvSpPr>
          <p:cNvPr id="5" name="Shape 3"/>
          <p:cNvSpPr/>
          <p:nvPr/>
        </p:nvSpPr>
        <p:spPr>
          <a:xfrm>
            <a:off x="320040" y="3310128"/>
            <a:ext cx="3749040" cy="713232"/>
          </a:xfrm>
          <a:prstGeom prst="rect">
            <a:avLst/>
          </a:prstGeom>
          <a:solidFill>
            <a:srgbClr val="1A3168"/>
          </a:solidFill>
          <a:ln w="12700">
            <a:solidFill>
              <a:srgbClr val="4FA8D8"/>
            </a:solidFill>
            <a:prstDash val="solid"/>
          </a:ln>
        </p:spPr>
      </p:sp>
      <p:sp>
        <p:nvSpPr>
          <p:cNvPr id="6" name="Text 4"/>
          <p:cNvSpPr/>
          <p:nvPr/>
        </p:nvSpPr>
        <p:spPr>
          <a:xfrm>
            <a:off x="384048" y="3328416"/>
            <a:ext cx="3621024" cy="676656"/>
          </a:xfrm>
          <a:prstGeom prst="rect">
            <a:avLst/>
          </a:prstGeom>
          <a:noFill/>
          <a:ln/>
        </p:spPr>
        <p:txBody>
          <a:bodyPr wrap="square" lIns="0" tIns="0" rIns="0" bIns="0" rtlCol="0" anchor="ctr"/>
          <a:lstStyle/>
          <a:p>
            <a:pPr algn="ctr" indent="0" marL="0">
              <a:buNone/>
            </a:pPr>
            <a:r>
              <a:rPr lang="en-US" sz="1100" dirty="0">
                <a:solidFill>
                  <a:srgbClr val="CADCFC"/>
                </a:solidFill>
                <a:latin typeface="Consolas" pitchFamily="34" charset="0"/>
                <a:ea typeface="Consolas" pitchFamily="34" charset="-122"/>
                <a:cs typeface="Consolas" pitchFamily="34" charset="-120"/>
              </a:rPr>
              <a:t>f_post[k,c,t]  =  f_k[t]  +  LODF[k,c] × f_c[t]</a:t>
            </a:r>
            <a:endParaRPr lang="en-US" sz="1100" dirty="0"/>
          </a:p>
        </p:txBody>
      </p:sp>
      <p:sp>
        <p:nvSpPr>
          <p:cNvPr id="7" name="Text 5"/>
          <p:cNvSpPr/>
          <p:nvPr/>
        </p:nvSpPr>
        <p:spPr>
          <a:xfrm>
            <a:off x="320040" y="4059936"/>
            <a:ext cx="3749040" cy="3200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Post-contingency flow via pre-computed LODF matrix</a:t>
            </a:r>
            <a:endParaRPr lang="en-US" sz="950" dirty="0"/>
          </a:p>
        </p:txBody>
      </p:sp>
      <p:sp>
        <p:nvSpPr>
          <p:cNvPr id="8" name="Shape 6"/>
          <p:cNvSpPr/>
          <p:nvPr/>
        </p:nvSpPr>
        <p:spPr>
          <a:xfrm>
            <a:off x="4617720" y="1051560"/>
            <a:ext cx="4160520" cy="731520"/>
          </a:xfrm>
          <a:prstGeom prst="rect">
            <a:avLst/>
          </a:prstGeom>
          <a:solidFill>
            <a:srgbClr val="1A3168"/>
          </a:solidFill>
          <a:ln w="12700">
            <a:solidFill>
              <a:srgbClr val="2D4A8A"/>
            </a:solidFill>
            <a:prstDash val="solid"/>
          </a:ln>
        </p:spPr>
      </p:sp>
      <p:sp>
        <p:nvSpPr>
          <p:cNvPr id="9" name="Text 7"/>
          <p:cNvSpPr/>
          <p:nvPr/>
        </p:nvSpPr>
        <p:spPr>
          <a:xfrm>
            <a:off x="4736592" y="1078992"/>
            <a:ext cx="2560320" cy="676656"/>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Monitored branches</a:t>
            </a:r>
            <a:endParaRPr lang="en-US" sz="1300" dirty="0"/>
          </a:p>
        </p:txBody>
      </p:sp>
      <p:sp>
        <p:nvSpPr>
          <p:cNvPr id="10" name="Text 8"/>
          <p:cNvSpPr/>
          <p:nvPr/>
        </p:nvSpPr>
        <p:spPr>
          <a:xfrm>
            <a:off x="7223760" y="1078992"/>
            <a:ext cx="1463040" cy="676656"/>
          </a:xfrm>
          <a:prstGeom prst="rect">
            <a:avLst/>
          </a:prstGeom>
          <a:noFill/>
          <a:ln/>
        </p:spPr>
        <p:txBody>
          <a:bodyPr wrap="square" lIns="0" tIns="0" rIns="0" bIns="0" rtlCol="0" anchor="ctr"/>
          <a:lstStyle/>
          <a:p>
            <a:pPr algn="r" indent="0" marL="0">
              <a:buNone/>
            </a:pPr>
            <a:r>
              <a:rPr lang="en-US" sz="2200" b="1" dirty="0">
                <a:solidFill>
                  <a:srgbClr val="6EE7B7"/>
                </a:solidFill>
                <a:latin typeface="Cambria" pitchFamily="34" charset="0"/>
                <a:ea typeface="Cambria" pitchFamily="34" charset="-122"/>
                <a:cs typeface="Cambria" pitchFamily="34" charset="-120"/>
              </a:rPr>
              <a:t>38</a:t>
            </a:r>
            <a:endParaRPr lang="en-US" sz="2200" dirty="0"/>
          </a:p>
        </p:txBody>
      </p:sp>
      <p:sp>
        <p:nvSpPr>
          <p:cNvPr id="11" name="Shape 9"/>
          <p:cNvSpPr/>
          <p:nvPr/>
        </p:nvSpPr>
        <p:spPr>
          <a:xfrm>
            <a:off x="4617720" y="1938528"/>
            <a:ext cx="4160520" cy="731520"/>
          </a:xfrm>
          <a:prstGeom prst="rect">
            <a:avLst/>
          </a:prstGeom>
          <a:solidFill>
            <a:srgbClr val="1A3168"/>
          </a:solidFill>
          <a:ln w="12700">
            <a:solidFill>
              <a:srgbClr val="2D4A8A"/>
            </a:solidFill>
            <a:prstDash val="solid"/>
          </a:ln>
        </p:spPr>
      </p:sp>
      <p:sp>
        <p:nvSpPr>
          <p:cNvPr id="12" name="Text 10"/>
          <p:cNvSpPr/>
          <p:nvPr/>
        </p:nvSpPr>
        <p:spPr>
          <a:xfrm>
            <a:off x="4736592" y="1965960"/>
            <a:ext cx="2560320" cy="676656"/>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Contingencies</a:t>
            </a:r>
            <a:endParaRPr lang="en-US" sz="1300" dirty="0"/>
          </a:p>
        </p:txBody>
      </p:sp>
      <p:sp>
        <p:nvSpPr>
          <p:cNvPr id="13" name="Text 11"/>
          <p:cNvSpPr/>
          <p:nvPr/>
        </p:nvSpPr>
        <p:spPr>
          <a:xfrm>
            <a:off x="7223760" y="1965960"/>
            <a:ext cx="1463040" cy="676656"/>
          </a:xfrm>
          <a:prstGeom prst="rect">
            <a:avLst/>
          </a:prstGeom>
          <a:noFill/>
          <a:ln/>
        </p:spPr>
        <p:txBody>
          <a:bodyPr wrap="square" lIns="0" tIns="0" rIns="0" bIns="0" rtlCol="0" anchor="ctr"/>
          <a:lstStyle/>
          <a:p>
            <a:pPr algn="r" indent="0" marL="0">
              <a:buNone/>
            </a:pPr>
            <a:r>
              <a:rPr lang="en-US" sz="2200" b="1" dirty="0">
                <a:solidFill>
                  <a:srgbClr val="6EE7B7"/>
                </a:solidFill>
                <a:latin typeface="Cambria" pitchFamily="34" charset="0"/>
                <a:ea typeface="Cambria" pitchFamily="34" charset="-122"/>
                <a:cs typeface="Cambria" pitchFamily="34" charset="-120"/>
              </a:rPr>
              <a:t>8</a:t>
            </a:r>
            <a:endParaRPr lang="en-US" sz="2200" dirty="0"/>
          </a:p>
        </p:txBody>
      </p:sp>
      <p:sp>
        <p:nvSpPr>
          <p:cNvPr id="14" name="Shape 12"/>
          <p:cNvSpPr/>
          <p:nvPr/>
        </p:nvSpPr>
        <p:spPr>
          <a:xfrm>
            <a:off x="4617720" y="2825496"/>
            <a:ext cx="4160520" cy="731520"/>
          </a:xfrm>
          <a:prstGeom prst="rect">
            <a:avLst/>
          </a:prstGeom>
          <a:solidFill>
            <a:srgbClr val="1A3168"/>
          </a:solidFill>
          <a:ln w="12700">
            <a:solidFill>
              <a:srgbClr val="2D4A8A"/>
            </a:solidFill>
            <a:prstDash val="solid"/>
          </a:ln>
        </p:spPr>
      </p:sp>
      <p:sp>
        <p:nvSpPr>
          <p:cNvPr id="15" name="Text 13"/>
          <p:cNvSpPr/>
          <p:nvPr/>
        </p:nvSpPr>
        <p:spPr>
          <a:xfrm>
            <a:off x="4736592" y="2852928"/>
            <a:ext cx="2560320" cy="676656"/>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Time periods</a:t>
            </a:r>
            <a:endParaRPr lang="en-US" sz="1300" dirty="0"/>
          </a:p>
        </p:txBody>
      </p:sp>
      <p:sp>
        <p:nvSpPr>
          <p:cNvPr id="16" name="Text 14"/>
          <p:cNvSpPr/>
          <p:nvPr/>
        </p:nvSpPr>
        <p:spPr>
          <a:xfrm>
            <a:off x="7223760" y="2852928"/>
            <a:ext cx="1463040" cy="676656"/>
          </a:xfrm>
          <a:prstGeom prst="rect">
            <a:avLst/>
          </a:prstGeom>
          <a:noFill/>
          <a:ln/>
        </p:spPr>
        <p:txBody>
          <a:bodyPr wrap="square" lIns="0" tIns="0" rIns="0" bIns="0" rtlCol="0" anchor="ctr"/>
          <a:lstStyle/>
          <a:p>
            <a:pPr algn="r" indent="0" marL="0">
              <a:buNone/>
            </a:pPr>
            <a:r>
              <a:rPr lang="en-US" sz="2200" b="1" dirty="0">
                <a:solidFill>
                  <a:srgbClr val="6EE7B7"/>
                </a:solidFill>
                <a:latin typeface="Cambria" pitchFamily="34" charset="0"/>
                <a:ea typeface="Cambria" pitchFamily="34" charset="-122"/>
                <a:cs typeface="Cambria" pitchFamily="34" charset="-120"/>
              </a:rPr>
              <a:t>24</a:t>
            </a:r>
            <a:endParaRPr lang="en-US" sz="2200" dirty="0"/>
          </a:p>
        </p:txBody>
      </p:sp>
      <p:sp>
        <p:nvSpPr>
          <p:cNvPr id="17" name="Shape 15"/>
          <p:cNvSpPr/>
          <p:nvPr/>
        </p:nvSpPr>
        <p:spPr>
          <a:xfrm>
            <a:off x="4617720" y="3712464"/>
            <a:ext cx="4160520" cy="731520"/>
          </a:xfrm>
          <a:prstGeom prst="rect">
            <a:avLst/>
          </a:prstGeom>
          <a:solidFill>
            <a:srgbClr val="1A3168"/>
          </a:solidFill>
          <a:ln w="12700">
            <a:solidFill>
              <a:srgbClr val="2D4A8A"/>
            </a:solidFill>
            <a:prstDash val="solid"/>
          </a:ln>
        </p:spPr>
      </p:sp>
      <p:sp>
        <p:nvSpPr>
          <p:cNvPr id="18" name="Text 16"/>
          <p:cNvSpPr/>
          <p:nvPr/>
        </p:nvSpPr>
        <p:spPr>
          <a:xfrm>
            <a:off x="4736592" y="3739896"/>
            <a:ext cx="2560320" cy="676656"/>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Total inequalities</a:t>
            </a:r>
            <a:endParaRPr lang="en-US" sz="1300" dirty="0"/>
          </a:p>
        </p:txBody>
      </p:sp>
      <p:sp>
        <p:nvSpPr>
          <p:cNvPr id="19" name="Text 17"/>
          <p:cNvSpPr/>
          <p:nvPr/>
        </p:nvSpPr>
        <p:spPr>
          <a:xfrm>
            <a:off x="7223760" y="3739896"/>
            <a:ext cx="1463040" cy="676656"/>
          </a:xfrm>
          <a:prstGeom prst="rect">
            <a:avLst/>
          </a:prstGeom>
          <a:noFill/>
          <a:ln/>
        </p:spPr>
        <p:txBody>
          <a:bodyPr wrap="square" lIns="0" tIns="0" rIns="0" bIns="0" rtlCol="0" anchor="ctr"/>
          <a:lstStyle/>
          <a:p>
            <a:pPr algn="r" indent="0" marL="0">
              <a:buNone/>
            </a:pPr>
            <a:r>
              <a:rPr lang="en-US" sz="1800" b="1" dirty="0">
                <a:solidFill>
                  <a:srgbClr val="4FA8D8"/>
                </a:solidFill>
                <a:latin typeface="Cambria" pitchFamily="34" charset="0"/>
                <a:ea typeface="Cambria" pitchFamily="34" charset="-122"/>
                <a:cs typeface="Cambria" pitchFamily="34" charset="-120"/>
              </a:rPr>
              <a:t>14,592</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0B981"/>
          </a:solidFill>
          <a:ln w="12700">
            <a:solidFill>
              <a:srgbClr val="10B981"/>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Part 2 — Iterative Cutting-Plane</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Text 3"/>
          <p:cNvSpPr/>
          <p:nvPr/>
        </p:nvSpPr>
        <p:spPr>
          <a:xfrm>
            <a:off x="457200" y="1005840"/>
            <a:ext cx="8229600" cy="347472"/>
          </a:xfrm>
          <a:prstGeom prst="rect">
            <a:avLst/>
          </a:prstGeom>
          <a:noFill/>
          <a:ln/>
        </p:spPr>
        <p:txBody>
          <a:bodyPr wrap="square" lIns="0" tIns="0" rIns="0" bIns="0" rtlCol="0" anchor="ctr"/>
          <a:lstStyle/>
          <a:p>
            <a:pPr algn="l" indent="0" marL="0">
              <a:buNone/>
            </a:pPr>
            <a:r>
              <a:rPr lang="en-US" sz="1400" b="1" dirty="0">
                <a:solidFill>
                  <a:srgbClr val="1E2761"/>
                </a:solidFill>
                <a:latin typeface="Cambria" pitchFamily="34" charset="0"/>
                <a:ea typeface="Cambria" pitchFamily="34" charset="-122"/>
                <a:cs typeface="Cambria" pitchFamily="34" charset="-120"/>
              </a:rPr>
              <a:t>Key insight:  fewer than 10% of N-1 constraints are binding at optimality.</a:t>
            </a:r>
            <a:endParaRPr lang="en-US" sz="1400" dirty="0"/>
          </a:p>
        </p:txBody>
      </p:sp>
      <p:sp>
        <p:nvSpPr>
          <p:cNvPr id="6" name="Shape 4"/>
          <p:cNvSpPr/>
          <p:nvPr/>
        </p:nvSpPr>
        <p:spPr>
          <a:xfrm>
            <a:off x="457200" y="1490472"/>
            <a:ext cx="347472" cy="347472"/>
          </a:xfrm>
          <a:prstGeom prst="ellipse">
            <a:avLst/>
          </a:prstGeom>
          <a:solidFill>
            <a:srgbClr val="3B82F6"/>
          </a:solidFill>
          <a:ln w="12700">
            <a:solidFill>
              <a:srgbClr val="3B82F6"/>
            </a:solidFill>
            <a:prstDash val="solid"/>
          </a:ln>
        </p:spPr>
      </p:sp>
      <p:sp>
        <p:nvSpPr>
          <p:cNvPr id="7" name="Text 5"/>
          <p:cNvSpPr/>
          <p:nvPr/>
        </p:nvSpPr>
        <p:spPr>
          <a:xfrm>
            <a:off x="457200" y="14904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969264" y="1490472"/>
            <a:ext cx="4572000" cy="347472"/>
          </a:xfrm>
          <a:prstGeom prst="rect">
            <a:avLst/>
          </a:prstGeom>
          <a:noFill/>
          <a:ln/>
        </p:spPr>
        <p:txBody>
          <a:bodyPr wrap="square" lIns="0" tIns="0" rIns="0" bIns="0" rtlCol="0" anchor="ctr"/>
          <a:lstStyle/>
          <a:p>
            <a:pPr algn="l" indent="0" marL="0">
              <a:buNone/>
            </a:pPr>
            <a:r>
              <a:rPr lang="en-US" sz="1250" dirty="0">
                <a:solidFill>
                  <a:srgbClr val="475569"/>
                </a:solidFill>
                <a:latin typeface="Calibri" pitchFamily="34" charset="0"/>
                <a:ea typeface="Calibri" pitchFamily="34" charset="-122"/>
                <a:cs typeface="Calibri" pitchFamily="34" charset="-120"/>
              </a:rPr>
              <a:t>Solve base SCUC (no N-1 constraints)</a:t>
            </a:r>
            <a:endParaRPr lang="en-US" sz="1250" dirty="0"/>
          </a:p>
        </p:txBody>
      </p:sp>
      <p:sp>
        <p:nvSpPr>
          <p:cNvPr id="9" name="Shape 7"/>
          <p:cNvSpPr/>
          <p:nvPr/>
        </p:nvSpPr>
        <p:spPr>
          <a:xfrm>
            <a:off x="457200" y="2057400"/>
            <a:ext cx="347472" cy="347472"/>
          </a:xfrm>
          <a:prstGeom prst="ellipse">
            <a:avLst/>
          </a:prstGeom>
          <a:solidFill>
            <a:srgbClr val="6366F1"/>
          </a:solidFill>
          <a:ln w="12700">
            <a:solidFill>
              <a:srgbClr val="6366F1"/>
            </a:solidFill>
            <a:prstDash val="solid"/>
          </a:ln>
        </p:spPr>
      </p:sp>
      <p:sp>
        <p:nvSpPr>
          <p:cNvPr id="10" name="Text 8"/>
          <p:cNvSpPr/>
          <p:nvPr/>
        </p:nvSpPr>
        <p:spPr>
          <a:xfrm>
            <a:off x="457200" y="20574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969264" y="2057400"/>
            <a:ext cx="4572000" cy="347472"/>
          </a:xfrm>
          <a:prstGeom prst="rect">
            <a:avLst/>
          </a:prstGeom>
          <a:noFill/>
          <a:ln/>
        </p:spPr>
        <p:txBody>
          <a:bodyPr wrap="square" lIns="0" tIns="0" rIns="0" bIns="0" rtlCol="0" anchor="ctr"/>
          <a:lstStyle/>
          <a:p>
            <a:pPr algn="l" indent="0" marL="0">
              <a:buNone/>
            </a:pPr>
            <a:r>
              <a:rPr lang="en-US" sz="1050" dirty="0">
                <a:solidFill>
                  <a:srgbClr val="475569"/>
                </a:solidFill>
                <a:latin typeface="Consolas" pitchFamily="34" charset="0"/>
                <a:ea typeface="Consolas" pitchFamily="34" charset="-122"/>
                <a:cs typeface="Consolas" pitchFamily="34" charset="-120"/>
              </a:rPr>
              <a:t>Compute  f_post = f_k + LODF[k,c] × f_c  for all contingencies</a:t>
            </a:r>
            <a:endParaRPr lang="en-US" sz="1050" dirty="0"/>
          </a:p>
        </p:txBody>
      </p:sp>
      <p:sp>
        <p:nvSpPr>
          <p:cNvPr id="12" name="Shape 10"/>
          <p:cNvSpPr/>
          <p:nvPr/>
        </p:nvSpPr>
        <p:spPr>
          <a:xfrm>
            <a:off x="457200" y="2624328"/>
            <a:ext cx="347472" cy="347472"/>
          </a:xfrm>
          <a:prstGeom prst="ellipse">
            <a:avLst/>
          </a:prstGeom>
          <a:solidFill>
            <a:srgbClr val="8B5CF6"/>
          </a:solidFill>
          <a:ln w="12700">
            <a:solidFill>
              <a:srgbClr val="8B5CF6"/>
            </a:solidFill>
            <a:prstDash val="solid"/>
          </a:ln>
        </p:spPr>
      </p:sp>
      <p:sp>
        <p:nvSpPr>
          <p:cNvPr id="13" name="Text 11"/>
          <p:cNvSpPr/>
          <p:nvPr/>
        </p:nvSpPr>
        <p:spPr>
          <a:xfrm>
            <a:off x="457200" y="26243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969264" y="2624328"/>
            <a:ext cx="4572000" cy="347472"/>
          </a:xfrm>
          <a:prstGeom prst="rect">
            <a:avLst/>
          </a:prstGeom>
          <a:noFill/>
          <a:ln/>
        </p:spPr>
        <p:txBody>
          <a:bodyPr wrap="square" lIns="0" tIns="0" rIns="0" bIns="0" rtlCol="0" anchor="ctr"/>
          <a:lstStyle/>
          <a:p>
            <a:pPr algn="l" indent="0" marL="0">
              <a:buNone/>
            </a:pPr>
            <a:r>
              <a:rPr lang="en-US" sz="1050" dirty="0">
                <a:solidFill>
                  <a:srgbClr val="475569"/>
                </a:solidFill>
                <a:latin typeface="Consolas" pitchFamily="34" charset="0"/>
                <a:ea typeface="Consolas" pitchFamily="34" charset="-122"/>
                <a:cs typeface="Consolas" pitchFamily="34" charset="-120"/>
              </a:rPr>
              <a:t>Find violated constraints:  |f_post|  &gt;  emergency_limit + ε</a:t>
            </a:r>
            <a:endParaRPr lang="en-US" sz="1050" dirty="0"/>
          </a:p>
        </p:txBody>
      </p:sp>
      <p:sp>
        <p:nvSpPr>
          <p:cNvPr id="15" name="Shape 13"/>
          <p:cNvSpPr/>
          <p:nvPr/>
        </p:nvSpPr>
        <p:spPr>
          <a:xfrm>
            <a:off x="457200" y="3191256"/>
            <a:ext cx="347472" cy="347472"/>
          </a:xfrm>
          <a:prstGeom prst="ellipse">
            <a:avLst/>
          </a:prstGeom>
          <a:solidFill>
            <a:srgbClr val="10B981"/>
          </a:solidFill>
          <a:ln w="12700">
            <a:solidFill>
              <a:srgbClr val="10B981"/>
            </a:solidFill>
            <a:prstDash val="solid"/>
          </a:ln>
        </p:spPr>
      </p:sp>
      <p:sp>
        <p:nvSpPr>
          <p:cNvPr id="16" name="Text 14"/>
          <p:cNvSpPr/>
          <p:nvPr/>
        </p:nvSpPr>
        <p:spPr>
          <a:xfrm>
            <a:off x="457200" y="31912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7" name="Text 15"/>
          <p:cNvSpPr/>
          <p:nvPr/>
        </p:nvSpPr>
        <p:spPr>
          <a:xfrm>
            <a:off x="969264" y="3191256"/>
            <a:ext cx="4572000" cy="347472"/>
          </a:xfrm>
          <a:prstGeom prst="rect">
            <a:avLst/>
          </a:prstGeom>
          <a:noFill/>
          <a:ln/>
        </p:spPr>
        <p:txBody>
          <a:bodyPr wrap="square" lIns="0" tIns="0" rIns="0" bIns="0" rtlCol="0" anchor="ctr"/>
          <a:lstStyle/>
          <a:p>
            <a:pPr algn="l" indent="0" marL="0">
              <a:buNone/>
            </a:pPr>
            <a:r>
              <a:rPr lang="en-US" sz="1250" b="1" dirty="0">
                <a:solidFill>
                  <a:srgbClr val="166534"/>
                </a:solidFill>
                <a:latin typeface="Calibri" pitchFamily="34" charset="0"/>
                <a:ea typeface="Calibri" pitchFamily="34" charset="-122"/>
                <a:cs typeface="Calibri" pitchFamily="34" charset="-120"/>
              </a:rPr>
              <a:t>If none  →  STOP  —  solution is N-1 feasible</a:t>
            </a:r>
            <a:endParaRPr lang="en-US" sz="1250" dirty="0"/>
          </a:p>
        </p:txBody>
      </p:sp>
      <p:sp>
        <p:nvSpPr>
          <p:cNvPr id="18" name="Shape 16"/>
          <p:cNvSpPr/>
          <p:nvPr/>
        </p:nvSpPr>
        <p:spPr>
          <a:xfrm>
            <a:off x="457200" y="3758184"/>
            <a:ext cx="347472" cy="347472"/>
          </a:xfrm>
          <a:prstGeom prst="ellipse">
            <a:avLst/>
          </a:prstGeom>
          <a:solidFill>
            <a:srgbClr val="F59E0B"/>
          </a:solidFill>
          <a:ln w="12700">
            <a:solidFill>
              <a:srgbClr val="F59E0B"/>
            </a:solidFill>
            <a:prstDash val="solid"/>
          </a:ln>
        </p:spPr>
      </p:sp>
      <p:sp>
        <p:nvSpPr>
          <p:cNvPr id="19" name="Text 17"/>
          <p:cNvSpPr/>
          <p:nvPr/>
        </p:nvSpPr>
        <p:spPr>
          <a:xfrm>
            <a:off x="457200" y="37581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0" name="Text 18"/>
          <p:cNvSpPr/>
          <p:nvPr/>
        </p:nvSpPr>
        <p:spPr>
          <a:xfrm>
            <a:off x="969264" y="3758184"/>
            <a:ext cx="4572000" cy="347472"/>
          </a:xfrm>
          <a:prstGeom prst="rect">
            <a:avLst/>
          </a:prstGeom>
          <a:noFill/>
          <a:ln/>
        </p:spPr>
        <p:txBody>
          <a:bodyPr wrap="square" lIns="0" tIns="0" rIns="0" bIns="0" rtlCol="0" anchor="ctr"/>
          <a:lstStyle/>
          <a:p>
            <a:pPr algn="l" indent="0" marL="0">
              <a:buNone/>
            </a:pPr>
            <a:r>
              <a:rPr lang="en-US" sz="1250" dirty="0">
                <a:solidFill>
                  <a:srgbClr val="475569"/>
                </a:solidFill>
                <a:latin typeface="Calibri" pitchFamily="34" charset="0"/>
                <a:ea typeface="Calibri" pitchFamily="34" charset="-122"/>
                <a:cs typeface="Calibri" pitchFamily="34" charset="-120"/>
              </a:rPr>
              <a:t>Add only the violated cuts  →  return to step 1</a:t>
            </a:r>
            <a:endParaRPr lang="en-US" sz="1250" dirty="0"/>
          </a:p>
        </p:txBody>
      </p:sp>
      <p:sp>
        <p:nvSpPr>
          <p:cNvPr id="21" name="Shape 19"/>
          <p:cNvSpPr/>
          <p:nvPr/>
        </p:nvSpPr>
        <p:spPr>
          <a:xfrm>
            <a:off x="5760720" y="1399032"/>
            <a:ext cx="2926080" cy="2514600"/>
          </a:xfrm>
          <a:prstGeom prst="rect">
            <a:avLst/>
          </a:prstGeom>
          <a:solidFill>
            <a:srgbClr val="F0FDF4"/>
          </a:solidFill>
          <a:ln w="12700">
            <a:solidFill>
              <a:srgbClr val="10B981"/>
            </a:solidFill>
            <a:prstDash val="solid"/>
          </a:ln>
          <a:effectLst>
            <a:outerShdw sx="100000" sy="100000" kx="0" ky="0" algn="bl" rotWithShape="0" blurRad="101600" dist="25400" dir="8100000">
              <a:srgbClr val="000000">
                <a:alpha val="12000"/>
              </a:srgbClr>
            </a:outerShdw>
          </a:effectLst>
        </p:spPr>
      </p:sp>
      <p:sp>
        <p:nvSpPr>
          <p:cNvPr id="22" name="Text 20"/>
          <p:cNvSpPr/>
          <p:nvPr/>
        </p:nvSpPr>
        <p:spPr>
          <a:xfrm>
            <a:off x="5852160" y="1481328"/>
            <a:ext cx="2743200" cy="347472"/>
          </a:xfrm>
          <a:prstGeom prst="rect">
            <a:avLst/>
          </a:prstGeom>
          <a:noFill/>
          <a:ln/>
        </p:spPr>
        <p:txBody>
          <a:bodyPr wrap="square" lIns="0" tIns="0" rIns="0" bIns="0" rtlCol="0" anchor="ctr"/>
          <a:lstStyle/>
          <a:p>
            <a:pPr algn="ctr" indent="0" marL="0">
              <a:buNone/>
            </a:pPr>
            <a:r>
              <a:rPr lang="en-US" sz="1250" b="1" dirty="0">
                <a:solidFill>
                  <a:srgbClr val="166534"/>
                </a:solidFill>
                <a:latin typeface="Cambria" pitchFamily="34" charset="0"/>
                <a:ea typeface="Cambria" pitchFamily="34" charset="-122"/>
                <a:cs typeface="Cambria" pitchFamily="34" charset="-120"/>
              </a:rPr>
              <a:t>Measured — 24-Bus Main Case</a:t>
            </a:r>
            <a:endParaRPr lang="en-US" sz="1250" dirty="0"/>
          </a:p>
        </p:txBody>
      </p:sp>
      <p:sp>
        <p:nvSpPr>
          <p:cNvPr id="23" name="Text 21"/>
          <p:cNvSpPr/>
          <p:nvPr/>
        </p:nvSpPr>
        <p:spPr>
          <a:xfrm>
            <a:off x="5852160" y="1874520"/>
            <a:ext cx="2743200" cy="1993392"/>
          </a:xfrm>
          <a:prstGeom prst="rect">
            <a:avLst/>
          </a:prstGeom>
          <a:noFill/>
          <a:ln/>
        </p:spPr>
        <p:txBody>
          <a:bodyPr wrap="square" rtlCol="0" anchor="t"/>
          <a:lstStyle/>
          <a:p>
            <a:pPr marL="342900" indent="-342900">
              <a:spcAft>
                <a:spcPts val="700"/>
              </a:spcAft>
              <a:buSzPct val="100000"/>
              <a:buChar char="•"/>
            </a:pPr>
            <a:r>
              <a:rPr lang="en-US" sz="1100" b="1" dirty="0">
                <a:solidFill>
                  <a:srgbClr val="475569"/>
                </a:solidFill>
                <a:latin typeface="Calibri" pitchFamily="34" charset="0"/>
                <a:ea typeface="Calibri" pitchFamily="34" charset="-122"/>
                <a:cs typeface="Calibri" pitchFamily="34" charset="-120"/>
              </a:rPr>
              <a:t>2 iterations (converged)</a:t>
            </a:r>
            <a:endParaRPr lang="en-US" sz="1100" dirty="0"/>
          </a:p>
          <a:p>
            <a:pPr marL="342900" indent="-342900">
              <a:spcAft>
                <a:spcPts val="700"/>
              </a:spcAft>
              <a:buSzPct val="100000"/>
              <a:buChar char="•"/>
            </a:pPr>
            <a:r>
              <a:rPr lang="en-US" sz="1100" b="1" dirty="0">
                <a:solidFill>
                  <a:srgbClr val="475569"/>
                </a:solidFill>
                <a:latin typeface="Calibri" pitchFamily="34" charset="0"/>
                <a:ea typeface="Calibri" pitchFamily="34" charset="-122"/>
                <a:cs typeface="Calibri" pitchFamily="34" charset="-120"/>
              </a:rPr>
              <a:t>32 constraints added</a:t>
            </a:r>
            <a:endParaRPr lang="en-US" sz="1100" dirty="0"/>
          </a:p>
          <a:p>
            <a:pPr marL="342900" indent="-3429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of 14,592 possible  →  0.22%</a:t>
            </a:r>
            <a:endParaRPr lang="en-US" sz="1100" dirty="0"/>
          </a:p>
          <a:p>
            <a:pPr marL="342900" indent="-342900">
              <a:spcAft>
                <a:spcPts val="700"/>
              </a:spcAft>
              <a:buSzPct val="100000"/>
              <a:buChar char="•"/>
            </a:pPr>
            <a:r>
              <a:rPr lang="en-US" sz="1100" b="1" dirty="0">
                <a:solidFill>
                  <a:srgbClr val="475569"/>
                </a:solidFill>
                <a:latin typeface="Calibri" pitchFamily="34" charset="0"/>
                <a:ea typeface="Calibri" pitchFamily="34" charset="-122"/>
                <a:cs typeface="Calibri" pitchFamily="34" charset="-120"/>
              </a:rPr>
              <a:t>Same optimal cost (±$1 vs. full)</a:t>
            </a:r>
            <a:endParaRPr lang="en-US" sz="1100" dirty="0"/>
          </a:p>
          <a:p>
            <a:pPr marL="342900" indent="-3429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+$7,941 N-1 security premium</a:t>
            </a:r>
            <a:endParaRPr lang="en-US" sz="1100" dirty="0"/>
          </a:p>
          <a:p>
            <a:pPr indent="0" marL="0">
              <a:buNone/>
            </a:pPr>
            <a:r>
              <a:rPr lang="en-US" sz="1100" i="1" dirty="0">
                <a:solidFill>
                  <a:srgbClr val="475569"/>
                </a:solidFill>
                <a:latin typeface="Calibri" pitchFamily="34" charset="0"/>
                <a:ea typeface="Calibri" pitchFamily="34" charset="-122"/>
                <a:cs typeface="Calibri" pitchFamily="34" charset="-120"/>
              </a:rPr>
              <a:t>Padhy (2004) · MISO (Ott 2010)</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59E0B"/>
          </a:solidFill>
          <a:ln w="12700">
            <a:solidFill>
              <a:srgbClr val="F59E0B"/>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Part 3 — Extracting Market Intelligence</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Shape 3"/>
          <p:cNvSpPr/>
          <p:nvPr/>
        </p:nvSpPr>
        <p:spPr>
          <a:xfrm>
            <a:off x="457200" y="1024128"/>
            <a:ext cx="3886200" cy="2450592"/>
          </a:xfrm>
          <a:prstGeom prst="rect">
            <a:avLst/>
          </a:prstGeom>
          <a:solidFill>
            <a:srgbClr val="EFF6FF"/>
          </a:solidFill>
          <a:ln w="12700">
            <a:solidFill>
              <a:srgbClr val="4FA8D8"/>
            </a:solidFill>
            <a:prstDash val="solid"/>
          </a:ln>
        </p:spPr>
      </p:sp>
      <p:sp>
        <p:nvSpPr>
          <p:cNvPr id="6" name="Text 4"/>
          <p:cNvSpPr/>
          <p:nvPr/>
        </p:nvSpPr>
        <p:spPr>
          <a:xfrm>
            <a:off x="566928" y="1097280"/>
            <a:ext cx="3657600" cy="365760"/>
          </a:xfrm>
          <a:prstGeom prst="rect">
            <a:avLst/>
          </a:prstGeom>
          <a:noFill/>
          <a:ln/>
        </p:spPr>
        <p:txBody>
          <a:bodyPr wrap="square" lIns="0" tIns="0" rIns="0" bIns="0" rtlCol="0" anchor="ctr"/>
          <a:lstStyle/>
          <a:p>
            <a:pPr algn="l" indent="0" marL="0">
              <a:buNone/>
            </a:pPr>
            <a:r>
              <a:rPr lang="en-US" sz="1400" b="1" dirty="0">
                <a:solidFill>
                  <a:srgbClr val="1E2761"/>
                </a:solidFill>
                <a:latin typeface="Cambria" pitchFamily="34" charset="0"/>
                <a:ea typeface="Cambria" pitchFamily="34" charset="-122"/>
                <a:cs typeface="Cambria" pitchFamily="34" charset="-120"/>
              </a:rPr>
              <a:t>LMP Extraction</a:t>
            </a:r>
            <a:endParaRPr lang="en-US" sz="1400" dirty="0"/>
          </a:p>
        </p:txBody>
      </p:sp>
      <p:sp>
        <p:nvSpPr>
          <p:cNvPr id="7" name="Text 5"/>
          <p:cNvSpPr/>
          <p:nvPr/>
        </p:nvSpPr>
        <p:spPr>
          <a:xfrm>
            <a:off x="566928" y="1499616"/>
            <a:ext cx="3657600" cy="960120"/>
          </a:xfrm>
          <a:prstGeom prst="rect">
            <a:avLst/>
          </a:prstGeom>
          <a:noFill/>
          <a:ln/>
        </p:spPr>
        <p:txBody>
          <a:bodyPr wrap="square" rtlCol="0" anchor="t"/>
          <a:lstStyle/>
          <a:p>
            <a:pPr marL="342900" indent="-342900">
              <a:spcAft>
                <a:spcPts val="800"/>
              </a:spcAft>
              <a:buSzPct val="100000"/>
              <a:buChar char="•"/>
            </a:pPr>
            <a:r>
              <a:rPr lang="en-US" sz="1150" dirty="0">
                <a:solidFill>
                  <a:srgbClr val="475569"/>
                </a:solidFill>
                <a:latin typeface="Calibri" pitchFamily="34" charset="0"/>
                <a:ea typeface="Calibri" pitchFamily="34" charset="-122"/>
                <a:cs typeface="Calibri" pitchFamily="34" charset="-120"/>
              </a:rPr>
              <a:t>MILP solvers don’t expose dual variables (integers block LP duality)</a:t>
            </a:r>
            <a:endParaRPr lang="en-US" sz="1150" dirty="0"/>
          </a:p>
          <a:p>
            <a:pPr marL="342900" indent="-342900">
              <a:spcAft>
                <a:spcPts val="1000"/>
              </a:spcAft>
              <a:buSzPct val="100000"/>
              <a:buChar char="•"/>
            </a:pPr>
            <a:r>
              <a:rPr lang="en-US" sz="1150" dirty="0">
                <a:solidFill>
                  <a:srgbClr val="475569"/>
                </a:solidFill>
                <a:latin typeface="Calibri" pitchFamily="34" charset="0"/>
                <a:ea typeface="Calibri" pitchFamily="34" charset="-122"/>
                <a:cs typeface="Calibri" pitchFamily="34" charset="-120"/>
              </a:rPr>
              <a:t>Fix binary vars at optimal → re-solve as LP → extract duals</a:t>
            </a:r>
            <a:endParaRPr lang="en-US" sz="1150" dirty="0"/>
          </a:p>
        </p:txBody>
      </p:sp>
      <p:sp>
        <p:nvSpPr>
          <p:cNvPr id="8" name="Shape 6"/>
          <p:cNvSpPr/>
          <p:nvPr/>
        </p:nvSpPr>
        <p:spPr>
          <a:xfrm>
            <a:off x="566928" y="2487168"/>
            <a:ext cx="3657600" cy="365760"/>
          </a:xfrm>
          <a:prstGeom prst="rect">
            <a:avLst/>
          </a:prstGeom>
          <a:solidFill>
            <a:srgbClr val="1E2761"/>
          </a:solidFill>
          <a:ln w="12700">
            <a:solidFill>
              <a:srgbClr val="1E2761"/>
            </a:solidFill>
            <a:prstDash val="solid"/>
          </a:ln>
        </p:spPr>
      </p:sp>
      <p:sp>
        <p:nvSpPr>
          <p:cNvPr id="9" name="Text 7"/>
          <p:cNvSpPr/>
          <p:nvPr/>
        </p:nvSpPr>
        <p:spPr>
          <a:xfrm>
            <a:off x="585216" y="2487168"/>
            <a:ext cx="3621024" cy="365760"/>
          </a:xfrm>
          <a:prstGeom prst="rect">
            <a:avLst/>
          </a:prstGeom>
          <a:noFill/>
          <a:ln/>
        </p:spPr>
        <p:txBody>
          <a:bodyPr wrap="square" lIns="0" tIns="0" rIns="0" bIns="0" rtlCol="0" anchor="ctr"/>
          <a:lstStyle/>
          <a:p>
            <a:pPr algn="ctr" indent="0" marL="0">
              <a:buNone/>
            </a:pPr>
            <a:r>
              <a:rPr lang="en-US" sz="1100" dirty="0">
                <a:solidFill>
                  <a:srgbClr val="CADCFC"/>
                </a:solidFill>
                <a:latin typeface="Consolas" pitchFamily="34" charset="0"/>
                <a:ea typeface="Consolas" pitchFamily="34" charset="-122"/>
                <a:cs typeface="Consolas" pitchFamily="34" charset="-120"/>
              </a:rPr>
              <a:t>LMP[n,t]  =  −dual( nodal_balance[n,t] )</a:t>
            </a:r>
            <a:endParaRPr lang="en-US" sz="1100" dirty="0"/>
          </a:p>
        </p:txBody>
      </p:sp>
      <p:sp>
        <p:nvSpPr>
          <p:cNvPr id="10" name="Shape 8"/>
          <p:cNvSpPr/>
          <p:nvPr/>
        </p:nvSpPr>
        <p:spPr>
          <a:xfrm>
            <a:off x="4572000" y="1024128"/>
            <a:ext cx="4114800" cy="2450592"/>
          </a:xfrm>
          <a:prstGeom prst="rect">
            <a:avLst/>
          </a:prstGeom>
          <a:solidFill>
            <a:srgbClr val="FFFBEB"/>
          </a:solidFill>
          <a:ln w="12700">
            <a:solidFill>
              <a:srgbClr val="F59E0B"/>
            </a:solidFill>
            <a:prstDash val="solid"/>
          </a:ln>
        </p:spPr>
      </p:sp>
      <p:sp>
        <p:nvSpPr>
          <p:cNvPr id="11" name="Text 9"/>
          <p:cNvSpPr/>
          <p:nvPr/>
        </p:nvSpPr>
        <p:spPr>
          <a:xfrm>
            <a:off x="4681728" y="1097280"/>
            <a:ext cx="3895344" cy="365760"/>
          </a:xfrm>
          <a:prstGeom prst="rect">
            <a:avLst/>
          </a:prstGeom>
          <a:noFill/>
          <a:ln/>
        </p:spPr>
        <p:txBody>
          <a:bodyPr wrap="square" lIns="0" tIns="0" rIns="0" bIns="0" rtlCol="0" anchor="ctr"/>
          <a:lstStyle/>
          <a:p>
            <a:pPr algn="l" indent="0" marL="0">
              <a:buNone/>
            </a:pPr>
            <a:r>
              <a:rPr lang="en-US" sz="1400" b="1" dirty="0">
                <a:solidFill>
                  <a:srgbClr val="1E2761"/>
                </a:solidFill>
                <a:latin typeface="Cambria" pitchFamily="34" charset="0"/>
                <a:ea typeface="Cambria" pitchFamily="34" charset="-122"/>
                <a:cs typeface="Cambria" pitchFamily="34" charset="-120"/>
              </a:rPr>
              <a:t>Market Briefing Outputs</a:t>
            </a:r>
            <a:endParaRPr lang="en-US" sz="1400" dirty="0"/>
          </a:p>
        </p:txBody>
      </p:sp>
      <p:sp>
        <p:nvSpPr>
          <p:cNvPr id="12" name="Text 10"/>
          <p:cNvSpPr/>
          <p:nvPr/>
        </p:nvSpPr>
        <p:spPr>
          <a:xfrm>
            <a:off x="4681728" y="1499616"/>
            <a:ext cx="3895344" cy="1920240"/>
          </a:xfrm>
          <a:prstGeom prst="rect">
            <a:avLst/>
          </a:prstGeom>
          <a:noFill/>
          <a:ln/>
        </p:spPr>
        <p:txBody>
          <a:bodyPr wrap="square" rtlCol="0" anchor="t"/>
          <a:lstStyle/>
          <a:p>
            <a:pPr marL="342900" indent="-342900">
              <a:spcAft>
                <a:spcPts val="700"/>
              </a:spcAft>
              <a:buSzPct val="100000"/>
              <a:buChar char="•"/>
            </a:pPr>
            <a:r>
              <a:rPr lang="en-US" sz="1150" dirty="0">
                <a:solidFill>
                  <a:srgbClr val="475569"/>
                </a:solidFill>
                <a:latin typeface="Calibri" pitchFamily="34" charset="0"/>
                <a:ea typeface="Calibri" pitchFamily="34" charset="-122"/>
                <a:cs typeface="Calibri" pitchFamily="34" charset="-120"/>
              </a:rPr>
              <a:t>Merit order vs. actual dispatch → congestion signals</a:t>
            </a:r>
            <a:endParaRPr lang="en-US" sz="1150" dirty="0"/>
          </a:p>
          <a:p>
            <a:pPr marL="342900" indent="-342900">
              <a:spcAft>
                <a:spcPts val="700"/>
              </a:spcAft>
              <a:buSzPct val="100000"/>
              <a:buChar char="•"/>
            </a:pPr>
            <a:r>
              <a:rPr lang="en-US" sz="1150" dirty="0">
                <a:solidFill>
                  <a:srgbClr val="475569"/>
                </a:solidFill>
                <a:latin typeface="Calibri" pitchFamily="34" charset="0"/>
                <a:ea typeface="Calibri" pitchFamily="34" charset="-122"/>
                <a:cs typeface="Calibri" pitchFamily="34" charset="-120"/>
              </a:rPr>
              <a:t>Congested lines: hours, overflow magnitude</a:t>
            </a:r>
            <a:endParaRPr lang="en-US" sz="1150" dirty="0"/>
          </a:p>
          <a:p>
            <a:pPr marL="342900" indent="-342900">
              <a:spcAft>
                <a:spcPts val="700"/>
              </a:spcAft>
              <a:buSzPct val="100000"/>
              <a:buChar char="•"/>
            </a:pPr>
            <a:r>
              <a:rPr lang="en-US" sz="1150" dirty="0">
                <a:solidFill>
                  <a:srgbClr val="475569"/>
                </a:solidFill>
                <a:latin typeface="Calibri" pitchFamily="34" charset="0"/>
                <a:ea typeface="Calibri" pitchFamily="34" charset="-122"/>
                <a:cs typeface="Calibri" pitchFamily="34" charset="-120"/>
              </a:rPr>
              <a:t>Peak / off-peak / high-renewable hour classification</a:t>
            </a:r>
            <a:endParaRPr lang="en-US" sz="1150" dirty="0"/>
          </a:p>
          <a:p>
            <a:pPr marL="342900" indent="-342900">
              <a:spcAft>
                <a:spcPts val="700"/>
              </a:spcAft>
              <a:buSzPct val="100000"/>
              <a:buChar char="•"/>
            </a:pPr>
            <a:r>
              <a:rPr lang="en-US" sz="1150" dirty="0">
                <a:solidFill>
                  <a:srgbClr val="475569"/>
                </a:solidFill>
                <a:latin typeface="Calibri" pitchFamily="34" charset="0"/>
                <a:ea typeface="Calibri" pitchFamily="34" charset="-122"/>
                <a:cs typeface="Calibri" pitchFamily="34" charset="-120"/>
              </a:rPr>
              <a:t>LMP spread by bus → FTR opportunity sizing</a:t>
            </a:r>
            <a:endParaRPr lang="en-US" sz="1150" dirty="0"/>
          </a:p>
          <a:p>
            <a:pPr marL="342900" indent="-342900">
              <a:buSzPct val="100000"/>
              <a:buChar char="•"/>
            </a:pPr>
            <a:r>
              <a:rPr lang="en-US" sz="1150" dirty="0">
                <a:solidFill>
                  <a:srgbClr val="475569"/>
                </a:solidFill>
                <a:latin typeface="Calibri" pitchFamily="34" charset="0"/>
                <a:ea typeface="Calibri" pitchFamily="34" charset="-122"/>
                <a:cs typeface="Calibri" pitchFamily="34" charset="-120"/>
              </a:rPr>
              <a:t>Price zone arbitrage &amp; renewable suppression risk</a:t>
            </a:r>
            <a:endParaRPr lang="en-US" sz="1150" dirty="0"/>
          </a:p>
        </p:txBody>
      </p:sp>
      <p:sp>
        <p:nvSpPr>
          <p:cNvPr id="13" name="Shape 11"/>
          <p:cNvSpPr/>
          <p:nvPr/>
        </p:nvSpPr>
        <p:spPr>
          <a:xfrm>
            <a:off x="457200" y="3657600"/>
            <a:ext cx="8229600" cy="713232"/>
          </a:xfrm>
          <a:prstGeom prst="rect">
            <a:avLst/>
          </a:prstGeom>
          <a:solidFill>
            <a:srgbClr val="1E2761"/>
          </a:solidFill>
          <a:ln w="12700">
            <a:solidFill>
              <a:srgbClr val="1E2761"/>
            </a:solidFill>
            <a:prstDash val="solid"/>
          </a:ln>
        </p:spPr>
      </p:sp>
      <p:sp>
        <p:nvSpPr>
          <p:cNvPr id="14" name="Text 12"/>
          <p:cNvSpPr/>
          <p:nvPr/>
        </p:nvSpPr>
        <p:spPr>
          <a:xfrm>
            <a:off x="530352" y="3675888"/>
            <a:ext cx="8083296" cy="676656"/>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Avg LMP $18.24/MWh  ·  Spatial spread $17.25/MWh (B22→B3)  ·  Peak/off-peak 13.64×  ·  High-ren hours 1–7 &amp; 23–24 @ $7.56/MWh</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Clean, Layered Architecture</a:t>
            </a:r>
            <a:endParaRPr lang="en-US" sz="2800" dirty="0"/>
          </a:p>
        </p:txBody>
      </p:sp>
      <p:sp>
        <p:nvSpPr>
          <p:cNvPr id="3" name="Shape 1"/>
          <p:cNvSpPr/>
          <p:nvPr/>
        </p:nvSpPr>
        <p:spPr>
          <a:xfrm>
            <a:off x="256032" y="1051560"/>
            <a:ext cx="1828800" cy="749808"/>
          </a:xfrm>
          <a:prstGeom prst="rect">
            <a:avLst/>
          </a:prstGeom>
          <a:solidFill>
            <a:srgbClr val="374151"/>
          </a:solidFill>
          <a:ln w="12700">
            <a:solidFill>
              <a:srgbClr val="4FA8D8"/>
            </a:solidFill>
            <a:prstDash val="solid"/>
          </a:ln>
        </p:spPr>
      </p:sp>
      <p:sp>
        <p:nvSpPr>
          <p:cNvPr id="4" name="Text 2"/>
          <p:cNvSpPr/>
          <p:nvPr/>
        </p:nvSpPr>
        <p:spPr>
          <a:xfrm>
            <a:off x="256032" y="1078992"/>
            <a:ext cx="1828800" cy="347472"/>
          </a:xfrm>
          <a:prstGeom prst="rect">
            <a:avLst/>
          </a:prstGeom>
          <a:noFill/>
          <a:ln/>
        </p:spPr>
        <p:txBody>
          <a:bodyPr wrap="square" lIns="0" tIns="0" rIns="0" bIns="0" rtlCol="0" anchor="ctr"/>
          <a:lstStyle/>
          <a:p>
            <a:pPr algn="ctr" indent="0" marL="0">
              <a:buNone/>
            </a:pPr>
            <a:r>
              <a:rPr lang="en-US" sz="1100" b="1" dirty="0">
                <a:solidFill>
                  <a:srgbClr val="9CA3AF"/>
                </a:solidFill>
                <a:latin typeface="Consolas" pitchFamily="34" charset="0"/>
                <a:ea typeface="Consolas" pitchFamily="34" charset="-122"/>
                <a:cs typeface="Consolas" pitchFamily="34" charset="-120"/>
              </a:rPr>
              <a:t>instance.json</a:t>
            </a:r>
            <a:endParaRPr lang="en-US" sz="1100" dirty="0"/>
          </a:p>
        </p:txBody>
      </p:sp>
      <p:sp>
        <p:nvSpPr>
          <p:cNvPr id="5" name="Text 3"/>
          <p:cNvSpPr/>
          <p:nvPr/>
        </p:nvSpPr>
        <p:spPr>
          <a:xfrm>
            <a:off x="256032" y="1417320"/>
            <a:ext cx="1828800" cy="347472"/>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24-bus, 24h, 39 lines</a:t>
            </a:r>
            <a:endParaRPr lang="en-US" sz="900" dirty="0"/>
          </a:p>
        </p:txBody>
      </p:sp>
      <p:sp>
        <p:nvSpPr>
          <p:cNvPr id="6" name="Shape 4"/>
          <p:cNvSpPr/>
          <p:nvPr/>
        </p:nvSpPr>
        <p:spPr>
          <a:xfrm>
            <a:off x="2350008" y="1051560"/>
            <a:ext cx="1828800" cy="749808"/>
          </a:xfrm>
          <a:prstGeom prst="rect">
            <a:avLst/>
          </a:prstGeom>
          <a:solidFill>
            <a:srgbClr val="1A3168"/>
          </a:solidFill>
          <a:ln w="12700">
            <a:solidFill>
              <a:srgbClr val="4FA8D8"/>
            </a:solidFill>
            <a:prstDash val="solid"/>
          </a:ln>
        </p:spPr>
      </p:sp>
      <p:sp>
        <p:nvSpPr>
          <p:cNvPr id="7" name="Text 5"/>
          <p:cNvSpPr/>
          <p:nvPr/>
        </p:nvSpPr>
        <p:spPr>
          <a:xfrm>
            <a:off x="2350008" y="1078992"/>
            <a:ext cx="1828800" cy="347472"/>
          </a:xfrm>
          <a:prstGeom prst="rect">
            <a:avLst/>
          </a:prstGeom>
          <a:noFill/>
          <a:ln/>
        </p:spPr>
        <p:txBody>
          <a:bodyPr wrap="square" lIns="0" tIns="0" rIns="0" bIns="0" rtlCol="0" anchor="ctr"/>
          <a:lstStyle/>
          <a:p>
            <a:pPr algn="ctr" indent="0" marL="0">
              <a:buNone/>
            </a:pPr>
            <a:r>
              <a:rPr lang="en-US" sz="1100" b="1" dirty="0">
                <a:solidFill>
                  <a:srgbClr val="CADCFC"/>
                </a:solidFill>
                <a:latin typeface="Consolas" pitchFamily="34" charset="0"/>
                <a:ea typeface="Consolas" pitchFamily="34" charset="-122"/>
                <a:cs typeface="Consolas" pitchFamily="34" charset="-120"/>
              </a:rPr>
              <a:t>read.py</a:t>
            </a:r>
            <a:endParaRPr lang="en-US" sz="1100" dirty="0"/>
          </a:p>
        </p:txBody>
      </p:sp>
      <p:sp>
        <p:nvSpPr>
          <p:cNvPr id="8" name="Text 6"/>
          <p:cNvSpPr/>
          <p:nvPr/>
        </p:nvSpPr>
        <p:spPr>
          <a:xfrm>
            <a:off x="2350008" y="1417320"/>
            <a:ext cx="1828800" cy="347472"/>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ScucInstance</a:t>
            </a:r>
            <a:endParaRPr lang="en-US" sz="900" dirty="0"/>
          </a:p>
        </p:txBody>
      </p:sp>
      <p:sp>
        <p:nvSpPr>
          <p:cNvPr id="9" name="Shape 7"/>
          <p:cNvSpPr/>
          <p:nvPr/>
        </p:nvSpPr>
        <p:spPr>
          <a:xfrm>
            <a:off x="4453128" y="1051560"/>
            <a:ext cx="1828800" cy="749808"/>
          </a:xfrm>
          <a:prstGeom prst="rect">
            <a:avLst/>
          </a:prstGeom>
          <a:solidFill>
            <a:srgbClr val="1A3168"/>
          </a:solidFill>
          <a:ln w="12700">
            <a:solidFill>
              <a:srgbClr val="4FA8D8"/>
            </a:solidFill>
            <a:prstDash val="solid"/>
          </a:ln>
        </p:spPr>
      </p:sp>
      <p:sp>
        <p:nvSpPr>
          <p:cNvPr id="10" name="Text 8"/>
          <p:cNvSpPr/>
          <p:nvPr/>
        </p:nvSpPr>
        <p:spPr>
          <a:xfrm>
            <a:off x="4453128" y="1078992"/>
            <a:ext cx="1828800" cy="347472"/>
          </a:xfrm>
          <a:prstGeom prst="rect">
            <a:avLst/>
          </a:prstGeom>
          <a:noFill/>
          <a:ln/>
        </p:spPr>
        <p:txBody>
          <a:bodyPr wrap="square" lIns="0" tIns="0" rIns="0" bIns="0" rtlCol="0" anchor="ctr"/>
          <a:lstStyle/>
          <a:p>
            <a:pPr algn="ctr" indent="0" marL="0">
              <a:buNone/>
            </a:pPr>
            <a:r>
              <a:rPr lang="en-US" sz="1100" b="1" dirty="0">
                <a:solidFill>
                  <a:srgbClr val="CADCFC"/>
                </a:solidFill>
                <a:latin typeface="Consolas" pitchFamily="34" charset="0"/>
                <a:ea typeface="Consolas" pitchFamily="34" charset="-122"/>
                <a:cs typeface="Consolas" pitchFamily="34" charset="-120"/>
              </a:rPr>
              <a:t>build.py</a:t>
            </a:r>
            <a:endParaRPr lang="en-US" sz="1100" dirty="0"/>
          </a:p>
        </p:txBody>
      </p:sp>
      <p:sp>
        <p:nvSpPr>
          <p:cNvPr id="11" name="Text 9"/>
          <p:cNvSpPr/>
          <p:nvPr/>
        </p:nvSpPr>
        <p:spPr>
          <a:xfrm>
            <a:off x="4453128" y="1417320"/>
            <a:ext cx="1828800" cy="347472"/>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Pyomo model</a:t>
            </a:r>
            <a:endParaRPr lang="en-US" sz="900" dirty="0"/>
          </a:p>
        </p:txBody>
      </p:sp>
      <p:sp>
        <p:nvSpPr>
          <p:cNvPr id="12" name="Shape 10"/>
          <p:cNvSpPr/>
          <p:nvPr/>
        </p:nvSpPr>
        <p:spPr>
          <a:xfrm>
            <a:off x="6556248" y="1051560"/>
            <a:ext cx="1828800" cy="749808"/>
          </a:xfrm>
          <a:prstGeom prst="rect">
            <a:avLst/>
          </a:prstGeom>
          <a:solidFill>
            <a:srgbClr val="1A3168"/>
          </a:solidFill>
          <a:ln w="12700">
            <a:solidFill>
              <a:srgbClr val="4FA8D8"/>
            </a:solidFill>
            <a:prstDash val="solid"/>
          </a:ln>
        </p:spPr>
      </p:sp>
      <p:sp>
        <p:nvSpPr>
          <p:cNvPr id="13" name="Text 11"/>
          <p:cNvSpPr/>
          <p:nvPr/>
        </p:nvSpPr>
        <p:spPr>
          <a:xfrm>
            <a:off x="6556248" y="1078992"/>
            <a:ext cx="1828800" cy="347472"/>
          </a:xfrm>
          <a:prstGeom prst="rect">
            <a:avLst/>
          </a:prstGeom>
          <a:noFill/>
          <a:ln/>
        </p:spPr>
        <p:txBody>
          <a:bodyPr wrap="square" lIns="0" tIns="0" rIns="0" bIns="0" rtlCol="0" anchor="ctr"/>
          <a:lstStyle/>
          <a:p>
            <a:pPr algn="ctr" indent="0" marL="0">
              <a:buNone/>
            </a:pPr>
            <a:r>
              <a:rPr lang="en-US" sz="1100" b="1" dirty="0">
                <a:solidFill>
                  <a:srgbClr val="CADCFC"/>
                </a:solidFill>
                <a:latin typeface="Consolas" pitchFamily="34" charset="0"/>
                <a:ea typeface="Consolas" pitchFamily="34" charset="-122"/>
                <a:cs typeface="Consolas" pitchFamily="34" charset="-120"/>
              </a:rPr>
              <a:t>solution.py</a:t>
            </a:r>
            <a:endParaRPr lang="en-US" sz="1100" dirty="0"/>
          </a:p>
        </p:txBody>
      </p:sp>
      <p:sp>
        <p:nvSpPr>
          <p:cNvPr id="14" name="Text 12"/>
          <p:cNvSpPr/>
          <p:nvPr/>
        </p:nvSpPr>
        <p:spPr>
          <a:xfrm>
            <a:off x="6556248" y="1417320"/>
            <a:ext cx="1828800" cy="347472"/>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solution.json</a:t>
            </a:r>
            <a:endParaRPr lang="en-US" sz="900" dirty="0"/>
          </a:p>
        </p:txBody>
      </p:sp>
      <p:sp>
        <p:nvSpPr>
          <p:cNvPr id="15" name="Shape 13"/>
          <p:cNvSpPr/>
          <p:nvPr/>
        </p:nvSpPr>
        <p:spPr>
          <a:xfrm>
            <a:off x="2103120" y="1389888"/>
            <a:ext cx="228600" cy="64008"/>
          </a:xfrm>
          <a:prstGeom prst="rect">
            <a:avLst/>
          </a:prstGeom>
          <a:solidFill>
            <a:srgbClr val="4FA8D8"/>
          </a:solidFill>
          <a:ln w="12700">
            <a:solidFill>
              <a:srgbClr val="4FA8D8"/>
            </a:solidFill>
            <a:prstDash val="solid"/>
          </a:ln>
        </p:spPr>
      </p:sp>
      <p:sp>
        <p:nvSpPr>
          <p:cNvPr id="16" name="Shape 14"/>
          <p:cNvSpPr/>
          <p:nvPr/>
        </p:nvSpPr>
        <p:spPr>
          <a:xfrm>
            <a:off x="4206240" y="1389888"/>
            <a:ext cx="228600" cy="64008"/>
          </a:xfrm>
          <a:prstGeom prst="rect">
            <a:avLst/>
          </a:prstGeom>
          <a:solidFill>
            <a:srgbClr val="4FA8D8"/>
          </a:solidFill>
          <a:ln w="12700">
            <a:solidFill>
              <a:srgbClr val="4FA8D8"/>
            </a:solidFill>
            <a:prstDash val="solid"/>
          </a:ln>
        </p:spPr>
      </p:sp>
      <p:sp>
        <p:nvSpPr>
          <p:cNvPr id="17" name="Shape 15"/>
          <p:cNvSpPr/>
          <p:nvPr/>
        </p:nvSpPr>
        <p:spPr>
          <a:xfrm>
            <a:off x="6309360" y="1389888"/>
            <a:ext cx="228600" cy="64008"/>
          </a:xfrm>
          <a:prstGeom prst="rect">
            <a:avLst/>
          </a:prstGeom>
          <a:solidFill>
            <a:srgbClr val="4FA8D8"/>
          </a:solidFill>
          <a:ln w="12700">
            <a:solidFill>
              <a:srgbClr val="4FA8D8"/>
            </a:solidFill>
            <a:prstDash val="solid"/>
          </a:ln>
        </p:spPr>
      </p:sp>
      <p:sp>
        <p:nvSpPr>
          <p:cNvPr id="18" name="Shape 16"/>
          <p:cNvSpPr/>
          <p:nvPr/>
        </p:nvSpPr>
        <p:spPr>
          <a:xfrm>
            <a:off x="4453128" y="1965960"/>
            <a:ext cx="1828800" cy="621792"/>
          </a:xfrm>
          <a:prstGeom prst="rect">
            <a:avLst/>
          </a:prstGeom>
          <a:solidFill>
            <a:srgbClr val="1A3168"/>
          </a:solidFill>
          <a:ln w="12700">
            <a:solidFill>
              <a:srgbClr val="3B82F6"/>
            </a:solidFill>
            <a:prstDash val="solid"/>
          </a:ln>
        </p:spPr>
      </p:sp>
      <p:sp>
        <p:nvSpPr>
          <p:cNvPr id="19" name="Text 17"/>
          <p:cNvSpPr/>
          <p:nvPr/>
        </p:nvSpPr>
        <p:spPr>
          <a:xfrm>
            <a:off x="4526280" y="1993392"/>
            <a:ext cx="1719072" cy="566928"/>
          </a:xfrm>
          <a:prstGeom prst="rect">
            <a:avLst/>
          </a:prstGeom>
          <a:noFill/>
          <a:ln/>
        </p:spPr>
        <p:txBody>
          <a:bodyPr wrap="square" lIns="0" tIns="0" rIns="0" bIns="0" rtlCol="0" anchor="ctr"/>
          <a:lstStyle/>
          <a:p>
            <a:pPr algn="l" indent="0" marL="0">
              <a:buNone/>
            </a:pPr>
            <a:r>
              <a:rPr lang="en-US" sz="950" dirty="0">
                <a:solidFill>
                  <a:srgbClr val="CADCFC"/>
                </a:solidFill>
                <a:latin typeface="Calibri" pitchFamily="34" charset="0"/>
                <a:ea typeface="Calibri" pitchFamily="34" charset="-122"/>
                <a:cs typeface="Calibri" pitchFamily="34" charset="-120"/>
              </a:rPr>
              <a:t>_add_startup_tier_costs()</a:t>
            </a:r>
            <a:endParaRPr lang="en-US" sz="950" dirty="0"/>
          </a:p>
          <a:p>
            <a:pPr algn="l" indent="0" marL="0">
              <a:buNone/>
            </a:pPr>
            <a:r>
              <a:rPr lang="en-US" sz="950" dirty="0">
                <a:solidFill>
                  <a:srgbClr val="CADCFC"/>
                </a:solidFill>
                <a:latin typeface="Calibri" pitchFamily="34" charset="0"/>
                <a:ea typeface="Calibri" pitchFamily="34" charset="-122"/>
                <a:cs typeface="Calibri" pitchFamily="34" charset="-120"/>
              </a:rPr>
              <a:t>← NEW: Part 1</a:t>
            </a:r>
            <a:endParaRPr lang="en-US" sz="950" dirty="0"/>
          </a:p>
        </p:txBody>
      </p:sp>
      <p:sp>
        <p:nvSpPr>
          <p:cNvPr id="20" name="Shape 18"/>
          <p:cNvSpPr/>
          <p:nvPr/>
        </p:nvSpPr>
        <p:spPr>
          <a:xfrm>
            <a:off x="4453128" y="2679192"/>
            <a:ext cx="1828800" cy="621792"/>
          </a:xfrm>
          <a:prstGeom prst="rect">
            <a:avLst/>
          </a:prstGeom>
          <a:solidFill>
            <a:srgbClr val="1A3168"/>
          </a:solidFill>
          <a:ln w="12700">
            <a:solidFill>
              <a:srgbClr val="10B981"/>
            </a:solidFill>
            <a:prstDash val="solid"/>
          </a:ln>
        </p:spPr>
      </p:sp>
      <p:sp>
        <p:nvSpPr>
          <p:cNvPr id="21" name="Text 19"/>
          <p:cNvSpPr/>
          <p:nvPr/>
        </p:nvSpPr>
        <p:spPr>
          <a:xfrm>
            <a:off x="4526280" y="2706624"/>
            <a:ext cx="1719072" cy="566928"/>
          </a:xfrm>
          <a:prstGeom prst="rect">
            <a:avLst/>
          </a:prstGeom>
          <a:noFill/>
          <a:ln/>
        </p:spPr>
        <p:txBody>
          <a:bodyPr wrap="square" lIns="0" tIns="0" rIns="0" bIns="0" rtlCol="0" anchor="ctr"/>
          <a:lstStyle/>
          <a:p>
            <a:pPr algn="l" indent="0" marL="0">
              <a:buNone/>
            </a:pPr>
            <a:r>
              <a:rPr lang="en-US" sz="950" dirty="0">
                <a:solidFill>
                  <a:srgbClr val="6EE7B7"/>
                </a:solidFill>
                <a:latin typeface="Calibri" pitchFamily="34" charset="0"/>
                <a:ea typeface="Calibri" pitchFamily="34" charset="-122"/>
                <a:cs typeface="Calibri" pitchFamily="34" charset="-120"/>
              </a:rPr>
              <a:t>solve_with_n1_cuts()</a:t>
            </a:r>
            <a:endParaRPr lang="en-US" sz="950" dirty="0"/>
          </a:p>
          <a:p>
            <a:pPr algn="l" indent="0" marL="0">
              <a:buNone/>
            </a:pPr>
            <a:r>
              <a:rPr lang="en-US" sz="950" dirty="0">
                <a:solidFill>
                  <a:srgbClr val="6EE7B7"/>
                </a:solidFill>
                <a:latin typeface="Calibri" pitchFamily="34" charset="0"/>
                <a:ea typeface="Calibri" pitchFamily="34" charset="-122"/>
                <a:cs typeface="Calibri" pitchFamily="34" charset="-120"/>
              </a:rPr>
              <a:t>← NEW: Part 2</a:t>
            </a:r>
            <a:endParaRPr lang="en-US" sz="950" dirty="0"/>
          </a:p>
        </p:txBody>
      </p:sp>
      <p:sp>
        <p:nvSpPr>
          <p:cNvPr id="22" name="Shape 20"/>
          <p:cNvSpPr/>
          <p:nvPr/>
        </p:nvSpPr>
        <p:spPr>
          <a:xfrm>
            <a:off x="5358384" y="1801368"/>
            <a:ext cx="36576" cy="1499616"/>
          </a:xfrm>
          <a:prstGeom prst="rect">
            <a:avLst/>
          </a:prstGeom>
          <a:solidFill>
            <a:srgbClr val="2D4A8A"/>
          </a:solidFill>
          <a:ln w="12700">
            <a:solidFill>
              <a:srgbClr val="2D4A8A"/>
            </a:solidFill>
            <a:prstDash val="solid"/>
          </a:ln>
        </p:spPr>
      </p:sp>
      <p:sp>
        <p:nvSpPr>
          <p:cNvPr id="23" name="Shape 21"/>
          <p:cNvSpPr/>
          <p:nvPr/>
        </p:nvSpPr>
        <p:spPr>
          <a:xfrm>
            <a:off x="6556248" y="1965960"/>
            <a:ext cx="1828800" cy="621792"/>
          </a:xfrm>
          <a:prstGeom prst="rect">
            <a:avLst/>
          </a:prstGeom>
          <a:solidFill>
            <a:srgbClr val="1A3168"/>
          </a:solidFill>
          <a:ln w="12700">
            <a:solidFill>
              <a:srgbClr val="F59E0B"/>
            </a:solidFill>
            <a:prstDash val="solid"/>
          </a:ln>
        </p:spPr>
      </p:sp>
      <p:sp>
        <p:nvSpPr>
          <p:cNvPr id="24" name="Text 22"/>
          <p:cNvSpPr/>
          <p:nvPr/>
        </p:nvSpPr>
        <p:spPr>
          <a:xfrm>
            <a:off x="6629400" y="1993392"/>
            <a:ext cx="1719072" cy="566928"/>
          </a:xfrm>
          <a:prstGeom prst="rect">
            <a:avLst/>
          </a:prstGeom>
          <a:noFill/>
          <a:ln/>
        </p:spPr>
        <p:txBody>
          <a:bodyPr wrap="square" lIns="0" tIns="0" rIns="0" bIns="0" rtlCol="0" anchor="ctr"/>
          <a:lstStyle/>
          <a:p>
            <a:pPr algn="l" indent="0" marL="0">
              <a:buNone/>
            </a:pPr>
            <a:r>
              <a:rPr lang="en-US" sz="950" dirty="0">
                <a:solidFill>
                  <a:srgbClr val="F59E0B"/>
                </a:solidFill>
                <a:latin typeface="Calibri" pitchFamily="34" charset="0"/>
                <a:ea typeface="Calibri" pitchFamily="34" charset="-122"/>
                <a:cs typeface="Calibri" pitchFamily="34" charset="-120"/>
              </a:rPr>
              <a:t>market_analysis.py</a:t>
            </a:r>
            <a:endParaRPr lang="en-US" sz="950" dirty="0"/>
          </a:p>
          <a:p>
            <a:pPr algn="l" indent="0" marL="0">
              <a:buNone/>
            </a:pPr>
            <a:r>
              <a:rPr lang="en-US" sz="950" dirty="0">
                <a:solidFill>
                  <a:srgbClr val="F59E0B"/>
                </a:solidFill>
                <a:latin typeface="Calibri" pitchFamily="34" charset="0"/>
                <a:ea typeface="Calibri" pitchFamily="34" charset="-122"/>
                <a:cs typeface="Calibri" pitchFamily="34" charset="-120"/>
              </a:rPr>
              <a:t>← NEW: Part 3</a:t>
            </a:r>
            <a:endParaRPr lang="en-US" sz="950" dirty="0"/>
          </a:p>
        </p:txBody>
      </p:sp>
      <p:sp>
        <p:nvSpPr>
          <p:cNvPr id="25" name="Shape 23"/>
          <p:cNvSpPr/>
          <p:nvPr/>
        </p:nvSpPr>
        <p:spPr>
          <a:xfrm>
            <a:off x="7461504" y="1801368"/>
            <a:ext cx="36576" cy="164592"/>
          </a:xfrm>
          <a:prstGeom prst="rect">
            <a:avLst/>
          </a:prstGeom>
          <a:solidFill>
            <a:srgbClr val="2D4A8A"/>
          </a:solidFill>
          <a:ln w="12700">
            <a:solidFill>
              <a:srgbClr val="2D4A8A"/>
            </a:solidFill>
            <a:prstDash val="solid"/>
          </a:ln>
        </p:spPr>
      </p:sp>
      <p:sp>
        <p:nvSpPr>
          <p:cNvPr id="26" name="Shape 24"/>
          <p:cNvSpPr/>
          <p:nvPr/>
        </p:nvSpPr>
        <p:spPr>
          <a:xfrm>
            <a:off x="256032" y="4069080"/>
            <a:ext cx="201168" cy="201168"/>
          </a:xfrm>
          <a:prstGeom prst="rect">
            <a:avLst/>
          </a:prstGeom>
          <a:solidFill>
            <a:srgbClr val="3B82F6"/>
          </a:solidFill>
          <a:ln w="12700">
            <a:solidFill>
              <a:srgbClr val="3B82F6"/>
            </a:solidFill>
            <a:prstDash val="solid"/>
          </a:ln>
        </p:spPr>
      </p:sp>
      <p:sp>
        <p:nvSpPr>
          <p:cNvPr id="27" name="Text 25"/>
          <p:cNvSpPr/>
          <p:nvPr/>
        </p:nvSpPr>
        <p:spPr>
          <a:xfrm>
            <a:off x="512064" y="4059936"/>
            <a:ext cx="2468880" cy="219456"/>
          </a:xfrm>
          <a:prstGeom prst="rect">
            <a:avLst/>
          </a:prstGeom>
          <a:noFill/>
          <a:ln/>
        </p:spPr>
        <p:txBody>
          <a:bodyPr wrap="square" lIns="0" tIns="0" rIns="0" bIns="0" rtlCol="0" anchor="ctr"/>
          <a:lstStyle/>
          <a:p>
            <a:pPr algn="l" indent="0" marL="0">
              <a:buNone/>
            </a:pPr>
            <a:r>
              <a:rPr lang="en-US" sz="1000" dirty="0">
                <a:solidFill>
                  <a:srgbClr val="3B82F6"/>
                </a:solidFill>
                <a:latin typeface="Calibri" pitchFamily="34" charset="0"/>
                <a:ea typeface="Calibri" pitchFamily="34" charset="-122"/>
                <a:cs typeface="Calibri" pitchFamily="34" charset="-120"/>
              </a:rPr>
              <a:t>Part 1 — Startup tiers</a:t>
            </a:r>
            <a:endParaRPr lang="en-US" sz="1000" dirty="0"/>
          </a:p>
        </p:txBody>
      </p:sp>
      <p:sp>
        <p:nvSpPr>
          <p:cNvPr id="28" name="Shape 26"/>
          <p:cNvSpPr/>
          <p:nvPr/>
        </p:nvSpPr>
        <p:spPr>
          <a:xfrm>
            <a:off x="3182112" y="4069080"/>
            <a:ext cx="201168" cy="201168"/>
          </a:xfrm>
          <a:prstGeom prst="rect">
            <a:avLst/>
          </a:prstGeom>
          <a:solidFill>
            <a:srgbClr val="10B981"/>
          </a:solidFill>
          <a:ln w="12700">
            <a:solidFill>
              <a:srgbClr val="10B981"/>
            </a:solidFill>
            <a:prstDash val="solid"/>
          </a:ln>
        </p:spPr>
      </p:sp>
      <p:sp>
        <p:nvSpPr>
          <p:cNvPr id="29" name="Text 27"/>
          <p:cNvSpPr/>
          <p:nvPr/>
        </p:nvSpPr>
        <p:spPr>
          <a:xfrm>
            <a:off x="3438144" y="4059936"/>
            <a:ext cx="2468880" cy="219456"/>
          </a:xfrm>
          <a:prstGeom prst="rect">
            <a:avLst/>
          </a:prstGeom>
          <a:noFill/>
          <a:ln/>
        </p:spPr>
        <p:txBody>
          <a:bodyPr wrap="square" lIns="0" tIns="0" rIns="0" bIns="0" rtlCol="0" anchor="ctr"/>
          <a:lstStyle/>
          <a:p>
            <a:pPr algn="l" indent="0" marL="0">
              <a:buNone/>
            </a:pPr>
            <a:r>
              <a:rPr lang="en-US" sz="1000" dirty="0">
                <a:solidFill>
                  <a:srgbClr val="10B981"/>
                </a:solidFill>
                <a:latin typeface="Calibri" pitchFamily="34" charset="0"/>
                <a:ea typeface="Calibri" pitchFamily="34" charset="-122"/>
                <a:cs typeface="Calibri" pitchFamily="34" charset="-120"/>
              </a:rPr>
              <a:t>Part 2 — N-1 cuts loop</a:t>
            </a:r>
            <a:endParaRPr lang="en-US" sz="1000" dirty="0"/>
          </a:p>
        </p:txBody>
      </p:sp>
      <p:sp>
        <p:nvSpPr>
          <p:cNvPr id="30" name="Shape 28"/>
          <p:cNvSpPr/>
          <p:nvPr/>
        </p:nvSpPr>
        <p:spPr>
          <a:xfrm>
            <a:off x="6108192" y="4069080"/>
            <a:ext cx="201168" cy="201168"/>
          </a:xfrm>
          <a:prstGeom prst="rect">
            <a:avLst/>
          </a:prstGeom>
          <a:solidFill>
            <a:srgbClr val="F59E0B"/>
          </a:solidFill>
          <a:ln w="12700">
            <a:solidFill>
              <a:srgbClr val="F59E0B"/>
            </a:solidFill>
            <a:prstDash val="solid"/>
          </a:ln>
        </p:spPr>
      </p:sp>
      <p:sp>
        <p:nvSpPr>
          <p:cNvPr id="31" name="Text 29"/>
          <p:cNvSpPr/>
          <p:nvPr/>
        </p:nvSpPr>
        <p:spPr>
          <a:xfrm>
            <a:off x="6364224" y="4059936"/>
            <a:ext cx="2468880" cy="219456"/>
          </a:xfrm>
          <a:prstGeom prst="rect">
            <a:avLst/>
          </a:prstGeom>
          <a:noFill/>
          <a:ln/>
        </p:spPr>
        <p:txBody>
          <a:bodyPr wrap="square" lIns="0" tIns="0" rIns="0" bIns="0" rtlCol="0" anchor="ctr"/>
          <a:lstStyle/>
          <a:p>
            <a:pPr algn="l" indent="0" marL="0">
              <a:buNone/>
            </a:pPr>
            <a:r>
              <a:rPr lang="en-US" sz="1000" dirty="0">
                <a:solidFill>
                  <a:srgbClr val="F59E0B"/>
                </a:solidFill>
                <a:latin typeface="Calibri" pitchFamily="34" charset="0"/>
                <a:ea typeface="Calibri" pitchFamily="34" charset="-122"/>
                <a:cs typeface="Calibri" pitchFamily="34" charset="-120"/>
              </a:rPr>
              <a:t>Part 3 — Market analysis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8B5CF6"/>
          </a:solidFill>
          <a:ln w="12700">
            <a:solidFill>
              <a:srgbClr val="8B5CF6"/>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Rigorous Test Coverage — 22 Tests, All Passing</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Text 3"/>
          <p:cNvSpPr/>
          <p:nvPr/>
        </p:nvSpPr>
        <p:spPr>
          <a:xfrm>
            <a:off x="457200" y="1005840"/>
            <a:ext cx="3977640" cy="347472"/>
          </a:xfrm>
          <a:prstGeom prst="rect">
            <a:avLst/>
          </a:prstGeom>
          <a:noFill/>
          <a:ln/>
        </p:spPr>
        <p:txBody>
          <a:bodyPr wrap="square" lIns="0" tIns="0" rIns="0" bIns="0" rtlCol="0" anchor="ctr"/>
          <a:lstStyle/>
          <a:p>
            <a:pPr algn="l" indent="0" marL="0">
              <a:buNone/>
            </a:pPr>
            <a:r>
              <a:rPr lang="en-US" sz="1250" b="1" dirty="0">
                <a:solidFill>
                  <a:srgbClr val="3B82F6"/>
                </a:solidFill>
                <a:latin typeface="Cambria" pitchFamily="34" charset="0"/>
                <a:ea typeface="Cambria" pitchFamily="34" charset="-122"/>
                <a:cs typeface="Cambria" pitchFamily="34" charset="-120"/>
              </a:rPr>
              <a:t>Part 1  ·  test_startup_tiers.py  (13 tests)</a:t>
            </a:r>
            <a:endParaRPr lang="en-US" sz="1250" dirty="0"/>
          </a:p>
        </p:txBody>
      </p:sp>
      <p:sp>
        <p:nvSpPr>
          <p:cNvPr id="6" name="Text 4"/>
          <p:cNvSpPr/>
          <p:nvPr/>
        </p:nvSpPr>
        <p:spPr>
          <a:xfrm>
            <a:off x="457200" y="1389888"/>
            <a:ext cx="3977640" cy="3291840"/>
          </a:xfrm>
          <a:prstGeom prst="rect">
            <a:avLst/>
          </a:prstGeom>
          <a:noFill/>
          <a:ln/>
        </p:spPr>
        <p:txBody>
          <a:bodyPr wrap="square" rtlCol="0" anchor="t"/>
          <a:lstStyle/>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No δ variable for single-tier model (structural)</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Correct variable count for multi-tier</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Σ δ[g,s,t] = v[g,t] at optimality (algebraic)</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Pre-horizon hot / warm / cold tier selection</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Boundary: exactly Tᵊs hours offline → correct tier</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In-horizon hot start (switch-off within window)</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Equal delays → that tier is always zero</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Economic: warm = hot + $300 exactly</a:t>
            </a:r>
            <a:endParaRPr lang="en-US" sz="1100" dirty="0"/>
          </a:p>
          <a:p>
            <a:pPr marL="342900" indent="-342900">
              <a:buSzPct val="100000"/>
              <a:buChar char="•"/>
            </a:pPr>
            <a:r>
              <a:rPr lang="en-US" sz="1100" dirty="0">
                <a:solidFill>
                  <a:srgbClr val="475569"/>
                </a:solidFill>
                <a:latin typeface="Calibri" pitchFamily="34" charset="0"/>
                <a:ea typeface="Calibri" pitchFamily="34" charset="-122"/>
                <a:cs typeface="Calibri" pitchFamily="34" charset="-120"/>
              </a:rPr>
              <a:t>Economic: cold = warm + $500 exactly</a:t>
            </a:r>
            <a:endParaRPr lang="en-US" sz="1100" dirty="0"/>
          </a:p>
        </p:txBody>
      </p:sp>
      <p:sp>
        <p:nvSpPr>
          <p:cNvPr id="7" name="Shape 5"/>
          <p:cNvSpPr/>
          <p:nvPr/>
        </p:nvSpPr>
        <p:spPr>
          <a:xfrm>
            <a:off x="4572000" y="978408"/>
            <a:ext cx="20117" cy="3840480"/>
          </a:xfrm>
          <a:prstGeom prst="rect">
            <a:avLst/>
          </a:prstGeom>
          <a:solidFill>
            <a:srgbClr val="E2E8F0"/>
          </a:solidFill>
          <a:ln w="12700">
            <a:solidFill>
              <a:srgbClr val="E2E8F0"/>
            </a:solidFill>
            <a:prstDash val="solid"/>
          </a:ln>
        </p:spPr>
      </p:sp>
      <p:sp>
        <p:nvSpPr>
          <p:cNvPr id="8" name="Text 6"/>
          <p:cNvSpPr/>
          <p:nvPr/>
        </p:nvSpPr>
        <p:spPr>
          <a:xfrm>
            <a:off x="4754880" y="1005840"/>
            <a:ext cx="3977640" cy="347472"/>
          </a:xfrm>
          <a:prstGeom prst="rect">
            <a:avLst/>
          </a:prstGeom>
          <a:noFill/>
          <a:ln/>
        </p:spPr>
        <p:txBody>
          <a:bodyPr wrap="square" lIns="0" tIns="0" rIns="0" bIns="0" rtlCol="0" anchor="ctr"/>
          <a:lstStyle/>
          <a:p>
            <a:pPr algn="l" indent="0" marL="0">
              <a:buNone/>
            </a:pPr>
            <a:r>
              <a:rPr lang="en-US" sz="1250" b="1" dirty="0">
                <a:solidFill>
                  <a:srgbClr val="10B981"/>
                </a:solidFill>
                <a:latin typeface="Cambria" pitchFamily="34" charset="0"/>
                <a:ea typeface="Cambria" pitchFamily="34" charset="-122"/>
                <a:cs typeface="Cambria" pitchFamily="34" charset="-120"/>
              </a:rPr>
              <a:t>Part 2  ·  test_n1_security.py  (9 tests)</a:t>
            </a:r>
            <a:endParaRPr lang="en-US" sz="1250" dirty="0"/>
          </a:p>
        </p:txBody>
      </p:sp>
      <p:sp>
        <p:nvSpPr>
          <p:cNvPr id="9" name="Text 7"/>
          <p:cNvSpPr/>
          <p:nvPr/>
        </p:nvSpPr>
        <p:spPr>
          <a:xfrm>
            <a:off x="4754880" y="1389888"/>
            <a:ext cx="3977640" cy="3291840"/>
          </a:xfrm>
          <a:prstGeom prst="rect">
            <a:avLst/>
          </a:prstGeom>
          <a:noFill/>
          <a:ln/>
        </p:spPr>
        <p:txBody>
          <a:bodyPr wrap="square" rtlCol="0" anchor="t"/>
          <a:lstStyle/>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n1_overflow keyset matches expected shape</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Cut list empty before first solve</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LODF matrix shape: (n_branches × n_branches)</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Convergence within max_iter</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Stats dict fully populated; last iter = 0 violations</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Constraints added ≤ max possible</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Post-solve N-1 feasibility verified numerically</a:t>
            </a:r>
            <a:endParaRPr lang="en-US" sz="1100" dirty="0"/>
          </a:p>
          <a:p>
            <a:pPr marL="342900" indent="-342900">
              <a:spcAft>
                <a:spcPts val="400"/>
              </a:spcAft>
              <a:buSzPct val="100000"/>
              <a:buChar char="•"/>
            </a:pPr>
            <a:r>
              <a:rPr lang="en-US" sz="1100" dirty="0">
                <a:solidFill>
                  <a:srgbClr val="475569"/>
                </a:solidFill>
                <a:latin typeface="Calibri" pitchFamily="34" charset="0"/>
                <a:ea typeface="Calibri" pitchFamily="34" charset="-122"/>
                <a:cs typeface="Calibri" pitchFamily="34" charset="-120"/>
              </a:rPr>
              <a:t>Cutting-plane cost = full model cost (±$1)</a:t>
            </a:r>
            <a:endParaRPr lang="en-US" sz="1100" dirty="0"/>
          </a:p>
          <a:p>
            <a:pPr marL="342900" indent="-342900">
              <a:buSzPct val="100000"/>
              <a:buChar char="•"/>
            </a:pPr>
            <a:r>
              <a:rPr lang="en-US" sz="1100" dirty="0">
                <a:solidFill>
                  <a:srgbClr val="475569"/>
                </a:solidFill>
                <a:latin typeface="Calibri" pitchFamily="34" charset="0"/>
                <a:ea typeface="Calibri" pitchFamily="34" charset="-122"/>
                <a:cs typeface="Calibri" pitchFamily="34" charset="-120"/>
              </a:rPr>
              <a:t>Cutting-plane adds strictly fewer constraints than full model</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w="12700">
            <a:solidFill>
              <a:srgbClr val="1E2761"/>
            </a:solidFill>
            <a:prstDash val="solid"/>
          </a:ln>
        </p:spPr>
      </p:sp>
      <p:sp>
        <p:nvSpPr>
          <p:cNvPr id="3" name="Text 1"/>
          <p:cNvSpPr/>
          <p:nvPr/>
        </p:nvSpPr>
        <p:spPr>
          <a:xfrm>
            <a:off x="457200" y="292608"/>
            <a:ext cx="8229600" cy="566928"/>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Decision Log</a:t>
            </a:r>
            <a:endParaRPr lang="en-US" sz="2800" dirty="0"/>
          </a:p>
        </p:txBody>
      </p:sp>
      <p:sp>
        <p:nvSpPr>
          <p:cNvPr id="4" name="Shape 2"/>
          <p:cNvSpPr/>
          <p:nvPr/>
        </p:nvSpPr>
        <p:spPr>
          <a:xfrm>
            <a:off x="457200" y="932688"/>
            <a:ext cx="8229600" cy="20117"/>
          </a:xfrm>
          <a:prstGeom prst="rect">
            <a:avLst/>
          </a:prstGeom>
          <a:solidFill>
            <a:srgbClr val="E2E8F0"/>
          </a:solidFill>
          <a:ln w="12700">
            <a:solidFill>
              <a:srgbClr val="E2E8F0"/>
            </a:solidFill>
            <a:prstDash val="solid"/>
          </a:ln>
        </p:spPr>
      </p:sp>
      <p:sp>
        <p:nvSpPr>
          <p:cNvPr id="5" name="Shape 3"/>
          <p:cNvSpPr/>
          <p:nvPr/>
        </p:nvSpPr>
        <p:spPr>
          <a:xfrm>
            <a:off x="457200" y="1024128"/>
            <a:ext cx="8229600" cy="365760"/>
          </a:xfrm>
          <a:prstGeom prst="rect">
            <a:avLst/>
          </a:prstGeom>
          <a:solidFill>
            <a:srgbClr val="1E2761"/>
          </a:solidFill>
          <a:ln w="12700">
            <a:solidFill>
              <a:srgbClr val="1E2761"/>
            </a:solidFill>
            <a:prstDash val="solid"/>
          </a:ln>
        </p:spPr>
      </p:sp>
      <p:sp>
        <p:nvSpPr>
          <p:cNvPr id="6" name="Text 4"/>
          <p:cNvSpPr/>
          <p:nvPr/>
        </p:nvSpPr>
        <p:spPr>
          <a:xfrm>
            <a:off x="512064" y="1024128"/>
            <a:ext cx="1901952" cy="36576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p>
        </p:txBody>
      </p:sp>
      <p:sp>
        <p:nvSpPr>
          <p:cNvPr id="7" name="Text 5"/>
          <p:cNvSpPr/>
          <p:nvPr/>
        </p:nvSpPr>
        <p:spPr>
          <a:xfrm>
            <a:off x="2542032" y="1024128"/>
            <a:ext cx="2029968" cy="36576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Rejected approach</a:t>
            </a:r>
            <a:endParaRPr lang="en-US" sz="1100" dirty="0"/>
          </a:p>
        </p:txBody>
      </p:sp>
      <p:sp>
        <p:nvSpPr>
          <p:cNvPr id="8" name="Text 6"/>
          <p:cNvSpPr/>
          <p:nvPr/>
        </p:nvSpPr>
        <p:spPr>
          <a:xfrm>
            <a:off x="4700016" y="1024128"/>
            <a:ext cx="3986784" cy="36576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Why the chosen approach wins</a:t>
            </a:r>
            <a:endParaRPr lang="en-US" sz="1100" dirty="0"/>
          </a:p>
        </p:txBody>
      </p:sp>
      <p:sp>
        <p:nvSpPr>
          <p:cNvPr id="9" name="Shape 7"/>
          <p:cNvSpPr/>
          <p:nvPr/>
        </p:nvSpPr>
        <p:spPr>
          <a:xfrm>
            <a:off x="457200" y="1389888"/>
            <a:ext cx="8229600" cy="850392"/>
          </a:xfrm>
          <a:prstGeom prst="rect">
            <a:avLst/>
          </a:prstGeom>
          <a:solidFill>
            <a:srgbClr val="FFFFFF"/>
          </a:solidFill>
          <a:ln w="12700">
            <a:solidFill>
              <a:srgbClr val="E2E8F0"/>
            </a:solidFill>
            <a:prstDash val="solid"/>
          </a:ln>
        </p:spPr>
      </p:sp>
      <p:sp>
        <p:nvSpPr>
          <p:cNvPr id="10" name="Text 8"/>
          <p:cNvSpPr/>
          <p:nvPr/>
        </p:nvSpPr>
        <p:spPr>
          <a:xfrm>
            <a:off x="548640" y="1426464"/>
            <a:ext cx="1810512" cy="777240"/>
          </a:xfrm>
          <a:prstGeom prst="rect">
            <a:avLst/>
          </a:prstGeom>
          <a:noFill/>
          <a:ln/>
        </p:spPr>
        <p:txBody>
          <a:bodyPr wrap="square" rtlCol="0" anchor="ctr"/>
          <a:lstStyle/>
          <a:p>
            <a:pPr algn="l" indent="0" marL="0">
              <a:buNone/>
            </a:pPr>
            <a:r>
              <a:rPr lang="en-US" sz="1100" b="1" dirty="0">
                <a:solidFill>
                  <a:srgbClr val="1E2761"/>
                </a:solidFill>
                <a:latin typeface="Calibri" pitchFamily="34" charset="0"/>
                <a:ea typeface="Calibri" pitchFamily="34" charset="-122"/>
                <a:cs typeface="Calibri" pitchFamily="34" charset="-120"/>
              </a:rPr>
              <a:t>Startup tier formulation</a:t>
            </a:r>
            <a:endParaRPr lang="en-US" sz="1100" dirty="0"/>
          </a:p>
        </p:txBody>
      </p:sp>
      <p:sp>
        <p:nvSpPr>
          <p:cNvPr id="11" name="Text 9"/>
          <p:cNvSpPr/>
          <p:nvPr/>
        </p:nvSpPr>
        <p:spPr>
          <a:xfrm>
            <a:off x="2578608" y="1426464"/>
            <a:ext cx="1938528" cy="777240"/>
          </a:xfrm>
          <a:prstGeom prst="rect">
            <a:avLst/>
          </a:prstGeom>
          <a:noFill/>
          <a:ln/>
        </p:spPr>
        <p:txBody>
          <a:bodyPr wrap="square" rtlCol="0" anchor="ctr"/>
          <a:lstStyle/>
          <a:p>
            <a:pPr algn="l" indent="0" marL="0">
              <a:buNone/>
            </a:pPr>
            <a:r>
              <a:rPr lang="en-US" sz="1100" dirty="0">
                <a:solidFill>
                  <a:srgbClr val="DC2626"/>
                </a:solidFill>
                <a:latin typeface="Calibri" pitchFamily="34" charset="0"/>
                <a:ea typeface="Calibri" pitchFamily="34" charset="-122"/>
                <a:cs typeface="Calibri" pitchFamily="34" charset="-120"/>
              </a:rPr>
              <a:t>Big-M countdown timer</a:t>
            </a:r>
            <a:endParaRPr lang="en-US" sz="1100" dirty="0"/>
          </a:p>
        </p:txBody>
      </p:sp>
      <p:sp>
        <p:nvSpPr>
          <p:cNvPr id="12" name="Text 10"/>
          <p:cNvSpPr/>
          <p:nvPr/>
        </p:nvSpPr>
        <p:spPr>
          <a:xfrm>
            <a:off x="4736592" y="1426464"/>
            <a:ext cx="3895344" cy="777240"/>
          </a:xfrm>
          <a:prstGeom prst="rect">
            <a:avLst/>
          </a:prstGeom>
          <a:noFill/>
          <a:ln/>
        </p:spPr>
        <p:txBody>
          <a:bodyPr wrap="square" rtlCol="0" anchor="ctr"/>
          <a:lstStyle/>
          <a:p>
            <a:pPr algn="l" indent="0" marL="0">
              <a:buNone/>
            </a:pPr>
            <a:r>
              <a:rPr lang="en-US" sz="1050" dirty="0">
                <a:solidFill>
                  <a:srgbClr val="166534"/>
                </a:solidFill>
                <a:latin typeface="Calibri" pitchFamily="34" charset="0"/>
                <a:ea typeface="Calibri" pitchFamily="34" charset="-122"/>
                <a:cs typeface="Calibri" pitchFamily="34" charset="-120"/>
              </a:rPr>
              <a:t>Big-M weakens LP bound → slow MILP. Window RHS = existing binary vars → tight LP, no Big-M, ISO-standard</a:t>
            </a:r>
            <a:endParaRPr lang="en-US" sz="1050" dirty="0"/>
          </a:p>
        </p:txBody>
      </p:sp>
      <p:sp>
        <p:nvSpPr>
          <p:cNvPr id="13" name="Shape 11"/>
          <p:cNvSpPr/>
          <p:nvPr/>
        </p:nvSpPr>
        <p:spPr>
          <a:xfrm>
            <a:off x="457200" y="2276856"/>
            <a:ext cx="8229600" cy="850392"/>
          </a:xfrm>
          <a:prstGeom prst="rect">
            <a:avLst/>
          </a:prstGeom>
          <a:solidFill>
            <a:srgbClr val="F8FAFC"/>
          </a:solidFill>
          <a:ln w="12700">
            <a:solidFill>
              <a:srgbClr val="E2E8F0"/>
            </a:solidFill>
            <a:prstDash val="solid"/>
          </a:ln>
        </p:spPr>
      </p:sp>
      <p:sp>
        <p:nvSpPr>
          <p:cNvPr id="14" name="Text 12"/>
          <p:cNvSpPr/>
          <p:nvPr/>
        </p:nvSpPr>
        <p:spPr>
          <a:xfrm>
            <a:off x="548640" y="2313432"/>
            <a:ext cx="1810512" cy="777240"/>
          </a:xfrm>
          <a:prstGeom prst="rect">
            <a:avLst/>
          </a:prstGeom>
          <a:noFill/>
          <a:ln/>
        </p:spPr>
        <p:txBody>
          <a:bodyPr wrap="square" rtlCol="0" anchor="ctr"/>
          <a:lstStyle/>
          <a:p>
            <a:pPr algn="l" indent="0" marL="0">
              <a:buNone/>
            </a:pPr>
            <a:r>
              <a:rPr lang="en-US" sz="1100" b="1" dirty="0">
                <a:solidFill>
                  <a:srgbClr val="1E2761"/>
                </a:solidFill>
                <a:latin typeface="Calibri" pitchFamily="34" charset="0"/>
                <a:ea typeface="Calibri" pitchFamily="34" charset="-122"/>
                <a:cs typeface="Calibri" pitchFamily="34" charset="-120"/>
              </a:rPr>
              <a:t>N-1 efficiency method</a:t>
            </a:r>
            <a:endParaRPr lang="en-US" sz="1100" dirty="0"/>
          </a:p>
        </p:txBody>
      </p:sp>
      <p:sp>
        <p:nvSpPr>
          <p:cNvPr id="15" name="Text 13"/>
          <p:cNvSpPr/>
          <p:nvPr/>
        </p:nvSpPr>
        <p:spPr>
          <a:xfrm>
            <a:off x="2578608" y="2313432"/>
            <a:ext cx="1938528" cy="777240"/>
          </a:xfrm>
          <a:prstGeom prst="rect">
            <a:avLst/>
          </a:prstGeom>
          <a:noFill/>
          <a:ln/>
        </p:spPr>
        <p:txBody>
          <a:bodyPr wrap="square" rtlCol="0" anchor="ctr"/>
          <a:lstStyle/>
          <a:p>
            <a:pPr algn="l" indent="0" marL="0">
              <a:buNone/>
            </a:pPr>
            <a:r>
              <a:rPr lang="en-US" sz="1100" dirty="0">
                <a:solidFill>
                  <a:srgbClr val="DC2626"/>
                </a:solidFill>
                <a:latin typeface="Calibri" pitchFamily="34" charset="0"/>
                <a:ea typeface="Calibri" pitchFamily="34" charset="-122"/>
                <a:cs typeface="Calibri" pitchFamily="34" charset="-120"/>
              </a:rPr>
              <a:t>Add all 14,592 constraints upfront</a:t>
            </a:r>
            <a:endParaRPr lang="en-US" sz="1100" dirty="0"/>
          </a:p>
        </p:txBody>
      </p:sp>
      <p:sp>
        <p:nvSpPr>
          <p:cNvPr id="16" name="Text 14"/>
          <p:cNvSpPr/>
          <p:nvPr/>
        </p:nvSpPr>
        <p:spPr>
          <a:xfrm>
            <a:off x="4736592" y="2313432"/>
            <a:ext cx="3895344" cy="777240"/>
          </a:xfrm>
          <a:prstGeom prst="rect">
            <a:avLst/>
          </a:prstGeom>
          <a:noFill/>
          <a:ln/>
        </p:spPr>
        <p:txBody>
          <a:bodyPr wrap="square" rtlCol="0" anchor="ctr"/>
          <a:lstStyle/>
          <a:p>
            <a:pPr algn="l" indent="0" marL="0">
              <a:buNone/>
            </a:pPr>
            <a:r>
              <a:rPr lang="en-US" sz="1050" dirty="0">
                <a:solidFill>
                  <a:srgbClr val="166534"/>
                </a:solidFill>
                <a:latin typeface="Calibri" pitchFamily="34" charset="0"/>
                <a:ea typeface="Calibri" pitchFamily="34" charset="-122"/>
                <a:cs typeface="Calibri" pitchFamily="34" charset="-120"/>
              </a:rPr>
              <a:t>99.78% are slack (measured: 32 of 14,592 added, 2 iterations). Identical optimal cost: $657,811. Padhy (2004); MISO (Ott 2010)</a:t>
            </a:r>
            <a:endParaRPr lang="en-US" sz="1050" dirty="0"/>
          </a:p>
        </p:txBody>
      </p:sp>
      <p:sp>
        <p:nvSpPr>
          <p:cNvPr id="17" name="Shape 15"/>
          <p:cNvSpPr/>
          <p:nvPr/>
        </p:nvSpPr>
        <p:spPr>
          <a:xfrm>
            <a:off x="457200" y="3163824"/>
            <a:ext cx="8229600" cy="850392"/>
          </a:xfrm>
          <a:prstGeom prst="rect">
            <a:avLst/>
          </a:prstGeom>
          <a:solidFill>
            <a:srgbClr val="FFFFFF"/>
          </a:solidFill>
          <a:ln w="12700">
            <a:solidFill>
              <a:srgbClr val="E2E8F0"/>
            </a:solidFill>
            <a:prstDash val="solid"/>
          </a:ln>
        </p:spPr>
      </p:sp>
      <p:sp>
        <p:nvSpPr>
          <p:cNvPr id="18" name="Text 16"/>
          <p:cNvSpPr/>
          <p:nvPr/>
        </p:nvSpPr>
        <p:spPr>
          <a:xfrm>
            <a:off x="548640" y="3200400"/>
            <a:ext cx="1810512" cy="777240"/>
          </a:xfrm>
          <a:prstGeom prst="rect">
            <a:avLst/>
          </a:prstGeom>
          <a:noFill/>
          <a:ln/>
        </p:spPr>
        <p:txBody>
          <a:bodyPr wrap="square" rtlCol="0" anchor="ctr"/>
          <a:lstStyle/>
          <a:p>
            <a:pPr algn="l" indent="0" marL="0">
              <a:buNone/>
            </a:pPr>
            <a:r>
              <a:rPr lang="en-US" sz="1100" b="1" dirty="0">
                <a:solidFill>
                  <a:srgbClr val="1E2761"/>
                </a:solidFill>
                <a:latin typeface="Calibri" pitchFamily="34" charset="0"/>
                <a:ea typeface="Calibri" pitchFamily="34" charset="-122"/>
                <a:cs typeface="Calibri" pitchFamily="34" charset="-120"/>
              </a:rPr>
              <a:t>LMP extraction</a:t>
            </a:r>
            <a:endParaRPr lang="en-US" sz="1100" dirty="0"/>
          </a:p>
        </p:txBody>
      </p:sp>
      <p:sp>
        <p:nvSpPr>
          <p:cNvPr id="19" name="Text 17"/>
          <p:cNvSpPr/>
          <p:nvPr/>
        </p:nvSpPr>
        <p:spPr>
          <a:xfrm>
            <a:off x="2578608" y="3200400"/>
            <a:ext cx="1938528" cy="777240"/>
          </a:xfrm>
          <a:prstGeom prst="rect">
            <a:avLst/>
          </a:prstGeom>
          <a:noFill/>
          <a:ln/>
        </p:spPr>
        <p:txBody>
          <a:bodyPr wrap="square" rtlCol="0" anchor="ctr"/>
          <a:lstStyle/>
          <a:p>
            <a:pPr algn="l" indent="0" marL="0">
              <a:buNone/>
            </a:pPr>
            <a:r>
              <a:rPr lang="en-US" sz="1100" dirty="0">
                <a:solidFill>
                  <a:srgbClr val="DC2626"/>
                </a:solidFill>
                <a:latin typeface="Calibri" pitchFamily="34" charset="0"/>
                <a:ea typeface="Calibri" pitchFamily="34" charset="-122"/>
                <a:cs typeface="Calibri" pitchFamily="34" charset="-120"/>
              </a:rPr>
              <a:t>MILP dual variables directly</a:t>
            </a:r>
            <a:endParaRPr lang="en-US" sz="1100" dirty="0"/>
          </a:p>
        </p:txBody>
      </p:sp>
      <p:sp>
        <p:nvSpPr>
          <p:cNvPr id="20" name="Text 18"/>
          <p:cNvSpPr/>
          <p:nvPr/>
        </p:nvSpPr>
        <p:spPr>
          <a:xfrm>
            <a:off x="4736592" y="3200400"/>
            <a:ext cx="3895344" cy="777240"/>
          </a:xfrm>
          <a:prstGeom prst="rect">
            <a:avLst/>
          </a:prstGeom>
          <a:noFill/>
          <a:ln/>
        </p:spPr>
        <p:txBody>
          <a:bodyPr wrap="square" rtlCol="0" anchor="ctr"/>
          <a:lstStyle/>
          <a:p>
            <a:pPr algn="l" indent="0" marL="0">
              <a:buNone/>
            </a:pPr>
            <a:r>
              <a:rPr lang="en-US" sz="1050" dirty="0">
                <a:solidFill>
                  <a:srgbClr val="166534"/>
                </a:solidFill>
                <a:latin typeface="Calibri" pitchFamily="34" charset="0"/>
                <a:ea typeface="Calibri" pitchFamily="34" charset="-122"/>
                <a:cs typeface="Calibri" pitchFamily="34" charset="-120"/>
              </a:rPr>
              <a:t>Integer vars block LP duality. Fix-and-re-solve as LP is correct, verifiable, and consistent with ISO pricing methodology</a:t>
            </a:r>
            <a:endParaRPr lang="en-US" sz="1050" dirty="0"/>
          </a:p>
        </p:txBody>
      </p:sp>
      <p:sp>
        <p:nvSpPr>
          <p:cNvPr id="21" name="Shape 19"/>
          <p:cNvSpPr/>
          <p:nvPr/>
        </p:nvSpPr>
        <p:spPr>
          <a:xfrm>
            <a:off x="457200" y="4050792"/>
            <a:ext cx="8229600" cy="850392"/>
          </a:xfrm>
          <a:prstGeom prst="rect">
            <a:avLst/>
          </a:prstGeom>
          <a:solidFill>
            <a:srgbClr val="F8FAFC"/>
          </a:solidFill>
          <a:ln w="12700">
            <a:solidFill>
              <a:srgbClr val="E2E8F0"/>
            </a:solidFill>
            <a:prstDash val="solid"/>
          </a:ln>
        </p:spPr>
      </p:sp>
      <p:sp>
        <p:nvSpPr>
          <p:cNvPr id="22" name="Text 20"/>
          <p:cNvSpPr/>
          <p:nvPr/>
        </p:nvSpPr>
        <p:spPr>
          <a:xfrm>
            <a:off x="548640" y="4087368"/>
            <a:ext cx="1810512" cy="777240"/>
          </a:xfrm>
          <a:prstGeom prst="rect">
            <a:avLst/>
          </a:prstGeom>
          <a:noFill/>
          <a:ln/>
        </p:spPr>
        <p:txBody>
          <a:bodyPr wrap="square" rtlCol="0" anchor="ctr"/>
          <a:lstStyle/>
          <a:p>
            <a:pPr algn="l" indent="0" marL="0">
              <a:buNone/>
            </a:pPr>
            <a:r>
              <a:rPr lang="en-US" sz="1100" b="1" dirty="0">
                <a:solidFill>
                  <a:srgbClr val="1E2761"/>
                </a:solidFill>
                <a:latin typeface="Calibri" pitchFamily="34" charset="0"/>
                <a:ea typeface="Calibri" pitchFamily="34" charset="-122"/>
                <a:cs typeface="Calibri" pitchFamily="34" charset="-120"/>
              </a:rPr>
              <a:t>Code architecture</a:t>
            </a:r>
            <a:endParaRPr lang="en-US" sz="1100" dirty="0"/>
          </a:p>
        </p:txBody>
      </p:sp>
      <p:sp>
        <p:nvSpPr>
          <p:cNvPr id="23" name="Text 21"/>
          <p:cNvSpPr/>
          <p:nvPr/>
        </p:nvSpPr>
        <p:spPr>
          <a:xfrm>
            <a:off x="2578608" y="4087368"/>
            <a:ext cx="1938528" cy="777240"/>
          </a:xfrm>
          <a:prstGeom prst="rect">
            <a:avLst/>
          </a:prstGeom>
          <a:noFill/>
          <a:ln/>
        </p:spPr>
        <p:txBody>
          <a:bodyPr wrap="square" rtlCol="0" anchor="ctr"/>
          <a:lstStyle/>
          <a:p>
            <a:pPr algn="l" indent="0" marL="0">
              <a:buNone/>
            </a:pPr>
            <a:r>
              <a:rPr lang="en-US" sz="1100" dirty="0">
                <a:solidFill>
                  <a:srgbClr val="DC2626"/>
                </a:solidFill>
                <a:latin typeface="Calibri" pitchFamily="34" charset="0"/>
                <a:ea typeface="Calibri" pitchFamily="34" charset="-122"/>
                <a:cs typeface="Calibri" pitchFamily="34" charset="-120"/>
              </a:rPr>
              <a:t>Monolithic solve function</a:t>
            </a:r>
            <a:endParaRPr lang="en-US" sz="1100" dirty="0"/>
          </a:p>
        </p:txBody>
      </p:sp>
      <p:sp>
        <p:nvSpPr>
          <p:cNvPr id="24" name="Text 22"/>
          <p:cNvSpPr/>
          <p:nvPr/>
        </p:nvSpPr>
        <p:spPr>
          <a:xfrm>
            <a:off x="4736592" y="4087368"/>
            <a:ext cx="3895344" cy="777240"/>
          </a:xfrm>
          <a:prstGeom prst="rect">
            <a:avLst/>
          </a:prstGeom>
          <a:noFill/>
          <a:ln/>
        </p:spPr>
        <p:txBody>
          <a:bodyPr wrap="square" rtlCol="0" anchor="ctr"/>
          <a:lstStyle/>
          <a:p>
            <a:pPr algn="l" indent="0" marL="0">
              <a:buNone/>
            </a:pPr>
            <a:r>
              <a:rPr lang="en-US" sz="1050" dirty="0">
                <a:solidFill>
                  <a:srgbClr val="166534"/>
                </a:solidFill>
                <a:latin typeface="Calibri" pitchFamily="34" charset="0"/>
                <a:ea typeface="Calibri" pitchFamily="34" charset="-122"/>
                <a:cs typeface="Calibri" pitchFamily="34" charset="-120"/>
              </a:rPr>
              <a:t>Layered: read → build → solve → extract → analyze. Each stage is independently testable and replaceable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4FA8D8"/>
          </a:solidFill>
          <a:ln w="12700">
            <a:solidFill>
              <a:srgbClr val="4FA8D8"/>
            </a:solidFill>
            <a:prstDash val="solid"/>
          </a:ln>
        </p:spPr>
      </p:sp>
      <p:sp>
        <p:nvSpPr>
          <p:cNvPr id="3" name="Shape 1"/>
          <p:cNvSpPr/>
          <p:nvPr/>
        </p:nvSpPr>
        <p:spPr>
          <a:xfrm>
            <a:off x="0" y="4434840"/>
            <a:ext cx="9144000" cy="708660"/>
          </a:xfrm>
          <a:prstGeom prst="rect">
            <a:avLst/>
          </a:prstGeom>
          <a:solidFill>
            <a:srgbClr val="2D4A8A"/>
          </a:solidFill>
          <a:ln w="12700">
            <a:solidFill>
              <a:srgbClr val="2D4A8A"/>
            </a:solidFill>
            <a:prstDash val="solid"/>
          </a:ln>
        </p:spPr>
      </p:sp>
      <p:sp>
        <p:nvSpPr>
          <p:cNvPr id="4" name="Text 2"/>
          <p:cNvSpPr/>
          <p:nvPr/>
        </p:nvSpPr>
        <p:spPr>
          <a:xfrm>
            <a:off x="457200" y="256032"/>
            <a:ext cx="8229600" cy="566928"/>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Delivered</a:t>
            </a:r>
            <a:endParaRPr lang="en-US" sz="2800" dirty="0"/>
          </a:p>
        </p:txBody>
      </p:sp>
      <p:sp>
        <p:nvSpPr>
          <p:cNvPr id="5" name="Shape 3"/>
          <p:cNvSpPr/>
          <p:nvPr/>
        </p:nvSpPr>
        <p:spPr>
          <a:xfrm>
            <a:off x="502920" y="987552"/>
            <a:ext cx="329184" cy="329184"/>
          </a:xfrm>
          <a:prstGeom prst="ellipse">
            <a:avLst/>
          </a:prstGeom>
          <a:solidFill>
            <a:srgbClr val="3B82F6"/>
          </a:solidFill>
          <a:ln w="12700">
            <a:solidFill>
              <a:srgbClr val="3B82F6"/>
            </a:solidFill>
            <a:prstDash val="solid"/>
          </a:ln>
        </p:spPr>
      </p:sp>
      <p:sp>
        <p:nvSpPr>
          <p:cNvPr id="6" name="Text 4"/>
          <p:cNvSpPr/>
          <p:nvPr/>
        </p:nvSpPr>
        <p:spPr>
          <a:xfrm>
            <a:off x="502920" y="9875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p:nvPr/>
        </p:nvSpPr>
        <p:spPr>
          <a:xfrm>
            <a:off x="978408" y="987552"/>
            <a:ext cx="7772400" cy="329184"/>
          </a:xfrm>
          <a:prstGeom prst="rect">
            <a:avLst/>
          </a:prstGeom>
          <a:noFill/>
          <a:ln/>
        </p:spPr>
        <p:txBody>
          <a:bodyPr wrap="square" lIns="0" tIns="0" rIns="0" bIns="0" rtlCol="0" anchor="ctr"/>
          <a:lstStyle/>
          <a:p>
            <a:pPr algn="l" indent="0" marL="0">
              <a:buNone/>
            </a:pPr>
            <a:r>
              <a:rPr lang="en-US" sz="1350" dirty="0">
                <a:solidFill>
                  <a:srgbClr val="FFFFFF"/>
                </a:solidFill>
                <a:latin typeface="Calibri" pitchFamily="34" charset="0"/>
                <a:ea typeface="Calibri" pitchFamily="34" charset="-122"/>
                <a:cs typeface="Calibri" pitchFamily="34" charset="-120"/>
              </a:rPr>
              <a:t>Part 1: Tiered startup costs — $649,871 total cost, 10/24 units, ISO-standard formulation</a:t>
            </a:r>
            <a:endParaRPr lang="en-US" sz="1350" dirty="0"/>
          </a:p>
        </p:txBody>
      </p:sp>
      <p:sp>
        <p:nvSpPr>
          <p:cNvPr id="8" name="Shape 6"/>
          <p:cNvSpPr/>
          <p:nvPr/>
        </p:nvSpPr>
        <p:spPr>
          <a:xfrm>
            <a:off x="502920" y="1645920"/>
            <a:ext cx="329184" cy="329184"/>
          </a:xfrm>
          <a:prstGeom prst="ellipse">
            <a:avLst/>
          </a:prstGeom>
          <a:solidFill>
            <a:srgbClr val="10B981"/>
          </a:solidFill>
          <a:ln w="12700">
            <a:solidFill>
              <a:srgbClr val="10B981"/>
            </a:solidFill>
            <a:prstDash val="solid"/>
          </a:ln>
        </p:spPr>
      </p:sp>
      <p:sp>
        <p:nvSpPr>
          <p:cNvPr id="9" name="Text 7"/>
          <p:cNvSpPr/>
          <p:nvPr/>
        </p:nvSpPr>
        <p:spPr>
          <a:xfrm>
            <a:off x="502920" y="16459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0" name="Text 8"/>
          <p:cNvSpPr/>
          <p:nvPr/>
        </p:nvSpPr>
        <p:spPr>
          <a:xfrm>
            <a:off x="978408" y="1645920"/>
            <a:ext cx="7772400" cy="329184"/>
          </a:xfrm>
          <a:prstGeom prst="rect">
            <a:avLst/>
          </a:prstGeom>
          <a:noFill/>
          <a:ln/>
        </p:spPr>
        <p:txBody>
          <a:bodyPr wrap="square" lIns="0" tIns="0" rIns="0" bIns="0" rtlCol="0" anchor="ctr"/>
          <a:lstStyle/>
          <a:p>
            <a:pPr algn="l" indent="0" marL="0">
              <a:buNone/>
            </a:pPr>
            <a:r>
              <a:rPr lang="en-US" sz="1350" dirty="0">
                <a:solidFill>
                  <a:srgbClr val="FFFFFF"/>
                </a:solidFill>
                <a:latin typeface="Calibri" pitchFamily="34" charset="0"/>
                <a:ea typeface="Calibri" pitchFamily="34" charset="-122"/>
                <a:cs typeface="Calibri" pitchFamily="34" charset="-120"/>
              </a:rPr>
              <a:t>Part 2: N-1 security — $657,811 (+$7,941), 2 iterations, 32 cuts of 14,592 (0.22%)</a:t>
            </a:r>
            <a:endParaRPr lang="en-US" sz="1350" dirty="0"/>
          </a:p>
        </p:txBody>
      </p:sp>
      <p:sp>
        <p:nvSpPr>
          <p:cNvPr id="11" name="Shape 9"/>
          <p:cNvSpPr/>
          <p:nvPr/>
        </p:nvSpPr>
        <p:spPr>
          <a:xfrm>
            <a:off x="502920" y="2304288"/>
            <a:ext cx="329184" cy="329184"/>
          </a:xfrm>
          <a:prstGeom prst="ellipse">
            <a:avLst/>
          </a:prstGeom>
          <a:solidFill>
            <a:srgbClr val="F59E0B"/>
          </a:solidFill>
          <a:ln w="12700">
            <a:solidFill>
              <a:srgbClr val="F59E0B"/>
            </a:solidFill>
            <a:prstDash val="solid"/>
          </a:ln>
        </p:spPr>
      </p:sp>
      <p:sp>
        <p:nvSpPr>
          <p:cNvPr id="12" name="Text 10"/>
          <p:cNvSpPr/>
          <p:nvPr/>
        </p:nvSpPr>
        <p:spPr>
          <a:xfrm>
            <a:off x="502920" y="23042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3" name="Text 11"/>
          <p:cNvSpPr/>
          <p:nvPr/>
        </p:nvSpPr>
        <p:spPr>
          <a:xfrm>
            <a:off x="978408" y="2304288"/>
            <a:ext cx="7772400" cy="329184"/>
          </a:xfrm>
          <a:prstGeom prst="rect">
            <a:avLst/>
          </a:prstGeom>
          <a:noFill/>
          <a:ln/>
        </p:spPr>
        <p:txBody>
          <a:bodyPr wrap="square" lIns="0" tIns="0" rIns="0" bIns="0" rtlCol="0" anchor="ctr"/>
          <a:lstStyle/>
          <a:p>
            <a:pPr algn="l" indent="0" marL="0">
              <a:buNone/>
            </a:pPr>
            <a:r>
              <a:rPr lang="en-US" sz="1350" dirty="0">
                <a:solidFill>
                  <a:srgbClr val="FFFFFF"/>
                </a:solidFill>
                <a:latin typeface="Calibri" pitchFamily="34" charset="0"/>
                <a:ea typeface="Calibri" pitchFamily="34" charset="-122"/>
                <a:cs typeface="Calibri" pitchFamily="34" charset="-120"/>
              </a:rPr>
              <a:t>Part 3: Market analysis — $18.24 avg LMP, 13.64× peak/off-peak, $17.25 spatial spread (B22→B3)</a:t>
            </a:r>
            <a:endParaRPr lang="en-US" sz="1350" dirty="0"/>
          </a:p>
        </p:txBody>
      </p:sp>
      <p:sp>
        <p:nvSpPr>
          <p:cNvPr id="14" name="Shape 12"/>
          <p:cNvSpPr/>
          <p:nvPr/>
        </p:nvSpPr>
        <p:spPr>
          <a:xfrm>
            <a:off x="502920" y="2962656"/>
            <a:ext cx="329184" cy="329184"/>
          </a:xfrm>
          <a:prstGeom prst="ellipse">
            <a:avLst/>
          </a:prstGeom>
          <a:solidFill>
            <a:srgbClr val="8B5CF6"/>
          </a:solidFill>
          <a:ln w="12700">
            <a:solidFill>
              <a:srgbClr val="8B5CF6"/>
            </a:solidFill>
            <a:prstDash val="solid"/>
          </a:ln>
        </p:spPr>
      </p:sp>
      <p:sp>
        <p:nvSpPr>
          <p:cNvPr id="15" name="Text 13"/>
          <p:cNvSpPr/>
          <p:nvPr/>
        </p:nvSpPr>
        <p:spPr>
          <a:xfrm>
            <a:off x="502920" y="29626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978408" y="2962656"/>
            <a:ext cx="7772400" cy="329184"/>
          </a:xfrm>
          <a:prstGeom prst="rect">
            <a:avLst/>
          </a:prstGeom>
          <a:noFill/>
          <a:ln/>
        </p:spPr>
        <p:txBody>
          <a:bodyPr wrap="square" lIns="0" tIns="0" rIns="0" bIns="0" rtlCol="0" anchor="ctr"/>
          <a:lstStyle/>
          <a:p>
            <a:pPr algn="l" indent="0" marL="0">
              <a:buNone/>
            </a:pPr>
            <a:r>
              <a:rPr lang="en-US" sz="1350" dirty="0">
                <a:solidFill>
                  <a:srgbClr val="FFFFFF"/>
                </a:solidFill>
                <a:latin typeface="Calibri" pitchFamily="34" charset="0"/>
                <a:ea typeface="Calibri" pitchFamily="34" charset="-122"/>
                <a:cs typeface="Calibri" pitchFamily="34" charset="-120"/>
              </a:rPr>
              <a:t>22 unit tests — all passing: structural, algebraic, economic, N-1 feasibility</a:t>
            </a:r>
            <a:endParaRPr lang="en-US" sz="1350" dirty="0"/>
          </a:p>
        </p:txBody>
      </p:sp>
      <p:sp>
        <p:nvSpPr>
          <p:cNvPr id="17" name="Shape 15"/>
          <p:cNvSpPr/>
          <p:nvPr/>
        </p:nvSpPr>
        <p:spPr>
          <a:xfrm>
            <a:off x="502920" y="3621024"/>
            <a:ext cx="329184" cy="329184"/>
          </a:xfrm>
          <a:prstGeom prst="ellipse">
            <a:avLst/>
          </a:prstGeom>
          <a:solidFill>
            <a:srgbClr val="0EA5E9"/>
          </a:solidFill>
          <a:ln w="12700">
            <a:solidFill>
              <a:srgbClr val="0EA5E9"/>
            </a:solidFill>
            <a:prstDash val="solid"/>
          </a:ln>
        </p:spPr>
      </p:sp>
      <p:sp>
        <p:nvSpPr>
          <p:cNvPr id="18" name="Text 16"/>
          <p:cNvSpPr/>
          <p:nvPr/>
        </p:nvSpPr>
        <p:spPr>
          <a:xfrm>
            <a:off x="502920" y="36210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Text 17"/>
          <p:cNvSpPr/>
          <p:nvPr/>
        </p:nvSpPr>
        <p:spPr>
          <a:xfrm>
            <a:off x="978408" y="3621024"/>
            <a:ext cx="7772400" cy="329184"/>
          </a:xfrm>
          <a:prstGeom prst="rect">
            <a:avLst/>
          </a:prstGeom>
          <a:noFill/>
          <a:ln/>
        </p:spPr>
        <p:txBody>
          <a:bodyPr wrap="square" lIns="0" tIns="0" rIns="0" bIns="0" rtlCol="0" anchor="ctr"/>
          <a:lstStyle/>
          <a:p>
            <a:pPr algn="l" indent="0" marL="0">
              <a:buNone/>
            </a:pPr>
            <a:r>
              <a:rPr lang="en-US" sz="1350" dirty="0">
                <a:solidFill>
                  <a:srgbClr val="FFFFFF"/>
                </a:solidFill>
                <a:latin typeface="Calibri" pitchFamily="34" charset="0"/>
                <a:ea typeface="Calibri" pitchFamily="34" charset="-122"/>
                <a:cs typeface="Calibri" pitchFamily="34" charset="-120"/>
              </a:rPr>
              <a:t>Clean pipeline: read → build → solve → analyze → trade</a:t>
            </a:r>
            <a:endParaRPr lang="en-US" sz="1350" dirty="0"/>
          </a:p>
        </p:txBody>
      </p:sp>
      <p:sp>
        <p:nvSpPr>
          <p:cNvPr id="20" name="Text 18"/>
          <p:cNvSpPr/>
          <p:nvPr/>
        </p:nvSpPr>
        <p:spPr>
          <a:xfrm>
            <a:off x="502920" y="4471416"/>
            <a:ext cx="8138160" cy="530352"/>
          </a:xfrm>
          <a:prstGeom prst="rect">
            <a:avLst/>
          </a:prstGeom>
          <a:noFill/>
          <a:ln/>
        </p:spPr>
        <p:txBody>
          <a:bodyPr wrap="square" lIns="0" tIns="0" rIns="0" bIns="0" rtlCol="0" anchor="ctr"/>
          <a:lstStyle/>
          <a:p>
            <a:pPr algn="ctr" indent="0" marL="0">
              <a:buNone/>
            </a:pPr>
            <a:r>
              <a:rPr lang="en-US" sz="1900" dirty="0">
                <a:solidFill>
                  <a:srgbClr val="CADCFC"/>
                </a:solidFill>
                <a:latin typeface="Cambria" pitchFamily="34" charset="0"/>
                <a:ea typeface="Cambria" pitchFamily="34" charset="-122"/>
                <a:cs typeface="Cambria" pitchFamily="34" charset="-120"/>
              </a:rPr>
              <a:t>Questions?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SCUC Technical Test — MAG Energy Solutions</dc:title>
  <dc:subject>PptxGenJS Presentation</dc:subject>
  <dc:creator>Candidate</dc:creator>
  <cp:lastModifiedBy>Candidate</cp:lastModifiedBy>
  <cp:revision>1</cp:revision>
  <dcterms:created xsi:type="dcterms:W3CDTF">2026-05-27T17:15:12Z</dcterms:created>
  <dcterms:modified xsi:type="dcterms:W3CDTF">2026-05-27T17:15:12Z</dcterms:modified>
</cp:coreProperties>
</file>